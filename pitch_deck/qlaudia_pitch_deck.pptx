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Status: v0.2 draft. Retuned for angel investors (individuals and syndicates writing $25K–$250K checks).</a:t>
            </a:r>
          </a:p>
          <a:p>
            <a:r>
              <a:rPr sz="1100"/>
              <a:t>Markdown is the source of record; PowerPoint conversion to follow.</a:t>
            </a:r>
          </a:p>
          <a:p>
            <a:r>
              <a:rPr sz="1100"/>
              <a:t>Convention: each ## heading is one slide. Headline: is the on-slide assertion.</a:t>
            </a:r>
          </a:p>
          <a:p>
            <a:r>
              <a:rPr sz="1100"/>
              <a:t>Body bullets are on-slide text. &gt; Speaker notes: blocks do not appear on the slide.</a:t>
            </a:r>
          </a:p>
          <a:p>
            <a:r>
              <a:rPr sz="1100"/>
              <a:t>⚠️ TODO marks content that needs Charles's input before this goes in front of investors.</a:t>
            </a:r>
          </a:p>
          <a:p>
            <a:r>
              <a:rPr sz="1100"/>
              <a:t>Design target: 13 slides, ~12 minutes, then questions. Angels stop absorbing after about</a:t>
            </a:r>
          </a:p>
          <a:p>
            <a:r>
              <a:rPr sz="1100"/>
              <a:t>a dozen slides. Everything diligence-grade lives in the appendix and gets sent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U.S. figures, if an American angel wants them (full table in Appendix A8): K–12 public schools ~$1.0T in FY2024, the first year over a trillion, ~$17.6K per pupil. Higher education ~$712B. Corporate training ~$100B. Private tutoring ~$30B and growing double digits.</a:t>
            </a:r>
          </a:p>
          <a:p>
            <a:r>
              <a:rPr sz="1100"/>
              <a:t>Say out loud, before anyone else says it: "No company captures a market this size, and I'm not going to pretend otherwise." Saying it first converts the deck's biggest liability into a credibility marker. Then land the actual point, which is structural, not arithmetic: education is the last enormous market where the core product — a coherent, sequenced body of knowledge taught in the right order — has never been manufacturable. It's hand-built by humans, one course at a time. That's why it costs what it costs. Qlaudia makes the knowledge itself manufacturable.</a:t>
            </a:r>
          </a:p>
          <a:p>
            <a:r>
              <a:rPr sz="1100"/>
              <a:t>Then immediately promise the follow-through: "Slide 9 shows the specific slice I'm going after first, and what it's worth." An angel who hears a $7.3T number and never hears a reachable number assumes you can't tell the difference. Don't leave that gap open across eight slides.</a:t>
            </a:r>
          </a:p>
          <a:p>
            <a:r>
              <a:rPr sz="1100"/>
              <a:t>Anticipated pushback: "EdTech is a graveyard." Correct — because prior EdTech sold delivery (an LMS, a video player, a quiz engine) into institutions that already had content. Qlaudia sells the content layer itself, which is the expensive part.</a:t>
            </a:r>
          </a:p>
          <a:p>
            <a:r>
              <a:rPr sz="1100"/>
              <a:t>The capital-gap stat — hold this in reserve, do not volunteer it. Digital health VC is on track for ~$28B in 2025. EdTech VC was ~$2.4B in 2024, a decade low, and Q1 2025 fell another 35%. Normalized against sector size, healthcare draws roughly 9× more venture capital per dollar of sector spending than education does — a market three-quarters the size of healthcare attracting one-twelfth the venture dollars.</a:t>
            </a:r>
          </a:p>
          <a:p>
            <a:r>
              <a:rPr sz="1100"/>
              <a:t>This stat cuts both ways and the framing decides which. Volunteered cold it reads as "the market has spoken and it said no." Deployed as the answer to "isn't EdTech a graveyard?" it is devastating: "Yes — and that's why I can build a healthcare-scale company with no competition for capital or talent. The graveyard is full of companies that sold delivery. I sell the content." Say it only after you've named why the prior generation failed.</a:t>
            </a:r>
          </a:p>
          <a:p>
            <a:r>
              <a:rPr sz="1100"/>
              <a:t>Year alignment — be precise if pressed. WHO's latest global health figure is 2022 ($9.8T); healthcare today is likely ~$11T. Against a 2025 education number, the honest ratio is closer to two-thirds than three-quarters. The years are labelled on the slide for exactly this reason — don't let a sharp angel be the one to point it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Split off Slide 1 deliberately — these three numbers are the argument, and they were getting buried under two tables. Delivered on their own slide they land as a sequence: enormous, analog, unserved. Pause after each.</a:t>
            </a:r>
          </a:p>
          <a:p>
            <a:r>
              <a:rPr sz="1100"/>
              <a:t>Number three is the one that does the work. One and two are context an informed angel may already half-know; three is the claim only you can make, and it sets up every slide that follows.</a:t>
            </a:r>
          </a:p>
          <a:p>
            <a:r>
              <a:rPr sz="1100"/>
              <a:t>If you are running short on time, this is the slide to linger on and Slide 1 is the one to move through quickly — the tables are reference material, this is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chatbot bullet is the one that matters. Every angel in the room has already used ChatGPT to learn something and has a private opinion about how well it went. Make the distinction concrete: a chatbot is a conversation that evaporates; Qlaudia is a structured, persistent, verifiable body of knowledge that a conversation can stand on.</a:t>
            </a:r>
          </a:p>
          <a:p>
            <a:r>
              <a:rPr sz="1100"/>
              <a:t>Optional setup for Slide 4. If you want the founder slide to detonate, plant the fuse here: "the hand-authoring bottleneck isn't new — it's the reason this whole approach stayed impractical for forty years." Then let Slide 4 reveal that you were one of the people who hit that wall and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Mention that (1) and (2) are separately licensable — a publisher may want only the generation engine; a university may want only the delivery framework. That optionality is deliberate in the patent structure, and for an angel it means more than one way the asset pays 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structural point to make out loud. CKS's two functions — acquisition and retrieval over a constructed knowledge graph — are the same two things Qlaudia does, and the same two things the patent claims separately. Forty-one years apart, the architecture decomposes identically. That is not a coincidence you have to sell; just show it and let them see it.</a:t>
            </a:r>
          </a:p>
          <a:p>
            <a:r>
              <a:rPr sz="1100"/>
              <a:t>Say aloud, not on the slide — what else CKS got right: retrieval worked by "the top down examination of an appropriately encoded set of concepts according to the logical relations that exist between the concepts" — prerequisite-ordered graph traversal. And it was proposed explicitly as an alternative to printed media, arguing that written prose "imposes unnecessary constraints on the organization of a body of knowledge." Full quotations in Appendix A6.</a:t>
            </a:r>
          </a:p>
          <a:p>
            <a:r>
              <a:rPr sz="1100"/>
              <a:t>Do not claim conceptual primitives. CKS also rested on a small set of conceptual primitives from which all concepts were defined. Qlaudia has no such basis and does not need one — see Appendix A6. Leave it out of the pitch entirely; it invites a question you'd have to answer with "that part isn't built."</a:t>
            </a:r>
          </a:p>
          <a:p>
            <a:r>
              <a:rPr sz="1100"/>
              <a:t>This is the strongest slide in the deck. Consider opening the meeting with it, before the market slide. A founder holding a 41-year-old thesis that describes the product he's now shipping is something no other pitch that month can imitate. It converts the entire "why you / why now / why hasn't this been done" cluster into a single artifact.</a:t>
            </a:r>
          </a:p>
          <a:p>
            <a:r>
              <a:rPr sz="1100"/>
              <a:t>Bring the physical thesis to the meeting. Angels invest in conviction and this is conviction you can hand across a table. With no image on the slide, the bound copy is now the only visual — so don't leave it at home.</a:t>
            </a:r>
          </a:p>
          <a:p>
            <a:r>
              <a:rPr sz="1100"/>
              <a:t>Be precise: CKS did not fail. The thesis was accepted and it earned the MS. The system worked — it acquired concepts, encoded them, and traversed them. What it wasn't was practical: filling the knowledge base required interrogating a human expert one concept at a time, so the cost of a useful knowledge base was prohibitive. Never say "it failed" — it's inaccurate, it implies the thesis was rejected, and it's a weaker claim than the true one.</a:t>
            </a:r>
          </a:p>
          <a:p>
            <a:r>
              <a:rPr sz="1100"/>
              <a:t>The move that makes it land is naming the constraint in your own words. Don't present 1985 as a triumph or as a failure — present it as a correct design waiting on an input that didn't exist yet. "I built this. It worked. It was never practical, because every concept had to come out of a human being one at a time. That constraint is what lifted in the last three years, and I recognized it the week it happened." Naming your own blocking constraint reads as far more credible than visionary framing, and the punchline hits harder.</a:t>
            </a:r>
          </a:p>
          <a:p>
            <a:r>
              <a:rPr sz="1100"/>
              <a:t>Supporting career arc — say briefly, don't slide it: expert systems at Boeing (1985), Lockheed Martin (1986–89), and Nortel (1989–93); then Cadence (finite state machine module shipped into multiple CAD products), Sprint (16 years, applications architect), DST Systems and TreviPay (workflow automation — dependency-graph execution, computing what can run given what's complete, which is transitive prerequisite pathfinding in different clothes). Then Charles Irvine Enterprises LLC and Academy-courses.com from 2017 — all predating the current AI cycle.</a:t>
            </a:r>
          </a:p>
          <a:p>
            <a:r>
              <a:rPr sz="1100"/>
              <a:t>The 2017 date still matters. Angels assume every AI-education pitch was conceived the week ChatGPT shipped. Between a 1985 thesis and a 2017 LLC, you can prove a four-decade throughline. That is the opposite of trend-chasing.</a:t>
            </a:r>
          </a:p>
          <a:p>
            <a:r>
              <a:rPr sz="1100"/>
              <a:t>Anticipated question — "have you run a venture-backed company before?" No. Don't dance. The true answer that lands: a working end-to-end pipeline and a filed non-provisional patent, built solo. Execution evidence is rarer at this stage than a prior exit.</a:t>
            </a:r>
          </a:p>
          <a:p>
            <a:r>
              <a:rPr sz="1100"/>
              <a:t>The age question, which nobody will ask out loud. This slide makes a 1985 start date unavoidable, and some angels carry an unspoken bias. The counter is the slide's own argument: you are not guessing about which AI paradigm is different, because you worked the previous one and documented precisely what it was missing. Depth is the asset. Have a crisp, unbothered answer ready on energy and commitment, and don't let it sound defensive.</a:t>
            </a:r>
          </a:p>
          <a:p>
            <a:r>
              <a:rPr sz="1100"/>
              <a:t>Institution — resolved, no action needed. The thesis is University of Kansas, consistent with LinkedIn. Dr. van de Liefvoort, named on the thesis committee, is today emeritus at UMKC but did not join UMKC until August 1987 — two years after the thesis. If anyone ever cross-references him and raises it, that's the one-sentence answer.</a:t>
            </a:r>
          </a:p>
          <a:p>
            <a:r>
              <a:rPr sz="1100"/>
              <a:t>⚠️ TODO: get a clean, straight scan of the abstract page and of the §1.3 "Approach and Scope" page — the phone photos won't hold up projected.</a:t>
            </a:r>
          </a:p>
          <a:p>
            <a:r>
              <a:rPr sz="1100"/>
              <a:t>⚠️ TODO: advisors, collaborators, or committed early hires — still the one real gap. A solo founder with a named technical advisor reads materially safer to an angel than a solo founder alone.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For angels this is the highest-conviction slide in the deck, because it converts "interesting idea" into "this exists." Generating a domain live on stage is worth more than any slide you could put here.</a:t>
            </a:r>
          </a:p>
          <a:p>
            <a:r>
              <a:rPr sz="1100"/>
              <a:t>⚠️ TODO: time a full generation run. If it's longer than ~90 seconds, pre-record it and play the recording — a live run that stalls in front of angels does more damage than a video.</a:t>
            </a:r>
          </a:p>
          <a:p>
            <a:r>
              <a:rPr sz="1100"/>
              <a:t>⚠️ TODO: screenshots needed regardless, as fallback and for the send-after version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job of this slide is to answer "isn't this just a wrapper?" before anyone asks it. By this point they've seen the claim (Slide 3) and the product (Slide 5). The live question is not whether the content is trustworthy — it's whether there is anything here a competent engineer couldn't rebuild in a weekend with a good prompt. Answer that by showing the machinery. Trust is the conclusion they draw on their own; do not ask for it, and do not frame this slide as a defense of quality.</a:t>
            </a:r>
          </a:p>
          <a:p>
            <a:r>
              <a:rPr sz="1100"/>
              <a:t>Keep it short and non-technical out loud. The one line that lands with a non-technical angel: "When Qlaudia draws a diagram, it doesn't sketch what a diagram usually looks like — it computes the actual figure and then checks it." That's the difference between "AI wrote a textbook" and "AI wrote a textbook you'd let a student rely on."</a:t>
            </a:r>
          </a:p>
          <a:p>
            <a:r>
              <a:rPr sz="1100"/>
              <a:t>Mine-once is the architectural keystone — say it first, because everything else depends on it. You cannot verify an explanation that doesn't exist yet. The figure pipeline runs generated construction code, checks it against assertions, and repairs it on failure — a loop that takes far too long to run inside a live chat turn. Doing the work once, offline, with a repair budget, is what makes verification affordable at all. A chatbot can't do this not because the model is weaker, but because the architecture forecloses it.</a:t>
            </a:r>
          </a:p>
          <a:p>
            <a:r>
              <a:rPr sz="1100"/>
              <a:t>Where content quality does belong: as a commercial advantage, not a disclaimer. Homeschool parents (the Slide 9 beachhead) are genuinely skeptical of AI-generated material, and verified figures are how you win that objection in the market. Deploy it there — in a sales conversation, or when an angel raises it — rather than pre-empting a doubt half the room didn't have.</a:t>
            </a:r>
          </a:p>
          <a:p>
            <a:r>
              <a:rPr sz="1100"/>
              <a:t>Three more consequences worth having ready:</a:t>
            </a:r>
          </a:p>
          <a:p>
            <a:r>
              <a:rPr sz="1100"/>
              <a:t>- Errors get fixed permanently. A stored concept is corrected once and every future learner gets the correction. A chatbot's mistake recurs indefinitely, because there's no artifact to fix.</a:t>
            </a:r>
          </a:p>
          <a:p>
            <a:r>
              <a:rPr sz="1100"/>
              <a:t>- Every learner gets the same vetted explanation. Re-derivation means each student receives a slightly different, individually unverified lesson.</a:t>
            </a:r>
          </a:p>
          <a:p>
            <a:r>
              <a:rPr sz="1100"/>
              <a:t>- You can compute over a graph that exists. Importance ranking and prerequisite pathfinding are algorithms over a persisted structure — there is nothing to run them on if the content is generated per question.</a:t>
            </a:r>
          </a:p>
          <a:p>
            <a:r>
              <a:rPr sz="1100"/>
              <a:t>The margin version — this is the one that matters to an investor. Most AI startups are inference pass-throughs: cost of goods scales linearly with usage, so gross margin never improves and the model provider captures the upside. Qlaudia inverts that. Generation cost is incurred once per concept and amortized across every learner who ever studies it, so cost per learner falls toward zero as usage grows. The asset appreciates while COGS stays flat. If an angel asks "isn't this just a wrapper?" — this is the answer, and it's a structural one, not a claim about the product.</a:t>
            </a:r>
          </a:p>
          <a:p>
            <a:r>
              <a:rPr sz="1100"/>
              <a:t>Full technical detail is in Appendix A2 for anyone who asks — don't preempt it on the slide.</a:t>
            </a:r>
          </a:p>
          <a:p>
            <a:r>
              <a:rPr sz="1100"/>
              <a:t>⚠️ TODO: pull one genuinely impressive generated figure from a live domain as the visual. One good figure does this slide's whole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Call straight back to Slide 4. This slide is far more persuasive as "I named the blocking constraint in 1985 and it was lifted in 2023" than as three generic market curves. The 1985 system had rigorous structure and no affordable acquisition. Today's chatbots have fluent acquisition and no structure. Qlaudia is the first moment both halves exist at once — and you can prove you've been holding one of them for forty years.</a:t>
            </a:r>
          </a:p>
          <a:p>
            <a:r>
              <a:rPr sz="1100"/>
              <a:t>The $5 figure is the most repeatable line in the deck. "It costs about five dollars to generate what CKS needed a human expert to type in one concept at a time" is what angels say to each other afterward. Deliver it as a fact, not a boast, and let them do the multiplication.</a:t>
            </a:r>
          </a:p>
          <a:p>
            <a:r>
              <a:rPr sz="1100"/>
              <a:t>⚠️ It is currently an ESTIMATE, not a measurement — say so if pressed. It is derived bottom-up from the 64 domains already in the graph (concept counts, corpus size, edge counts) priced at current model rates; the full derivation is in Appendix A10. Cost instrumentation now runs on every generation, so this becomes a measured number on the next domain created. Replace the estimate with the measured figure before the first investor meeting — "we measured it" is a materially stronger answer than "we estimated it," and you're one pipeline run away from being able to say it.</a:t>
            </a:r>
          </a:p>
          <a:p>
            <a:r>
              <a:rPr sz="1100"/>
              <a:t>If asked "how do you know?" — the honest answer is strong: every stored domain's concept count, content volume, and edge count is known, and model pricing is public. The estimate is arithmetic over real artifacts, not a guess. Offer the appendix.</a:t>
            </a:r>
          </a:p>
          <a:p>
            <a:r>
              <a:rPr sz="1100"/>
              <a:t>Do not quote a cost lower than ~$5. Anthropic's Sonnet 5 introductory rate expires 2026-08-31; the $5 figure already assumes the higher post-promo rate, so it stays true after the promo lapses. A number that expires this month is the wrong number for a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Say "filed, not granted" before anyone asks. Angels are less patent-sophisticated than VCs on average, which cuts both ways: some over-value a filing, and the ones who know better will test whether you're overselling it. Being precise unprompted wins both rooms.</a:t>
            </a:r>
          </a:p>
          <a:p>
            <a:r>
              <a:rPr sz="1100"/>
              <a:t>⚠️ TODO: settle the exact wording if asked about the outstanding IDS and inventor 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is the most important unfinished slide after the founder slide, and it's the one that pays off Slide 1. A deck that opens on $7.3T and never names a reachable number reads as unserious. A deck that opens on $7.3T and then says "and here is the $40M segment I can win first, at this price, with these first ten customers" reads as ambitious and grounded.</a:t>
            </a:r>
          </a:p>
          <a:p>
            <a:r>
              <a:rPr sz="1100"/>
              <a:t>Listing five revenue models reads as having none. Pick one.</a:t>
            </a:r>
          </a:p>
          <a:p>
            <a:r>
              <a:rPr sz="1100"/>
              <a:t>Why homeschool math/science is the recommended beachhead — the reasoning, for when an angel challenges it:</a:t>
            </a:r>
          </a:p>
          <a:p>
            <a:r>
              <a:rPr sz="1100"/>
              <a:t>1. No procurement. A solo founder cannot survive a nine-month district sales cycle. Homeschool parents decide in an evening and pay by card. This alone eliminates K–12 institutional, community college, and university as first markets, however large they are.</a:t>
            </a:r>
          </a:p>
          <a:p>
            <a:r>
              <a:rPr sz="1100"/>
              <a:t>2. The pain is sharpest exactly where the parent's own competence ends. Most homeschool parents can teach reading and arithmetic. They cannot teach algebra II, precalculus, chemistry, or physics — and they know it. That's where they already spend real money on tutors, Saxon, Apologia, Thinkwell, Derek Owens.</a:t>
            </a:r>
          </a:p>
          <a:p>
            <a:r>
              <a:rPr sz="1100"/>
              <a:t>3. Their stated anxiety is literally prerequisite gaps. "Is my kid actually ready for algebra II? What did we miss?" Qlaudia's transitive prerequisite graph and readiness computation answer the exact question this buyer lies awake about. No other segment's core anxiety maps this cleanly onto the core technology.</a:t>
            </a:r>
          </a:p>
          <a:p>
            <a:r>
              <a:rPr sz="1100"/>
              <a:t>4. Breadth of generation is a real advantage here. One family needs many subjects across many grade levels. Generating any domain on demand is worth more to them than to a buyer who needs one fixed curriculum.</a:t>
            </a:r>
          </a:p>
          <a:p>
            <a:r>
              <a:rPr sz="1100"/>
              <a:t>5. The verified-figure pipeline matters most in math and science. That is where a wrong diagram is fatal and where competitors' AI content is weakest. Differentiator and need coincide.</a:t>
            </a:r>
          </a:p>
          <a:p>
            <a:r>
              <a:rPr sz="1100"/>
              <a:t>6. Reachable, concentrated communities. State homeschool associations, conventions, co-ops, curriculum-review sites, large Facebook and Reddit groups. Cheap acquisition without a sales team.</a:t>
            </a:r>
          </a:p>
          <a:p>
            <a:r>
              <a:rPr sz="1100"/>
              <a:t>Honest risks to have answers for: (a) AI-generated content skepticism runs high among homeschool parents, especially religious ones — the figure-verification and separate-QA-model story from Slide 6 is the answer, deployed here as a sales argument rather than a disclaimer; (b) buying is seasonal, concentrated in spring and summer; (c) price sensitivity is real — this is a value-conscious buyer.</a:t>
            </a:r>
          </a:p>
          <a:p>
            <a:r>
              <a:rPr sz="1100"/>
              <a:t>Why not the other three you raised:</a:t>
            </a:r>
          </a:p>
          <a:p>
            <a:r>
              <a:rPr sz="1100"/>
              <a:t>- Supplementary for traditional-school parents is a larger market but a worse fit: the subject is fixed by the school, so breadth stops mattering, and you compete head-on with free Khan Academy and entrenched IXL. High CAC, crowded.</a:t>
            </a:r>
          </a:p>
          <a:p>
            <a:r>
              <a:rPr sz="1100"/>
              <a:t>- GED prep has motivated buyers and genuine prerequisite gaps, but it's one fixed curriculum — it under-uses the generation engine entirely — and the population is price-sensitive and often funded through workforce programs, which puts you back into institutional selling.</a:t>
            </a:r>
          </a:p>
          <a:p>
            <a:r>
              <a:rPr sz="1100"/>
              <a:t>- Domain experts publishing schools is the right second act, not the first. It's a two-sided marketplace with a chicken-and-egg problem, and solving supply and demand simultaneously is not a solo-founder move. It becomes powerful once there's demand to sell into — and it's how content scales past you.</a:t>
            </a:r>
          </a:p>
          <a:p>
            <a:r>
              <a:rPr sz="1100"/>
              <a:t>⚠️ TODO: Charles to confirm the beachhead, set a price point, and name the realistic first ten customers.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Lead with what's built, and be straight about what isn't. These are production artifacts in Neo4j, not projections — 64 complete courses with verified figures and full prerequisite graphs, generated by one person. That is real execution evidence.</a:t>
            </a:r>
          </a:p>
          <a:p>
            <a:r>
              <a:rPr sz="1100"/>
              <a:t>Do not imply user traction you don't have. The database currently holds one real user — Charles. If an angel asks about users, say plainly: pre-launch, no user base yet, and here is the beachhead plan (Slide 9). Angels fund pre-traction constantly; they do not fund founders who appear to be hiding its absence, and a graph query would expose an overstatement in seconds.</a:t>
            </a:r>
          </a:p>
          <a:p>
            <a:r>
              <a:rPr sz="1100"/>
              <a:t>The reframe that works: the risk that's been retired here is technical, not commercial. The pipeline works end to end, the content is verifiable, the patent is filed. What's unproven is distribution — which is exactly what the round buys.</a:t>
            </a:r>
          </a:p>
          <a:p>
            <a:r>
              <a:rPr sz="1100"/>
              <a:t>⚠️ TODO: consider a "domains generated per month" trend line once there are a few months of data — direction is more persuasive than a static count.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Angels care less about a spend breakdown than about one thing: what is measurably true after this money that isn't true today? Name that milestone explicitly and tie every allocation line to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is the biggest structural difference between an angel deck and a VC deck. A VC deck says "raising a seed round" and negotiates terms over subsequent weeks. An angel is often deciding in the room, and can't decide without knowing the instrument, the cap, and the minimum check. Leaving terms off the slide forces every interested angel to ask — and some won't.</a:t>
            </a:r>
          </a:p>
          <a:p>
            <a:r>
              <a:rPr sz="1100"/>
              <a:t>Naming a minimum check also does quiet qualification work: it tells a $10K angel they're looking at a syndicate, not a solo allocation, without an awkward conversation.</a:t>
            </a:r>
          </a:p>
          <a:p>
            <a:r>
              <a:rPr sz="1100"/>
              <a:t>⚠️ TODO: Charles — a standard post-money SAFE is the lowest-friction instrument for a round of this shape, but the cap is a real decision. Worth a conversation before the first meeting, since it's hard to revise downward once quoted.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does not exist in a typical VC deck, and it must exist here. A VC's returns come from portfolio construction and they'll model exits themselves. An angel is writing a personal check with no fund structure behind it and is asking, consciously or not, "how does this become money again?" Answering it unprompted is a mark of respect for their position.</a:t>
            </a:r>
          </a:p>
          <a:p>
            <a:r>
              <a:rPr sz="1100"/>
              <a:t>Don't overreach on numbers — naming plausible acquirer categories and why each is structurally motivated is more credible than a fabricated multiple.</a:t>
            </a:r>
          </a:p>
          <a:p>
            <a:r>
              <a:rPr sz="1100"/>
              <a:t>Note the publishers are simultaneously the Slide 1 competition and the most motivated acquirers. That's a strength; say so.</a:t>
            </a:r>
          </a:p>
          <a:p>
            <a:r>
              <a:rPr sz="1100"/>
              <a:t>The frontier-lab argument, made properly. Three reinforcing reasons, in order of strength:</a:t>
            </a:r>
          </a:p>
          <a:p>
            <a:r>
              <a:rPr sz="1100"/>
              <a:t>1. Cost asymmetry. Our ~$5 per course is what a lab charges for inference. Their internal cost to run the identical pipeline is a fraction of that. Every unit-economic constraint we operate under disappears for them — the same asset throws off far better margins in their hands than in ours. That is the textbook definition of an acquirer who can pay more for a business than it is worth standalone.</a:t>
            </a:r>
          </a:p>
          <a:p>
            <a:r>
              <a:rPr sz="1100"/>
              <a:t>2. Vertical integration. Today we are their customer. Acquiring converts a customer's margin into their own product line.</a:t>
            </a:r>
          </a:p>
          <a:p>
            <a:r>
              <a:rPr sz="1100"/>
              <a:t>3. They already have the gap. Every frontier lab is pushing into education and every one of them ships a fluent tutor with no curriculum, no mastery model, and no prerequisite structure — precisely the deficiency on Slide 2. We are the missing layer, already built.</a:t>
            </a:r>
          </a:p>
          <a:p>
            <a:r>
              <a:rPr sz="1100"/>
              <a:t>⚠️ Raising this invites the hardest question in the deck — have the answer ready before you say it. "If it's such a natural extension, why won't Anthropic just build it themselves?" Answer in three parts, briefly:</a:t>
            </a:r>
          </a:p>
          <a:p>
            <a:r>
              <a:rPr sz="1100"/>
              <a:t>- The patent. Filed non-provisional, two independent claim sets covering generation and delivery separately. This is exactly the scenario the filing exists for, and it converts "build it" into "license or acquire it."</a:t>
            </a:r>
          </a:p>
          <a:p>
            <a:r>
              <a:rPr sz="1100"/>
              <a:t>- Labs build horizontally. They ship platforms and general capability; verticals are where they acquire rather than build. A curriculum graph with domain-specific verification is not on a frontier lab's roadmap.</a:t>
            </a:r>
          </a:p>
          <a:p>
            <a:r>
              <a:rPr sz="1100"/>
              <a:t>- The hard part isn't generation. It's the verified-figure pipeline, the separate-QA architecture, and the accumulated cross-linked graph — years of specific engineering that doesn't fall out of a better base model.</a:t>
            </a:r>
          </a:p>
          <a:p>
            <a:r>
              <a:rPr sz="1100"/>
              <a:t>Do not raise the frontier-lab category unless you can deliver that rebuttal cleanly. Unanswered, "why won't the labs just do this?" is the objection most likely to kill an angel's interest — it makes the whole company sound like a feature. Answered well, it does the opposite: it says the most sophisticated buyers in technology are structurally motivated to want you.</a:t>
            </a:r>
          </a:p>
          <a:p>
            <a:r>
              <a:rPr sz="1100"/>
              <a:t>This makes Slide 8 load-bearing. If the exit story leans on frontier labs, the patent stops being a nice-to-have and becomes the thing standing between you and being built around. Expect follow-up questions on claim scope.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148840"/>
            <a:ext cx="9960559" cy="2011680"/>
          </a:xfrm>
          <a:prstGeom prst="rect">
            <a:avLst/>
          </a:prstGeom>
          <a:noFill/>
        </p:spPr>
        <p:txBody>
          <a:bodyPr wrap="square" lIns="0" rIns="0" tIns="0" bIns="0">
            <a:spAutoFit/>
          </a:bodyPr>
          <a:lstStyle/>
          <a:p>
            <a:r>
              <a:rPr sz="6000" b="1">
                <a:solidFill>
                  <a:srgbClr val="FFFFFF"/>
                </a:solidFill>
                <a:latin typeface="Segoe UI"/>
              </a:rPr>
              <a:t>Qlaudia</a:t>
            </a:r>
          </a:p>
        </p:txBody>
      </p:sp>
      <p:sp>
        <p:nvSpPr>
          <p:cNvPr id="3" name="Rectangle 2"/>
          <p:cNvSpPr/>
          <p:nvPr/>
        </p:nvSpPr>
        <p:spPr>
          <a:xfrm>
            <a:off x="841247" y="3246120"/>
            <a:ext cx="1463040" cy="3200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3520440"/>
            <a:ext cx="9960559" cy="822960"/>
          </a:xfrm>
          <a:prstGeom prst="rect">
            <a:avLst/>
          </a:prstGeom>
          <a:noFill/>
        </p:spPr>
        <p:txBody>
          <a:bodyPr wrap="square" lIns="0" rIns="0" tIns="0" bIns="0">
            <a:spAutoFit/>
          </a:bodyPr>
          <a:lstStyle/>
          <a:p>
            <a:r>
              <a:rPr sz="2200">
                <a:solidFill>
                  <a:srgbClr val="9AA1B8"/>
                </a:solidFill>
                <a:latin typeface="Segoe UI"/>
              </a:rPr>
              <a:t>Angel Investor Pitch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   </a:t>
            </a:r>
            <a:r>
              <a:rPr sz="2500" b="1">
                <a:solidFill>
                  <a:srgbClr val="15192B"/>
                </a:solidFill>
                <a:latin typeface="Segoe UI"/>
              </a:rPr>
              <a:t>Education Is the Largest Untransformed Market on Earth</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$7.3 trillion is spent teaching people every year. It is the last great industry whose product is still made entirely by hand.</a:t>
            </a:r>
          </a:p>
        </p:txBody>
      </p:sp>
      <p:sp>
        <p:nvSpPr>
          <p:cNvPr id="5" name="TextBox 4"/>
          <p:cNvSpPr txBox="1"/>
          <p:nvPr/>
        </p:nvSpPr>
        <p:spPr>
          <a:xfrm>
            <a:off x="566928" y="1996440"/>
            <a:ext cx="5336895" cy="316382"/>
          </a:xfrm>
          <a:prstGeom prst="rect">
            <a:avLst/>
          </a:prstGeom>
          <a:noFill/>
        </p:spPr>
        <p:txBody>
          <a:bodyPr wrap="square" lIns="0" rIns="0" tIns="0" bIns="0">
            <a:spAutoFit/>
          </a:bodyPr>
          <a:lstStyle/>
          <a:p>
            <a:r>
              <a:rPr sz="852" b="1">
                <a:solidFill>
                  <a:srgbClr val="4A3AFF"/>
                </a:solidFill>
                <a:latin typeface="Segoe UI"/>
              </a:rPr>
              <a:t>EDUCATION IS THE SECOND-LARGEST SECTOR OF HUMAN ACTIVITY ON EARTH</a:t>
            </a:r>
          </a:p>
        </p:txBody>
      </p:sp>
      <p:graphicFrame>
        <p:nvGraphicFramePr>
          <p:cNvPr id="6" name="Table 5"/>
          <p:cNvGraphicFramePr>
            <a:graphicFrameLocks noGrp="1"/>
          </p:cNvGraphicFramePr>
          <p:nvPr/>
        </p:nvGraphicFramePr>
        <p:xfrm>
          <a:off x="566928" y="2312822"/>
          <a:ext cx="5336894" cy="1199690"/>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Sector</a:t>
                      </a:r>
                    </a:p>
                  </a:txBody>
                  <a:tcPr marL="82296" marR="64008" marT="32004" marB="32004" anchor="ctr">
                    <a:solidFill>
                      <a:srgbClr val="F4F5F9"/>
                    </a:solidFill>
                  </a:tcPr>
                </a:tc>
                <a:tc>
                  <a:txBody>
                    <a:bodyPr wrap="square"/>
                    <a:lstStyle/>
                    <a:p>
                      <a:r>
                        <a:rPr sz="902" b="1">
                          <a:solidFill>
                            <a:srgbClr val="15192B"/>
                          </a:solidFill>
                          <a:latin typeface="Segoe UI"/>
                        </a:rPr>
                        <a:t>Annual global spend</a:t>
                      </a:r>
                    </a:p>
                  </a:txBody>
                  <a:tcPr marL="82296" marR="64008" marT="32004" marB="32004" anchor="ctr">
                    <a:solidFill>
                      <a:srgbClr val="F4F5F9"/>
                    </a:solidFill>
                  </a:tcPr>
                </a:tc>
                <a:tc>
                  <a:txBody>
                    <a:bodyPr wrap="square"/>
                    <a:lstStyle/>
                    <a:p>
                      <a:r>
                        <a:rPr sz="902" b="1">
                          <a:solidFill>
                            <a:srgbClr val="15192B"/>
                          </a:solidFill>
                          <a:latin typeface="Segoe UI"/>
                        </a:rPr>
                        <a:t>Source</a:t>
                      </a:r>
                    </a:p>
                  </a:txBody>
                  <a:tcPr marL="82296" marR="64008" marT="32004" marB="32004" anchor="ctr">
                    <a:solidFill>
                      <a:srgbClr val="F4F5F9"/>
                    </a:solidFill>
                  </a:tcPr>
                </a:tc>
              </a:tr>
              <a:tr h="236189">
                <a:tc>
                  <a:txBody>
                    <a:bodyPr wrap="square"/>
                    <a:lstStyle/>
                    <a:p>
                      <a:r>
                        <a:rPr sz="902" b="0" i="0">
                          <a:solidFill>
                            <a:srgbClr val="5A6072"/>
                          </a:solidFill>
                          <a:latin typeface="Segoe UI"/>
                        </a:rPr>
                        <a:t>Healthcare</a:t>
                      </a:r>
                    </a:p>
                  </a:txBody>
                  <a:tcPr marL="82296" marR="64008" marT="32004" marB="32004" anchor="ctr">
                    <a:solidFill>
                      <a:srgbClr val="FFFFFF"/>
                    </a:solidFill>
                  </a:tcPr>
                </a:tc>
                <a:tc>
                  <a:txBody>
                    <a:bodyPr wrap="square"/>
                    <a:lstStyle/>
                    <a:p>
                      <a:r>
                        <a:rPr sz="902" b="0" i="0">
                          <a:solidFill>
                            <a:srgbClr val="5A6072"/>
                          </a:solidFill>
                          <a:latin typeface="Segoe UI"/>
                        </a:rPr>
                        <a:t>$9.8T </a:t>
                      </a:r>
                      <a:r>
                        <a:rPr sz="902" b="0" i="1">
                          <a:solidFill>
                            <a:srgbClr val="5A6072"/>
                          </a:solidFill>
                          <a:latin typeface="Segoe UI"/>
                        </a:rPr>
                        <a:t>(2022)</a:t>
                      </a:r>
                    </a:p>
                  </a:txBody>
                  <a:tcPr marL="82296" marR="64008" marT="32004" marB="32004" anchor="ctr">
                    <a:solidFill>
                      <a:srgbClr val="FFFFFF"/>
                    </a:solidFill>
                  </a:tcPr>
                </a:tc>
                <a:tc>
                  <a:txBody>
                    <a:bodyPr wrap="square"/>
                    <a:lstStyle/>
                    <a:p>
                      <a:r>
                        <a:rPr sz="902" b="0" i="0">
                          <a:solidFill>
                            <a:srgbClr val="5A6072"/>
                          </a:solidFill>
                          <a:latin typeface="Segoe UI"/>
                        </a:rPr>
                        <a:t>WHO — 9.9% of global GDP</a:t>
                      </a:r>
                    </a:p>
                  </a:txBody>
                  <a:tcPr marL="82296" marR="64008" marT="32004" marB="32004" anchor="ctr">
                    <a:solidFill>
                      <a:srgbClr val="FFFFFF"/>
                    </a:solidFill>
                  </a:tcPr>
                </a:tc>
              </a:tr>
              <a:tr h="236189">
                <a:tc>
                  <a:txBody>
                    <a:bodyPr wrap="square"/>
                    <a:lstStyle/>
                    <a:p>
                      <a:r>
                        <a:rPr sz="902" b="1" i="0">
                          <a:solidFill>
                            <a:srgbClr val="15192B"/>
                          </a:solidFill>
                          <a:latin typeface="Segoe UI"/>
                        </a:rPr>
                        <a:t>Education &amp; training</a:t>
                      </a:r>
                    </a:p>
                  </a:txBody>
                  <a:tcPr marL="82296" marR="64008" marT="32004" marB="32004" anchor="ctr">
                    <a:solidFill>
                      <a:srgbClr val="FFFFFF"/>
                    </a:solidFill>
                  </a:tcPr>
                </a:tc>
                <a:tc>
                  <a:txBody>
                    <a:bodyPr wrap="square"/>
                    <a:lstStyle/>
                    <a:p>
                      <a:r>
                        <a:rPr sz="902" b="1" i="0">
                          <a:solidFill>
                            <a:srgbClr val="15192B"/>
                          </a:solidFill>
                          <a:latin typeface="Segoe UI"/>
                        </a:rPr>
                        <a:t>$7.3T</a:t>
                      </a:r>
                      <a:r>
                        <a:rPr sz="902" b="0" i="0">
                          <a:solidFill>
                            <a:srgbClr val="5A6072"/>
                          </a:solidFill>
                          <a:latin typeface="Segoe UI"/>
                        </a:rPr>
                        <a: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HolonIQ</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IT spending worldwide</a:t>
                      </a:r>
                    </a:p>
                  </a:txBody>
                  <a:tcPr marL="82296" marR="64008" marT="32004" marB="32004" anchor="ctr">
                    <a:solidFill>
                      <a:srgbClr val="FFFFFF"/>
                    </a:solidFill>
                  </a:tcPr>
                </a:tc>
                <a:tc>
                  <a:txBody>
                    <a:bodyPr wrap="square"/>
                    <a:lstStyle/>
                    <a:p>
                      <a:r>
                        <a:rPr sz="902" b="0" i="0">
                          <a:solidFill>
                            <a:srgbClr val="5A6072"/>
                          </a:solidFill>
                          <a:latin typeface="Segoe UI"/>
                        </a:rPr>
                        <a:t>$5.43T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Gartner</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military spending worldwide</a:t>
                      </a:r>
                    </a:p>
                  </a:txBody>
                  <a:tcPr marL="82296" marR="64008" marT="32004" marB="32004" anchor="ctr">
                    <a:solidFill>
                      <a:srgbClr val="FFFFFF"/>
                    </a:solidFill>
                  </a:tcPr>
                </a:tc>
                <a:tc>
                  <a:txBody>
                    <a:bodyPr wrap="square"/>
                    <a:lstStyle/>
                    <a:p>
                      <a:r>
                        <a:rPr sz="902" b="0" i="0">
                          <a:solidFill>
                            <a:srgbClr val="5A6072"/>
                          </a:solidFill>
                          <a:latin typeface="Segoe UI"/>
                        </a:rPr>
                        <a:t>$2.72T </a:t>
                      </a:r>
                      <a:r>
                        <a:rPr sz="902" b="0" i="1">
                          <a:solidFill>
                            <a:srgbClr val="5A6072"/>
                          </a:solidFill>
                          <a:latin typeface="Segoe UI"/>
                        </a:rPr>
                        <a:t>(2024)</a:t>
                      </a:r>
                    </a:p>
                  </a:txBody>
                  <a:tcPr marL="82296" marR="64008" marT="32004" marB="32004" anchor="ctr">
                    <a:solidFill>
                      <a:srgbClr val="FFFFFF"/>
                    </a:solidFill>
                  </a:tcPr>
                </a:tc>
                <a:tc>
                  <a:txBody>
                    <a:bodyPr wrap="square"/>
                    <a:lstStyle/>
                    <a:p>
                      <a:r>
                        <a:rPr sz="902" b="0" i="0">
                          <a:solidFill>
                            <a:srgbClr val="5A6072"/>
                          </a:solidFill>
                          <a:latin typeface="Segoe UI"/>
                        </a:rPr>
                        <a:t>SIPRI</a:t>
                      </a:r>
                    </a:p>
                  </a:txBody>
                  <a:tcPr marL="82296" marR="64008" marT="32004" marB="32004" anchor="ctr">
                    <a:solidFill>
                      <a:srgbClr val="FFFFFF"/>
                    </a:solidFill>
                  </a:tcPr>
                </a:tc>
              </a:tr>
            </a:tbl>
          </a:graphicData>
        </a:graphic>
      </p:graphicFrame>
      <p:sp>
        <p:nvSpPr>
          <p:cNvPr id="7" name="TextBox 6"/>
          <p:cNvSpPr txBox="1"/>
          <p:nvPr/>
        </p:nvSpPr>
        <p:spPr>
          <a:xfrm>
            <a:off x="566928" y="3695395"/>
            <a:ext cx="5336895" cy="511835"/>
          </a:xfrm>
          <a:prstGeom prst="rect">
            <a:avLst/>
          </a:prstGeom>
          <a:noFill/>
        </p:spPr>
        <p:txBody>
          <a:bodyPr wrap="square" lIns="0" rIns="0" tIns="0" bIns="0">
            <a:spAutoFit/>
          </a:bodyPr>
          <a:lstStyle/>
          <a:p>
            <a:r>
              <a:rPr sz="1106" b="1" i="0">
                <a:solidFill>
                  <a:srgbClr val="15192B"/>
                </a:solidFill>
                <a:latin typeface="Segoe UI"/>
              </a:rPr>
              <a:t>Larger than the entire global IT industry. Roughly 2.7× the world's combined military spending.</a:t>
            </a:r>
          </a:p>
        </p:txBody>
      </p:sp>
      <p:sp>
        <p:nvSpPr>
          <p:cNvPr id="8" name="TextBox 7"/>
          <p:cNvSpPr txBox="1"/>
          <p:nvPr/>
        </p:nvSpPr>
        <p:spPr>
          <a:xfrm>
            <a:off x="566928" y="4207230"/>
            <a:ext cx="5336895" cy="316382"/>
          </a:xfrm>
          <a:prstGeom prst="rect">
            <a:avLst/>
          </a:prstGeom>
          <a:noFill/>
        </p:spPr>
        <p:txBody>
          <a:bodyPr wrap="square" lIns="0" rIns="0" tIns="0" bIns="0">
            <a:spAutoFit/>
          </a:bodyPr>
          <a:lstStyle/>
          <a:p>
            <a:r>
              <a:rPr sz="852" b="1">
                <a:solidFill>
                  <a:srgbClr val="4A3AFF"/>
                </a:solidFill>
                <a:latin typeface="Segoe UI"/>
              </a:rPr>
              <a:t>THE WHOLE OF EDUCATION AND TRAINING — GLOBAL ANNUAL EXPENDITURE</a:t>
            </a:r>
          </a:p>
        </p:txBody>
      </p:sp>
      <p:graphicFrame>
        <p:nvGraphicFramePr>
          <p:cNvPr id="9" name="Table 8"/>
          <p:cNvGraphicFramePr>
            <a:graphicFrameLocks noGrp="1"/>
          </p:cNvGraphicFramePr>
          <p:nvPr/>
        </p:nvGraphicFramePr>
        <p:xfrm>
          <a:off x="566928" y="4523613"/>
          <a:ext cx="5336894" cy="1672068"/>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Segment</a:t>
                      </a:r>
                    </a:p>
                  </a:txBody>
                  <a:tcPr marL="82296" marR="64008" marT="32004" marB="32004" anchor="ctr">
                    <a:solidFill>
                      <a:srgbClr val="F4F5F9"/>
                    </a:solidFill>
                  </a:tcPr>
                </a:tc>
                <a:tc>
                  <a:txBody>
                    <a:bodyPr wrap="square"/>
                    <a:lstStyle/>
                    <a:p>
                      <a:r>
                        <a:rPr sz="902" b="1">
                          <a:solidFill>
                            <a:srgbClr val="15192B"/>
                          </a:solidFill>
                          <a:latin typeface="Segoe UI"/>
                        </a:rPr>
                        <a:t>Annual spend</a:t>
                      </a:r>
                    </a:p>
                  </a:txBody>
                  <a:tcPr marL="82296" marR="64008" marT="32004" marB="32004" anchor="ctr">
                    <a:solidFill>
                      <a:srgbClr val="F4F5F9"/>
                    </a:solidFill>
                  </a:tcPr>
                </a:tc>
                <a:tc>
                  <a:txBody>
                    <a:bodyPr wrap="square"/>
                    <a:lstStyle/>
                    <a:p>
                      <a:r>
                        <a:rPr sz="902" b="1">
                          <a:solidFill>
                            <a:srgbClr val="15192B"/>
                          </a:solidFill>
                          <a:latin typeface="Segoe UI"/>
                        </a:rPr>
                        <a:t>Notes</a:t>
                      </a:r>
                    </a:p>
                  </a:txBody>
                  <a:tcPr marL="82296" marR="64008" marT="32004" marB="32004" anchor="ctr">
                    <a:solidFill>
                      <a:srgbClr val="F4F5F9"/>
                    </a:solidFill>
                  </a:tcPr>
                </a:tc>
              </a:tr>
              <a:tr h="236189">
                <a:tc>
                  <a:txBody>
                    <a:bodyPr wrap="square"/>
                    <a:lstStyle/>
                    <a:p>
                      <a:r>
                        <a:rPr sz="902" b="1" i="0">
                          <a:solidFill>
                            <a:srgbClr val="15192B"/>
                          </a:solidFill>
                          <a:latin typeface="Segoe UI"/>
                        </a:rPr>
                        <a:t>Global education &amp; training, all segments</a:t>
                      </a:r>
                    </a:p>
                  </a:txBody>
                  <a:tcPr marL="82296" marR="64008" marT="32004" marB="32004" anchor="ctr">
                    <a:solidFill>
                      <a:srgbClr val="FFFFFF"/>
                    </a:solidFill>
                  </a:tcPr>
                </a:tc>
                <a:tc>
                  <a:txBody>
                    <a:bodyPr wrap="square"/>
                    <a:lstStyle/>
                    <a:p>
                      <a:r>
                        <a:rPr sz="902" b="1" i="0">
                          <a:solidFill>
                            <a:srgbClr val="15192B"/>
                          </a:solidFill>
                          <a:latin typeface="Segoe UI"/>
                        </a:rPr>
                        <a:t>~$7.3T (2025) → ~$10T (2030)</a:t>
                      </a:r>
                    </a:p>
                  </a:txBody>
                  <a:tcPr marL="82296" marR="64008" marT="32004" marB="32004" anchor="ctr">
                    <a:solidFill>
                      <a:srgbClr val="FFFFFF"/>
                    </a:solidFill>
                  </a:tcPr>
                </a:tc>
                <a:tc>
                  <a:txBody>
                    <a:bodyPr wrap="square"/>
                    <a:lstStyle/>
                    <a:p>
                      <a:r>
                        <a:rPr sz="902" b="0" i="0">
                          <a:solidFill>
                            <a:srgbClr val="5A6072"/>
                          </a:solidFill>
                          <a:latin typeface="Segoe UI"/>
                        </a:rPr>
                        <a:t>HolonIQ; 4.4% CAGR</a:t>
                      </a:r>
                    </a:p>
                  </a:txBody>
                  <a:tcPr marL="82296" marR="64008" marT="32004" marB="32004" anchor="ctr">
                    <a:solidFill>
                      <a:srgbClr val="FFFFFF"/>
                    </a:solidFill>
                  </a:tcPr>
                </a:tc>
              </a:tr>
              <a:tr h="236189">
                <a:tc>
                  <a:txBody>
                    <a:bodyPr wrap="square"/>
                    <a:lstStyle/>
                    <a:p>
                      <a:r>
                        <a:rPr sz="902" b="0" i="0">
                          <a:solidFill>
                            <a:srgbClr val="5A6072"/>
                          </a:solidFill>
                          <a:latin typeface="Segoe UI"/>
                        </a:rPr>
                        <a:t>K–12 / primary &amp; secondary (global)</a:t>
                      </a:r>
                    </a:p>
                  </a:txBody>
                  <a:tcPr marL="82296" marR="64008" marT="32004" marB="32004" anchor="ctr">
                    <a:solidFill>
                      <a:srgbClr val="FFFFFF"/>
                    </a:solidFill>
                  </a:tcPr>
                </a:tc>
                <a:tc>
                  <a:txBody>
                    <a:bodyPr wrap="square"/>
                    <a:lstStyle/>
                    <a:p>
                      <a:r>
                        <a:rPr sz="902" b="0" i="0">
                          <a:solidFill>
                            <a:srgbClr val="5A6072"/>
                          </a:solidFill>
                          <a:latin typeface="Segoe UI"/>
                        </a:rPr>
                        <a:t>~$2.5T</a:t>
                      </a:r>
                    </a:p>
                  </a:txBody>
                  <a:tcPr marL="82296" marR="64008" marT="32004" marB="32004" anchor="ctr">
                    <a:solidFill>
                      <a:srgbClr val="FFFFFF"/>
                    </a:solidFill>
                  </a:tcPr>
                </a:tc>
                <a:tc>
                  <a:txBody>
                    <a:bodyPr wrap="square"/>
                    <a:lstStyle/>
                    <a:p>
                      <a:r>
                        <a:rPr sz="902" b="0" i="0">
                          <a:solidFill>
                            <a:srgbClr val="5A6072"/>
                          </a:solidFill>
                          <a:latin typeface="Segoe UI"/>
                        </a:rPr>
                        <a:t>Largest single block by headcount</a:t>
                      </a:r>
                    </a:p>
                  </a:txBody>
                  <a:tcPr marL="82296" marR="64008" marT="32004" marB="32004" anchor="ctr">
                    <a:solidFill>
                      <a:srgbClr val="FFFFFF"/>
                    </a:solidFill>
                  </a:tcPr>
                </a:tc>
              </a:tr>
              <a:tr h="236189">
                <a:tc>
                  <a:txBody>
                    <a:bodyPr wrap="square"/>
                    <a:lstStyle/>
                    <a:p>
                      <a:r>
                        <a:rPr sz="902" b="0" i="0">
                          <a:solidFill>
                            <a:srgbClr val="5A6072"/>
                          </a:solidFill>
                          <a:latin typeface="Segoe UI"/>
                        </a:rPr>
                        <a:t>Higher education (global)</a:t>
                      </a:r>
                    </a:p>
                  </a:txBody>
                  <a:tcPr marL="82296" marR="64008" marT="32004" marB="32004" anchor="ctr">
                    <a:solidFill>
                      <a:srgbClr val="FFFFFF"/>
                    </a:solidFill>
                  </a:tcPr>
                </a:tc>
                <a:tc>
                  <a:txBody>
                    <a:bodyPr wrap="square"/>
                    <a:lstStyle/>
                    <a:p>
                      <a:r>
                        <a:rPr sz="902" b="0" i="0">
                          <a:solidFill>
                            <a:srgbClr val="5A6072"/>
                          </a:solidFill>
                          <a:latin typeface="Segoe UI"/>
                        </a:rPr>
                        <a:t>~$2.2T</a:t>
                      </a:r>
                    </a:p>
                  </a:txBody>
                  <a:tcPr marL="82296" marR="64008" marT="32004" marB="32004" anchor="ctr">
                    <a:solidFill>
                      <a:srgbClr val="FFFFFF"/>
                    </a:solidFill>
                  </a:tcPr>
                </a:tc>
                <a:tc>
                  <a:txBody>
                    <a:bodyPr wrap="square"/>
                    <a:lstStyle/>
                    <a:p/>
                  </a:txBody>
                  <a:tcPr marL="82296" marR="64008" marT="32004" marB="32004" anchor="ctr">
                    <a:solidFill>
                      <a:srgbClr val="FFFFFF"/>
                    </a:solidFill>
                  </a:tcPr>
                </a:tc>
              </a:tr>
              <a:tr h="236189">
                <a:tc>
                  <a:txBody>
                    <a:bodyPr wrap="square"/>
                    <a:lstStyle/>
                    <a:p>
                      <a:r>
                        <a:rPr sz="902" b="0" i="0">
                          <a:solidFill>
                            <a:srgbClr val="5A6072"/>
                          </a:solidFill>
                          <a:latin typeface="Segoe UI"/>
                        </a:rPr>
                        <a:t>Workforce, corporate &amp; vocational training</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0" i="0">
                          <a:solidFill>
                            <a:srgbClr val="5A6072"/>
                          </a:solidFill>
                          <a:latin typeface="Segoe UI"/>
                        </a:rPr>
                        <a:t>Early childhood</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1" i="0">
                          <a:solidFill>
                            <a:srgbClr val="15192B"/>
                          </a:solidFill>
                          <a:latin typeface="Segoe UI"/>
                        </a:rPr>
                        <a:t>Global EdTech (digital slice of the above)</a:t>
                      </a:r>
                    </a:p>
                  </a:txBody>
                  <a:tcPr marL="82296" marR="64008" marT="32004" marB="32004" anchor="ctr">
                    <a:solidFill>
                      <a:srgbClr val="FFFFFF"/>
                    </a:solidFill>
                  </a:tcPr>
                </a:tc>
                <a:tc>
                  <a:txBody>
                    <a:bodyPr wrap="square"/>
                    <a:lstStyle/>
                    <a:p>
                      <a:r>
                        <a:rPr sz="902" b="1" i="0">
                          <a:solidFill>
                            <a:srgbClr val="15192B"/>
                          </a:solidFill>
                          <a:latin typeface="Segoe UI"/>
                        </a:rPr>
                        <a:t>~$404B (2025)</a:t>
                      </a:r>
                    </a:p>
                  </a:txBody>
                  <a:tcPr marL="82296" marR="64008" marT="32004" marB="32004" anchor="ctr">
                    <a:solidFill>
                      <a:srgbClr val="FFFFFF"/>
                    </a:solidFill>
                  </a:tcPr>
                </a:tc>
                <a:tc>
                  <a:txBody>
                    <a:bodyPr wrap="square"/>
                    <a:lstStyle/>
                    <a:p>
                      <a:r>
                        <a:rPr sz="902" b="0" i="0">
                          <a:solidFill>
                            <a:srgbClr val="5A6072"/>
                          </a:solidFill>
                          <a:latin typeface="Segoe UI"/>
                        </a:rPr>
                        <a:t>Only ~5.5% of total education spend is digital</a:t>
                      </a:r>
                    </a:p>
                  </a:txBody>
                  <a:tcPr marL="82296" marR="64008" marT="32004" marB="32004" anchor="ctr">
                    <a:solidFill>
                      <a:srgbClr val="FFFFFF"/>
                    </a:solidFill>
                  </a:tcPr>
                </a:tc>
              </a:tr>
            </a:tbl>
          </a:graphicData>
        </a:graphic>
      </p:graphicFrame>
      <p:sp>
        <p:nvSpPr>
          <p:cNvPr id="10" name="TextBox 9"/>
          <p:cNvSpPr txBox="1"/>
          <p:nvPr/>
        </p:nvSpPr>
        <p:spPr>
          <a:xfrm>
            <a:off x="6287871" y="1996440"/>
            <a:ext cx="5336895" cy="316382"/>
          </a:xfrm>
          <a:prstGeom prst="rect">
            <a:avLst/>
          </a:prstGeom>
          <a:noFill/>
        </p:spPr>
        <p:txBody>
          <a:bodyPr wrap="square" lIns="0" rIns="0" tIns="0" bIns="0">
            <a:spAutoFit/>
          </a:bodyPr>
          <a:lstStyle/>
          <a:p>
            <a:r>
              <a:rPr sz="852" b="1">
                <a:solidFill>
                  <a:srgbClr val="4A3AFF"/>
                </a:solidFill>
                <a:latin typeface="Segoe UI"/>
              </a:rPr>
              <a:t>ADJACENT SPEND THAT IS REALLY EDUCATION SPEND</a:t>
            </a:r>
          </a:p>
        </p:txBody>
      </p:sp>
      <p:sp>
        <p:nvSpPr>
          <p:cNvPr id="11" name="Oval 10"/>
          <p:cNvSpPr/>
          <p:nvPr/>
        </p:nvSpPr>
        <p:spPr>
          <a:xfrm>
            <a:off x="6306159" y="23774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5615" y="2312822"/>
            <a:ext cx="5099151" cy="283349"/>
          </a:xfrm>
          <a:prstGeom prst="rect">
            <a:avLst/>
          </a:prstGeom>
          <a:noFill/>
        </p:spPr>
        <p:txBody>
          <a:bodyPr wrap="square" lIns="0" rIns="0" tIns="0" bIns="0">
            <a:spAutoFit/>
          </a:bodyPr>
          <a:lstStyle/>
          <a:p>
            <a:r>
              <a:rPr sz="1106" b="1" i="0">
                <a:solidFill>
                  <a:srgbClr val="15192B"/>
                </a:solidFill>
                <a:latin typeface="Segoe UI"/>
              </a:rPr>
              <a:t>Corporate training</a:t>
            </a:r>
            <a:r>
              <a:rPr sz="1106" b="0" i="0">
                <a:solidFill>
                  <a:srgbClr val="5A6072"/>
                </a:solidFill>
                <a:latin typeface="Segoe UI"/>
              </a:rPr>
              <a:t> — ~$427B global</a:t>
            </a:r>
          </a:p>
        </p:txBody>
      </p:sp>
      <p:sp>
        <p:nvSpPr>
          <p:cNvPr id="13" name="Oval 12"/>
          <p:cNvSpPr/>
          <p:nvPr/>
        </p:nvSpPr>
        <p:spPr>
          <a:xfrm>
            <a:off x="6306159" y="266084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5615" y="2596172"/>
            <a:ext cx="5099151" cy="283349"/>
          </a:xfrm>
          <a:prstGeom prst="rect">
            <a:avLst/>
          </a:prstGeom>
          <a:noFill/>
        </p:spPr>
        <p:txBody>
          <a:bodyPr wrap="square" lIns="0" rIns="0" tIns="0" bIns="0">
            <a:spAutoFit/>
          </a:bodyPr>
          <a:lstStyle/>
          <a:p>
            <a:r>
              <a:rPr sz="1106" b="1" i="0">
                <a:solidFill>
                  <a:srgbClr val="15192B"/>
                </a:solidFill>
                <a:latin typeface="Segoe UI"/>
              </a:rPr>
              <a:t>Private tutoring</a:t>
            </a:r>
            <a:r>
              <a:rPr sz="1106" b="0" i="0">
                <a:solidFill>
                  <a:srgbClr val="5A6072"/>
                </a:solidFill>
                <a:latin typeface="Segoe UI"/>
              </a:rPr>
              <a:t> — ~$134B global</a:t>
            </a:r>
          </a:p>
        </p:txBody>
      </p:sp>
      <p:sp>
        <p:nvSpPr>
          <p:cNvPr id="15" name="Oval 14"/>
          <p:cNvSpPr/>
          <p:nvPr/>
        </p:nvSpPr>
        <p:spPr>
          <a:xfrm>
            <a:off x="6306159" y="2944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5615" y="2879521"/>
            <a:ext cx="5099151" cy="283349"/>
          </a:xfrm>
          <a:prstGeom prst="rect">
            <a:avLst/>
          </a:prstGeom>
          <a:noFill/>
        </p:spPr>
        <p:txBody>
          <a:bodyPr wrap="square" lIns="0" rIns="0" tIns="0" bIns="0">
            <a:spAutoFit/>
          </a:bodyPr>
          <a:lstStyle/>
          <a:p>
            <a:r>
              <a:rPr sz="1106" b="1" i="0">
                <a:solidFill>
                  <a:srgbClr val="15192B"/>
                </a:solidFill>
                <a:latin typeface="Segoe UI"/>
              </a:rPr>
              <a:t>Language learning</a:t>
            </a:r>
            <a:r>
              <a:rPr sz="1106" b="0" i="0">
                <a:solidFill>
                  <a:srgbClr val="5A6072"/>
                </a:solidFill>
                <a:latin typeface="Segoe UI"/>
              </a:rPr>
              <a:t> — ~$85B global</a:t>
            </a:r>
          </a:p>
        </p:txBody>
      </p:sp>
      <p:sp>
        <p:nvSpPr>
          <p:cNvPr id="17" name="Oval 16"/>
          <p:cNvSpPr/>
          <p:nvPr/>
        </p:nvSpPr>
        <p:spPr>
          <a:xfrm>
            <a:off x="6306159" y="322754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25615" y="3162871"/>
            <a:ext cx="5099151" cy="283349"/>
          </a:xfrm>
          <a:prstGeom prst="rect">
            <a:avLst/>
          </a:prstGeom>
          <a:noFill/>
        </p:spPr>
        <p:txBody>
          <a:bodyPr wrap="square" lIns="0" rIns="0" tIns="0" bIns="0">
            <a:spAutoFit/>
          </a:bodyPr>
          <a:lstStyle/>
          <a:p>
            <a:r>
              <a:rPr sz="1106" b="1" i="0">
                <a:solidFill>
                  <a:srgbClr val="15192B"/>
                </a:solidFill>
                <a:latin typeface="Segoe UI"/>
              </a:rPr>
              <a:t>Test prep &amp; admissions</a:t>
            </a:r>
            <a:r>
              <a:rPr sz="1106" b="0" i="0">
                <a:solidFill>
                  <a:srgbClr val="5A6072"/>
                </a:solidFill>
                <a:latin typeface="Segoe UI"/>
              </a:rPr>
              <a:t> — SAT, ACT, GRE, MCAT, LSAT</a:t>
            </a:r>
          </a:p>
        </p:txBody>
      </p:sp>
      <p:sp>
        <p:nvSpPr>
          <p:cNvPr id="19" name="Oval 18"/>
          <p:cNvSpPr/>
          <p:nvPr/>
        </p:nvSpPr>
        <p:spPr>
          <a:xfrm>
            <a:off x="6306159" y="35108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5615" y="3446221"/>
            <a:ext cx="5099151" cy="466115"/>
          </a:xfrm>
          <a:prstGeom prst="rect">
            <a:avLst/>
          </a:prstGeom>
          <a:noFill/>
        </p:spPr>
        <p:txBody>
          <a:bodyPr wrap="square" lIns="0" rIns="0" tIns="0" bIns="0">
            <a:spAutoFit/>
          </a:bodyPr>
          <a:lstStyle/>
          <a:p>
            <a:r>
              <a:rPr sz="1106" b="1" i="0">
                <a:solidFill>
                  <a:srgbClr val="15192B"/>
                </a:solidFill>
                <a:latin typeface="Segoe UI"/>
              </a:rPr>
              <a:t>Professional licensure &amp; continuing education</a:t>
            </a:r>
            <a:r>
              <a:rPr sz="1106" b="0" i="0">
                <a:solidFill>
                  <a:srgbClr val="5A6072"/>
                </a:solidFill>
                <a:latin typeface="Segoe UI"/>
              </a:rPr>
              <a:t> — CME, CLE, CPE, bar, nursing, trades</a:t>
            </a:r>
          </a:p>
        </p:txBody>
      </p:sp>
      <p:sp>
        <p:nvSpPr>
          <p:cNvPr id="21" name="Oval 20"/>
          <p:cNvSpPr/>
          <p:nvPr/>
        </p:nvSpPr>
        <p:spPr>
          <a:xfrm>
            <a:off x="6306159" y="39770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25615" y="3912336"/>
            <a:ext cx="5099151" cy="283349"/>
          </a:xfrm>
          <a:prstGeom prst="rect">
            <a:avLst/>
          </a:prstGeom>
          <a:noFill/>
        </p:spPr>
        <p:txBody>
          <a:bodyPr wrap="square" lIns="0" rIns="0" tIns="0" bIns="0">
            <a:spAutoFit/>
          </a:bodyPr>
          <a:lstStyle/>
          <a:p>
            <a:r>
              <a:rPr sz="1106" b="1" i="0">
                <a:solidFill>
                  <a:srgbClr val="15192B"/>
                </a:solidFill>
                <a:latin typeface="Segoe UI"/>
              </a:rPr>
              <a:t>IT &amp; technical certification</a:t>
            </a:r>
            <a:r>
              <a:rPr sz="1106" b="0" i="0">
                <a:solidFill>
                  <a:srgbClr val="5A6072"/>
                </a:solidFill>
                <a:latin typeface="Segoe UI"/>
              </a:rPr>
              <a:t> — AWS, Azure, Cisco, CompTIA</a:t>
            </a:r>
          </a:p>
        </p:txBody>
      </p:sp>
      <p:sp>
        <p:nvSpPr>
          <p:cNvPr id="23" name="Oval 22"/>
          <p:cNvSpPr/>
          <p:nvPr/>
        </p:nvSpPr>
        <p:spPr>
          <a:xfrm>
            <a:off x="6306159" y="42603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25615" y="4195686"/>
            <a:ext cx="5099151" cy="283349"/>
          </a:xfrm>
          <a:prstGeom prst="rect">
            <a:avLst/>
          </a:prstGeom>
          <a:noFill/>
        </p:spPr>
        <p:txBody>
          <a:bodyPr wrap="square" lIns="0" rIns="0" tIns="0" bIns="0">
            <a:spAutoFit/>
          </a:bodyPr>
          <a:lstStyle/>
          <a:p>
            <a:r>
              <a:rPr sz="1106" b="1" i="0">
                <a:solidFill>
                  <a:srgbClr val="15192B"/>
                </a:solidFill>
                <a:latin typeface="Segoe UI"/>
              </a:rPr>
              <a:t>Homeschooling, microschools &amp; pods</a:t>
            </a:r>
          </a:p>
        </p:txBody>
      </p:sp>
      <p:sp>
        <p:nvSpPr>
          <p:cNvPr id="25" name="Oval 24"/>
          <p:cNvSpPr/>
          <p:nvPr/>
        </p:nvSpPr>
        <p:spPr>
          <a:xfrm>
            <a:off x="6306159" y="45437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25615" y="4479036"/>
            <a:ext cx="5099151" cy="283349"/>
          </a:xfrm>
          <a:prstGeom prst="rect">
            <a:avLst/>
          </a:prstGeom>
          <a:noFill/>
        </p:spPr>
        <p:txBody>
          <a:bodyPr wrap="square" lIns="0" rIns="0" tIns="0" bIns="0">
            <a:spAutoFit/>
          </a:bodyPr>
          <a:lstStyle/>
          <a:p>
            <a:r>
              <a:rPr sz="1106" b="1" i="0">
                <a:solidFill>
                  <a:srgbClr val="15192B"/>
                </a:solidFill>
                <a:latin typeface="Segoe UI"/>
              </a:rPr>
              <a:t>Compliance &amp; regulatory training</a:t>
            </a:r>
          </a:p>
        </p:txBody>
      </p:sp>
      <p:sp>
        <p:nvSpPr>
          <p:cNvPr id="27" name="Oval 26"/>
          <p:cNvSpPr/>
          <p:nvPr/>
        </p:nvSpPr>
        <p:spPr>
          <a:xfrm>
            <a:off x="6306159" y="482705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25615" y="4762385"/>
            <a:ext cx="5099151" cy="283349"/>
          </a:xfrm>
          <a:prstGeom prst="rect">
            <a:avLst/>
          </a:prstGeom>
          <a:noFill/>
        </p:spPr>
        <p:txBody>
          <a:bodyPr wrap="square" lIns="0" rIns="0" tIns="0" bIns="0">
            <a:spAutoFit/>
          </a:bodyPr>
          <a:lstStyle/>
          <a:p>
            <a:r>
              <a:rPr sz="1106" b="1" i="0">
                <a:solidFill>
                  <a:srgbClr val="15192B"/>
                </a:solidFill>
                <a:latin typeface="Segoe UI"/>
              </a:rPr>
              <a:t>Military, government &amp; NGO training</a:t>
            </a:r>
          </a:p>
        </p:txBody>
      </p:sp>
      <p:sp>
        <p:nvSpPr>
          <p:cNvPr id="29" name="Oval 28"/>
          <p:cNvSpPr/>
          <p:nvPr/>
        </p:nvSpPr>
        <p:spPr>
          <a:xfrm>
            <a:off x="6306159" y="51104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25615" y="5045735"/>
            <a:ext cx="5099151" cy="283349"/>
          </a:xfrm>
          <a:prstGeom prst="rect">
            <a:avLst/>
          </a:prstGeom>
          <a:noFill/>
        </p:spPr>
        <p:txBody>
          <a:bodyPr wrap="square" lIns="0" rIns="0" tIns="0" bIns="0">
            <a:spAutoFit/>
          </a:bodyPr>
          <a:lstStyle/>
          <a:p>
            <a:r>
              <a:rPr sz="1106" b="1" i="0">
                <a:solidFill>
                  <a:srgbClr val="15192B"/>
                </a:solidFill>
                <a:latin typeface="Segoe UI"/>
              </a:rPr>
              <a:t>Self-directed learning, bootcamps &amp; courseware publishing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1B   </a:t>
            </a:r>
            <a:r>
              <a:rPr sz="2500" b="1">
                <a:solidFill>
                  <a:srgbClr val="15192B"/>
                </a:solidFill>
                <a:latin typeface="Segoe UI"/>
              </a:rPr>
              <a:t>The Three Numbers That Matter</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The market is enormous, almost entirely analog, and nobody is selling the thing that would change that.</a:t>
            </a:r>
          </a:p>
        </p:txBody>
      </p:sp>
      <p:sp>
        <p:nvSpPr>
          <p:cNvPr id="5" name="TextBox 4"/>
          <p:cNvSpPr txBox="1"/>
          <p:nvPr/>
        </p:nvSpPr>
        <p:spPr>
          <a:xfrm>
            <a:off x="566928" y="1996440"/>
            <a:ext cx="11057839" cy="32346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~$7.3T</a:t>
            </a:r>
            <a:r>
              <a:rPr sz="1350" b="0" i="0">
                <a:solidFill>
                  <a:srgbClr val="5A6072"/>
                </a:solidFill>
                <a:latin typeface="Segoe UI"/>
              </a:rPr>
              <a:t> — spent teaching people every year, growing to </a:t>
            </a:r>
            <a:r>
              <a:rPr sz="1350" b="1" i="0">
                <a:solidFill>
                  <a:srgbClr val="15192B"/>
                </a:solidFill>
                <a:latin typeface="Segoe UI"/>
              </a:rPr>
              <a:t>$10T by 2030</a:t>
            </a:r>
          </a:p>
        </p:txBody>
      </p:sp>
      <p:sp>
        <p:nvSpPr>
          <p:cNvPr id="6" name="TextBox 5"/>
          <p:cNvSpPr txBox="1"/>
          <p:nvPr/>
        </p:nvSpPr>
        <p:spPr>
          <a:xfrm>
            <a:off x="566928" y="2319909"/>
            <a:ext cx="11057839" cy="32346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~5%</a:t>
            </a:r>
            <a:r>
              <a:rPr sz="1350" b="0" i="0">
                <a:solidFill>
                  <a:srgbClr val="5A6072"/>
                </a:solidFill>
                <a:latin typeface="Segoe UI"/>
              </a:rPr>
              <a:t> — of it is digital. The rest is people, buildings, and paper</a:t>
            </a:r>
          </a:p>
        </p:txBody>
      </p:sp>
      <p:sp>
        <p:nvSpPr>
          <p:cNvPr id="7" name="TextBox 6"/>
          <p:cNvSpPr txBox="1"/>
          <p:nvPr/>
        </p:nvSpPr>
        <p:spPr>
          <a:xfrm>
            <a:off x="566928" y="2643378"/>
            <a:ext cx="11057839" cy="323469"/>
          </a:xfrm>
          <a:prstGeom prst="rect">
            <a:avLst/>
          </a:prstGeom>
          <a:noFill/>
        </p:spPr>
        <p:txBody>
          <a:bodyPr wrap="square" lIns="0" rIns="0" tIns="0" bIns="0">
            <a:spAutoFit/>
          </a:bodyPr>
          <a:lstStyle/>
          <a:p>
            <a:r>
              <a:rPr sz="1350" b="0" i="0">
                <a:solidFill>
                  <a:srgbClr val="5A6072"/>
                </a:solidFill>
                <a:latin typeface="Segoe UI"/>
              </a:rPr>
              <a:t>3. </a:t>
            </a:r>
            <a:r>
              <a:rPr sz="1350" b="1" i="0">
                <a:solidFill>
                  <a:srgbClr val="15192B"/>
                </a:solidFill>
                <a:latin typeface="Segoe UI"/>
              </a:rPr>
              <a:t>$0</a:t>
            </a:r>
            <a:r>
              <a:rPr sz="1350" b="0" i="0">
                <a:solidFill>
                  <a:srgbClr val="5A6072"/>
                </a:solidFill>
                <a:latin typeface="Segoe UI"/>
              </a:rPr>
              <a:t> — goes to a system that can generate a verified, prerequisite-structured course on demand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2   </a:t>
            </a:r>
            <a:r>
              <a:rPr sz="2500" b="1">
                <a:solidFill>
                  <a:srgbClr val="15192B"/>
                </a:solidFill>
                <a:latin typeface="Segoe UI"/>
              </a:rPr>
              <a:t>The Problem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Every course is written from scratch by one expert. That's why education doesn't scale, doesn't adapt, and doesn't transfer.</a:t>
            </a:r>
          </a:p>
        </p:txBody>
      </p:sp>
      <p:sp>
        <p:nvSpPr>
          <p:cNvPr id="5" name="Oval 4"/>
          <p:cNvSpPr/>
          <p:nvPr/>
        </p:nvSpPr>
        <p:spPr>
          <a:xfrm>
            <a:off x="585216" y="20753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96440"/>
            <a:ext cx="10820095" cy="546354"/>
          </a:xfrm>
          <a:prstGeom prst="rect">
            <a:avLst/>
          </a:prstGeom>
          <a:noFill/>
        </p:spPr>
        <p:txBody>
          <a:bodyPr wrap="square" lIns="0" rIns="0" tIns="0" bIns="0">
            <a:spAutoFit/>
          </a:bodyPr>
          <a:lstStyle/>
          <a:p>
            <a:r>
              <a:rPr sz="1350" b="1" i="0">
                <a:solidFill>
                  <a:srgbClr val="15192B"/>
                </a:solidFill>
                <a:latin typeface="Segoe UI"/>
              </a:rPr>
              <a:t>Content is hand-built.</a:t>
            </a:r>
            <a:r>
              <a:rPr sz="1350" b="0" i="0">
                <a:solidFill>
                  <a:srgbClr val="5A6072"/>
                </a:solidFill>
                <a:latin typeface="Segoe UI"/>
              </a:rPr>
              <a:t> A single university course takes an expert months. A curriculum takes years. Cost scales linearly with subjects covered.</a:t>
            </a:r>
          </a:p>
        </p:txBody>
      </p:sp>
      <p:sp>
        <p:nvSpPr>
          <p:cNvPr id="7" name="Oval 6"/>
          <p:cNvSpPr/>
          <p:nvPr/>
        </p:nvSpPr>
        <p:spPr>
          <a:xfrm>
            <a:off x="585216" y="26216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42794"/>
            <a:ext cx="10820095" cy="546354"/>
          </a:xfrm>
          <a:prstGeom prst="rect">
            <a:avLst/>
          </a:prstGeom>
          <a:noFill/>
        </p:spPr>
        <p:txBody>
          <a:bodyPr wrap="square" lIns="0" rIns="0" tIns="0" bIns="0">
            <a:spAutoFit/>
          </a:bodyPr>
          <a:lstStyle/>
          <a:p>
            <a:r>
              <a:rPr sz="1350" b="1" i="0">
                <a:solidFill>
                  <a:srgbClr val="15192B"/>
                </a:solidFill>
                <a:latin typeface="Segoe UI"/>
              </a:rPr>
              <a:t>Structure is implicit.</a:t>
            </a:r>
            <a:r>
              <a:rPr sz="1350" b="0" i="0">
                <a:solidFill>
                  <a:srgbClr val="5A6072"/>
                </a:solidFill>
                <a:latin typeface="Segoe UI"/>
              </a:rPr>
              <a:t> Prerequisites live in a professor's head or a syllabus footnote — not in a machine-readable form anything can reason over.</a:t>
            </a:r>
          </a:p>
        </p:txBody>
      </p:sp>
      <p:sp>
        <p:nvSpPr>
          <p:cNvPr id="9" name="Oval 8"/>
          <p:cNvSpPr/>
          <p:nvPr/>
        </p:nvSpPr>
        <p:spPr>
          <a:xfrm>
            <a:off x="585216" y="316801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89148"/>
            <a:ext cx="10820095" cy="546354"/>
          </a:xfrm>
          <a:prstGeom prst="rect">
            <a:avLst/>
          </a:prstGeom>
          <a:noFill/>
        </p:spPr>
        <p:txBody>
          <a:bodyPr wrap="square" lIns="0" rIns="0" tIns="0" bIns="0">
            <a:spAutoFit/>
          </a:bodyPr>
          <a:lstStyle/>
          <a:p>
            <a:r>
              <a:rPr sz="1350" b="1" i="0">
                <a:solidFill>
                  <a:srgbClr val="15192B"/>
                </a:solidFill>
                <a:latin typeface="Segoe UI"/>
              </a:rPr>
              <a:t>Sequencing is one-size-fits-all.</a:t>
            </a:r>
            <a:r>
              <a:rPr sz="1350" b="0" i="0">
                <a:solidFill>
                  <a:srgbClr val="5A6072"/>
                </a:solidFill>
                <a:latin typeface="Segoe UI"/>
              </a:rPr>
              <a:t> Everyone walks the same path at the same pace regardless of what they already know.</a:t>
            </a:r>
          </a:p>
        </p:txBody>
      </p:sp>
      <p:sp>
        <p:nvSpPr>
          <p:cNvPr id="11" name="Oval 10"/>
          <p:cNvSpPr/>
          <p:nvPr/>
        </p:nvSpPr>
        <p:spPr>
          <a:xfrm>
            <a:off x="585216" y="37143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35502"/>
            <a:ext cx="10820095" cy="546354"/>
          </a:xfrm>
          <a:prstGeom prst="rect">
            <a:avLst/>
          </a:prstGeom>
          <a:noFill/>
        </p:spPr>
        <p:txBody>
          <a:bodyPr wrap="square" lIns="0" rIns="0" tIns="0" bIns="0">
            <a:spAutoFit/>
          </a:bodyPr>
          <a:lstStyle/>
          <a:p>
            <a:r>
              <a:rPr sz="1350" b="1" i="0">
                <a:solidFill>
                  <a:srgbClr val="15192B"/>
                </a:solidFill>
                <a:latin typeface="Segoe UI"/>
              </a:rPr>
              <a:t>AI chatbots don't fix this.</a:t>
            </a:r>
            <a:r>
              <a:rPr sz="1350" b="0" i="0">
                <a:solidFill>
                  <a:srgbClr val="5A6072"/>
                </a:solidFill>
                <a:latin typeface="Segoe UI"/>
              </a:rPr>
              <a:t> An LLM answers any question fluently, but it has no model of </a:t>
            </a:r>
            <a:r>
              <a:rPr sz="1350" b="0" i="1">
                <a:solidFill>
                  <a:srgbClr val="5A6072"/>
                </a:solidFill>
                <a:latin typeface="Segoe UI"/>
              </a:rPr>
              <a:t>what you know</a:t>
            </a:r>
            <a:r>
              <a:rPr sz="1350" b="0" i="0">
                <a:solidFill>
                  <a:srgbClr val="5A6072"/>
                </a:solidFill>
                <a:latin typeface="Segoe UI"/>
              </a:rPr>
              <a:t>, </a:t>
            </a:r>
            <a:r>
              <a:rPr sz="1350" b="0" i="1">
                <a:solidFill>
                  <a:srgbClr val="5A6072"/>
                </a:solidFill>
                <a:latin typeface="Segoe UI"/>
              </a:rPr>
              <a:t>what you must learn first</a:t>
            </a:r>
            <a:r>
              <a:rPr sz="1350" b="0" i="0">
                <a:solidFill>
                  <a:srgbClr val="5A6072"/>
                </a:solidFill>
                <a:latin typeface="Segoe UI"/>
              </a:rPr>
              <a:t>, or </a:t>
            </a:r>
            <a:r>
              <a:rPr sz="1350" b="0" i="1">
                <a:solidFill>
                  <a:srgbClr val="5A6072"/>
                </a:solidFill>
                <a:latin typeface="Segoe UI"/>
              </a:rPr>
              <a:t>whether the explanation it just gave was correct</a:t>
            </a:r>
            <a:r>
              <a:rPr sz="1350" b="0" i="0">
                <a:solidFill>
                  <a:srgbClr val="5A6072"/>
                </a:solidFill>
                <a:latin typeface="Segoe UI"/>
              </a:rPr>
              <a:t>. It tutors without a curriculum.</a:t>
            </a:r>
          </a:p>
        </p:txBody>
      </p:sp>
      <p:sp>
        <p:nvSpPr>
          <p:cNvPr id="13" name="Oval 12"/>
          <p:cNvSpPr/>
          <p:nvPr/>
        </p:nvSpPr>
        <p:spPr>
          <a:xfrm>
            <a:off x="585216" y="4260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181856"/>
            <a:ext cx="10820095" cy="546354"/>
          </a:xfrm>
          <a:prstGeom prst="rect">
            <a:avLst/>
          </a:prstGeom>
          <a:noFill/>
        </p:spPr>
        <p:txBody>
          <a:bodyPr wrap="square" lIns="0" rIns="0" tIns="0" bIns="0">
            <a:spAutoFit/>
          </a:bodyPr>
          <a:lstStyle/>
          <a:p>
            <a:r>
              <a:rPr sz="1350" b="1" i="0">
                <a:solidFill>
                  <a:srgbClr val="15192B"/>
                </a:solidFill>
                <a:latin typeface="Segoe UI"/>
              </a:rPr>
              <a:t>And it re-derives the same lesson for every learner.</a:t>
            </a:r>
            <a:r>
              <a:rPr sz="1350" b="0" i="0">
                <a:solidFill>
                  <a:srgbClr val="5A6072"/>
                </a:solidFill>
                <a:latin typeface="Segoe UI"/>
              </a:rPr>
              <a:t> A chatbot regenerates algebra from scratch for each student, each time — unverified, slightly different, and paid for again on every ask.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3   </a:t>
            </a:r>
            <a:r>
              <a:rPr sz="2500" b="1">
                <a:solidFill>
                  <a:srgbClr val="15192B"/>
                </a:solidFill>
                <a:latin typeface="Segoe UI"/>
              </a:rPr>
              <a:t>The Solution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Qlaudia generates a complete, prerequisite-structured knowledge graph for any subject — in hours, not months — and teaches from it adaptively.</a:t>
            </a:r>
          </a:p>
        </p:txBody>
      </p:sp>
      <p:sp>
        <p:nvSpPr>
          <p:cNvPr id="5" name="TextBox 4"/>
          <p:cNvSpPr txBox="1"/>
          <p:nvPr/>
        </p:nvSpPr>
        <p:spPr>
          <a:xfrm>
            <a:off x="566928" y="1996440"/>
            <a:ext cx="11057839" cy="369189"/>
          </a:xfrm>
          <a:prstGeom prst="rect">
            <a:avLst/>
          </a:prstGeom>
          <a:noFill/>
        </p:spPr>
        <p:txBody>
          <a:bodyPr wrap="square" lIns="0" rIns="0" tIns="0" bIns="0">
            <a:spAutoFit/>
          </a:bodyPr>
          <a:lstStyle/>
          <a:p>
            <a:r>
              <a:rPr sz="1350" b="1" i="0">
                <a:solidFill>
                  <a:srgbClr val="15192B"/>
                </a:solidFill>
                <a:latin typeface="Segoe UI"/>
              </a:rPr>
              <a:t>Two inventions, independently valuable:</a:t>
            </a:r>
          </a:p>
        </p:txBody>
      </p:sp>
      <p:sp>
        <p:nvSpPr>
          <p:cNvPr id="6" name="TextBox 5"/>
          <p:cNvSpPr txBox="1"/>
          <p:nvPr/>
        </p:nvSpPr>
        <p:spPr>
          <a:xfrm>
            <a:off x="566928" y="2365629"/>
            <a:ext cx="11057839" cy="76923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Knowledge base generation.</a:t>
            </a:r>
            <a:r>
              <a:rPr sz="1350" b="0" i="0">
                <a:solidFill>
                  <a:srgbClr val="5A6072"/>
                </a:solidFill>
                <a:latin typeface="Segoe UI"/>
              </a:rPr>
              <a:t> Point Qlaudia at a subject. It produces a graph of concepts, each with written instruction, computed figures, worked examples, and assessments — plus the typed relationships and prerequisite edges that connect them.</a:t>
            </a:r>
          </a:p>
        </p:txBody>
      </p:sp>
      <p:sp>
        <p:nvSpPr>
          <p:cNvPr id="7" name="TextBox 6"/>
          <p:cNvSpPr txBox="1"/>
          <p:nvPr/>
        </p:nvSpPr>
        <p:spPr>
          <a:xfrm>
            <a:off x="566928" y="3134868"/>
            <a:ext cx="11057839" cy="76923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Adaptive, goal-directed delivery.</a:t>
            </a:r>
            <a:r>
              <a:rPr sz="1350" b="0" i="0">
                <a:solidFill>
                  <a:srgbClr val="5A6072"/>
                </a:solidFill>
                <a:latin typeface="Segoe UI"/>
              </a:rPr>
              <a:t> Learners get multiple live learning paths computed from </a:t>
            </a:r>
            <a:r>
              <a:rPr sz="1350" b="0" i="1">
                <a:solidFill>
                  <a:srgbClr val="5A6072"/>
                </a:solidFill>
                <a:latin typeface="Segoe UI"/>
              </a:rPr>
              <a:t>transitive</a:t>
            </a:r>
            <a:r>
              <a:rPr sz="1350" b="0" i="0">
                <a:solidFill>
                  <a:srgbClr val="5A6072"/>
                </a:solidFill>
                <a:latin typeface="Segoe UI"/>
              </a:rPr>
              <a:t> prerequisite relationships against measured mastery. Set a goal concept; the system works backward through everything required to reach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4   </a:t>
            </a:r>
            <a:r>
              <a:rPr sz="2500" b="1">
                <a:solidFill>
                  <a:srgbClr val="15192B"/>
                </a:solidFill>
                <a:latin typeface="Segoe UI"/>
              </a:rPr>
              <a:t>Founder: I Designed This System in 1985</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My master's thesis described Qlaudia. I earned my master's degree in CS. But the ideas could not have been put into practice — until now.</a:t>
            </a:r>
          </a:p>
        </p:txBody>
      </p:sp>
      <p:sp>
        <p:nvSpPr>
          <p:cNvPr id="5" name="TextBox 4"/>
          <p:cNvSpPr txBox="1"/>
          <p:nvPr/>
        </p:nvSpPr>
        <p:spPr>
          <a:xfrm>
            <a:off x="566928" y="1996440"/>
            <a:ext cx="11057839" cy="592074"/>
          </a:xfrm>
          <a:prstGeom prst="rect">
            <a:avLst/>
          </a:prstGeom>
          <a:noFill/>
        </p:spPr>
        <p:txBody>
          <a:bodyPr wrap="square" lIns="0" rIns="0" tIns="0" bIns="0">
            <a:spAutoFit/>
          </a:bodyPr>
          <a:lstStyle/>
          <a:p>
            <a:r>
              <a:rPr sz="1350" b="1" i="0">
                <a:solidFill>
                  <a:srgbClr val="15192B"/>
                </a:solidFill>
                <a:latin typeface="Segoe UI"/>
              </a:rPr>
              <a:t>1985 — the Conceptual Knowledge System (CKS)</a:t>
            </a:r>
            <a:r>
              <a:rPr sz="1350" b="0" i="0">
                <a:solidFill>
                  <a:srgbClr val="5A6072"/>
                </a:solidFill>
                <a:latin typeface="Segoe UI"/>
              </a:rPr>
              <a:t>, master's thesis, University of Kansas. A knowledge graph, built once and then used for two things:</a:t>
            </a:r>
          </a:p>
        </p:txBody>
      </p:sp>
      <p:sp>
        <p:nvSpPr>
          <p:cNvPr id="6" name="Rectangle 5"/>
          <p:cNvSpPr/>
          <p:nvPr/>
        </p:nvSpPr>
        <p:spPr>
          <a:xfrm>
            <a:off x="566928" y="2615946"/>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588514"/>
            <a:ext cx="10746943" cy="575564"/>
          </a:xfrm>
          <a:prstGeom prst="rect">
            <a:avLst/>
          </a:prstGeom>
          <a:noFill/>
        </p:spPr>
        <p:txBody>
          <a:bodyPr wrap="square" lIns="0" rIns="0" tIns="0" bIns="0">
            <a:spAutoFit/>
          </a:bodyPr>
          <a:lstStyle/>
          <a:p>
            <a:r>
              <a:rPr sz="1300" b="0" i="1">
                <a:solidFill>
                  <a:srgbClr val="5A6072"/>
                </a:solidFill>
                <a:latin typeface="Segoe UI"/>
              </a:rPr>
              <a:t>"…the program has two intended functions: as an interactive knowledge acquisition facility and, secondly, as an information retrieval facility."</a:t>
            </a:r>
          </a:p>
        </p:txBody>
      </p:sp>
      <p:sp>
        <p:nvSpPr>
          <p:cNvPr id="8" name="TextBox 7"/>
          <p:cNvSpPr txBox="1"/>
          <p:nvPr/>
        </p:nvSpPr>
        <p:spPr>
          <a:xfrm>
            <a:off x="566928" y="3164078"/>
            <a:ext cx="11057839" cy="592074"/>
          </a:xfrm>
          <a:prstGeom prst="rect">
            <a:avLst/>
          </a:prstGeom>
          <a:noFill/>
        </p:spPr>
        <p:txBody>
          <a:bodyPr wrap="square" lIns="0" rIns="0" tIns="0" bIns="0">
            <a:spAutoFit/>
          </a:bodyPr>
          <a:lstStyle/>
          <a:p>
            <a:r>
              <a:rPr sz="1350" b="1" i="0">
                <a:solidFill>
                  <a:srgbClr val="15192B"/>
                </a:solidFill>
                <a:latin typeface="Segoe UI"/>
              </a:rPr>
              <a:t>Acquisition and delivery, over a constructed graph.</a:t>
            </a:r>
            <a:r>
              <a:rPr sz="1350" b="0" i="0">
                <a:solidFill>
                  <a:srgbClr val="5A6072"/>
                </a:solidFill>
                <a:latin typeface="Segoe UI"/>
              </a:rPr>
              <a:t> Those are Qlaudia's two inventions, and the patent's two claim sets.</a:t>
            </a:r>
          </a:p>
        </p:txBody>
      </p:sp>
      <p:sp>
        <p:nvSpPr>
          <p:cNvPr id="9" name="TextBox 8"/>
          <p:cNvSpPr txBox="1"/>
          <p:nvPr/>
        </p:nvSpPr>
        <p:spPr>
          <a:xfrm>
            <a:off x="566928" y="3756152"/>
            <a:ext cx="11057839" cy="369189"/>
          </a:xfrm>
          <a:prstGeom prst="rect">
            <a:avLst/>
          </a:prstGeom>
          <a:noFill/>
        </p:spPr>
        <p:txBody>
          <a:bodyPr wrap="square" lIns="0" rIns="0" tIns="0" bIns="0">
            <a:spAutoFit/>
          </a:bodyPr>
          <a:lstStyle/>
          <a:p>
            <a:r>
              <a:rPr sz="1350" b="1" i="0">
                <a:solidFill>
                  <a:srgbClr val="15192B"/>
                </a:solidFill>
                <a:latin typeface="Segoe UI"/>
              </a:rPr>
              <a:t>How acquisition worked — and why it wasn't practical:</a:t>
            </a:r>
          </a:p>
        </p:txBody>
      </p:sp>
      <p:sp>
        <p:nvSpPr>
          <p:cNvPr id="10" name="Rectangle 9"/>
          <p:cNvSpPr/>
          <p:nvPr/>
        </p:nvSpPr>
        <p:spPr>
          <a:xfrm>
            <a:off x="566928" y="4152773"/>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4125340"/>
            <a:ext cx="10746943" cy="575564"/>
          </a:xfrm>
          <a:prstGeom prst="rect">
            <a:avLst/>
          </a:prstGeom>
          <a:noFill/>
        </p:spPr>
        <p:txBody>
          <a:bodyPr wrap="square" lIns="0" rIns="0" tIns="0" bIns="0">
            <a:spAutoFit/>
          </a:bodyPr>
          <a:lstStyle/>
          <a:p>
            <a:r>
              <a:rPr sz="1300" b="0" i="1">
                <a:solidFill>
                  <a:srgbClr val="5A6072"/>
                </a:solidFill>
                <a:latin typeface="Segoe UI"/>
              </a:rPr>
              <a:t>"While engaged in interactive dialog with a user, CKS's acquisition facility attempts to acquire the concepts which constitute the user's knowledge."</a:t>
            </a:r>
          </a:p>
        </p:txBody>
      </p:sp>
      <p:sp>
        <p:nvSpPr>
          <p:cNvPr id="12" name="TextBox 11"/>
          <p:cNvSpPr txBox="1"/>
          <p:nvPr/>
        </p:nvSpPr>
        <p:spPr>
          <a:xfrm>
            <a:off x="566928" y="4700904"/>
            <a:ext cx="11057839" cy="592074"/>
          </a:xfrm>
          <a:prstGeom prst="rect">
            <a:avLst/>
          </a:prstGeom>
          <a:noFill/>
        </p:spPr>
        <p:txBody>
          <a:bodyPr wrap="square" lIns="0" rIns="0" tIns="0" bIns="0">
            <a:spAutoFit/>
          </a:bodyPr>
          <a:lstStyle/>
          <a:p>
            <a:r>
              <a:rPr sz="1350" b="0" i="0">
                <a:solidFill>
                  <a:srgbClr val="5A6072"/>
                </a:solidFill>
                <a:latin typeface="Segoe UI"/>
              </a:rPr>
              <a:t>Every concept had to be extracted from a human being, one at a time. </a:t>
            </a:r>
            <a:r>
              <a:rPr sz="1350" b="1" i="0">
                <a:solidFill>
                  <a:srgbClr val="15192B"/>
                </a:solidFill>
                <a:latin typeface="Segoe UI"/>
              </a:rPr>
              <a:t>The graph was never the hard part. Filling it was.</a:t>
            </a:r>
          </a:p>
        </p:txBody>
      </p:sp>
      <p:sp>
        <p:nvSpPr>
          <p:cNvPr id="13" name="TextBox 12"/>
          <p:cNvSpPr txBox="1"/>
          <p:nvPr/>
        </p:nvSpPr>
        <p:spPr>
          <a:xfrm>
            <a:off x="566928" y="5292978"/>
            <a:ext cx="11057839" cy="369189"/>
          </a:xfrm>
          <a:prstGeom prst="rect">
            <a:avLst/>
          </a:prstGeom>
          <a:noFill/>
        </p:spPr>
        <p:txBody>
          <a:bodyPr wrap="square" lIns="0" rIns="0" tIns="0" bIns="0">
            <a:spAutoFit/>
          </a:bodyPr>
          <a:lstStyle/>
          <a:p>
            <a:r>
              <a:rPr sz="1350" b="1" i="0">
                <a:solidFill>
                  <a:srgbClr val="15192B"/>
                </a:solidFill>
                <a:latin typeface="Segoe UI"/>
              </a:rPr>
              <a:t>2026 — LLMs are the acquisition facility.</a:t>
            </a:r>
            <a:r>
              <a:rPr sz="1350" b="0" i="0">
                <a:solidFill>
                  <a:srgbClr val="5A6072"/>
                </a:solidFill>
                <a:latin typeface="Segoe UI"/>
              </a:rPr>
              <a:t> Same architecture. The missing half arrived.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5   </a:t>
            </a:r>
            <a:r>
              <a:rPr sz="2500" b="1">
                <a:solidFill>
                  <a:srgbClr val="15192B"/>
                </a:solidFill>
                <a:latin typeface="Segoe UI"/>
              </a:rPr>
              <a:t>Product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it already works. Show it.</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0" i="0">
                <a:solidFill>
                  <a:srgbClr val="5A6072"/>
                </a:solidFill>
                <a:latin typeface="Segoe UI"/>
              </a:rPr>
              <a:t>Create a domain live — the pipeline streams its progress on screen</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0" i="0">
                <a:solidFill>
                  <a:srgbClr val="5A6072"/>
                </a:solidFill>
                <a:latin typeface="Segoe UI"/>
              </a:rPr>
              <a:t>Browse the result: concept list, generated instruction, computed figures, assessments</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323469"/>
          </a:xfrm>
          <a:prstGeom prst="rect">
            <a:avLst/>
          </a:prstGeom>
          <a:noFill/>
        </p:spPr>
        <p:txBody>
          <a:bodyPr wrap="square" lIns="0" rIns="0" tIns="0" bIns="0">
            <a:spAutoFit/>
          </a:bodyPr>
          <a:lstStyle/>
          <a:p>
            <a:r>
              <a:rPr sz="1350" b="0" i="0">
                <a:solidFill>
                  <a:srgbClr val="5A6072"/>
                </a:solidFill>
                <a:latin typeface="Segoe UI"/>
              </a:rPr>
              <a:t>Knowledge graph visualization</a:t>
            </a:r>
          </a:p>
        </p:txBody>
      </p:sp>
      <p:sp>
        <p:nvSpPr>
          <p:cNvPr id="11" name="Oval 10"/>
          <p:cNvSpPr/>
          <p:nvPr/>
        </p:nvSpPr>
        <p:spPr>
          <a:xfrm>
            <a:off x="585216" y="27607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681858"/>
            <a:ext cx="10820095" cy="323469"/>
          </a:xfrm>
          <a:prstGeom prst="rect">
            <a:avLst/>
          </a:prstGeom>
          <a:noFill/>
        </p:spPr>
        <p:txBody>
          <a:bodyPr wrap="square" lIns="0" rIns="0" tIns="0" bIns="0">
            <a:spAutoFit/>
          </a:bodyPr>
          <a:lstStyle/>
          <a:p>
            <a:r>
              <a:rPr sz="1350" b="0" i="0">
                <a:solidFill>
                  <a:srgbClr val="5A6072"/>
                </a:solidFill>
                <a:latin typeface="Segoe UI"/>
              </a:rPr>
              <a:t>Progress and mastery tracking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6   </a:t>
            </a:r>
            <a:r>
              <a:rPr sz="2500" b="1">
                <a:solidFill>
                  <a:srgbClr val="15192B"/>
                </a:solidFill>
                <a:latin typeface="Segoe UI"/>
              </a:rPr>
              <a:t>This Is a Pipeline, Not a Prompt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Producing a course that is correct, structured, and reusable is hard engineering. This is the machine that does it.</a:t>
            </a:r>
          </a:p>
        </p:txBody>
      </p:sp>
      <p:sp>
        <p:nvSpPr>
          <p:cNvPr id="5" name="Oval 4"/>
          <p:cNvSpPr/>
          <p:nvPr/>
        </p:nvSpPr>
        <p:spPr>
          <a:xfrm>
            <a:off x="585216" y="20753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96440"/>
            <a:ext cx="10820095" cy="546354"/>
          </a:xfrm>
          <a:prstGeom prst="rect">
            <a:avLst/>
          </a:prstGeom>
          <a:noFill/>
        </p:spPr>
        <p:txBody>
          <a:bodyPr wrap="square" lIns="0" rIns="0" tIns="0" bIns="0">
            <a:spAutoFit/>
          </a:bodyPr>
          <a:lstStyle/>
          <a:p>
            <a:r>
              <a:rPr sz="1350" b="1" i="0">
                <a:solidFill>
                  <a:srgbClr val="15192B"/>
                </a:solidFill>
                <a:latin typeface="Segoe UI"/>
              </a:rPr>
              <a:t>Mined once, then served</a:t>
            </a:r>
            <a:r>
              <a:rPr sz="1350" b="0" i="0">
                <a:solidFill>
                  <a:srgbClr val="5A6072"/>
                </a:solidFill>
                <a:latin typeface="Segoe UI"/>
              </a:rPr>
              <a:t> — knowledge is distilled into a durable graph up front, not re-derived on every question. We pay for inference once per concept, not once per learner</a:t>
            </a:r>
          </a:p>
        </p:txBody>
      </p:sp>
      <p:sp>
        <p:nvSpPr>
          <p:cNvPr id="7" name="Oval 6"/>
          <p:cNvSpPr/>
          <p:nvPr/>
        </p:nvSpPr>
        <p:spPr>
          <a:xfrm>
            <a:off x="585216" y="26216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42794"/>
            <a:ext cx="10820095" cy="546354"/>
          </a:xfrm>
          <a:prstGeom prst="rect">
            <a:avLst/>
          </a:prstGeom>
          <a:noFill/>
        </p:spPr>
        <p:txBody>
          <a:bodyPr wrap="square" lIns="0" rIns="0" tIns="0" bIns="0">
            <a:spAutoFit/>
          </a:bodyPr>
          <a:lstStyle/>
          <a:p>
            <a:r>
              <a:rPr sz="1350" b="1" i="0">
                <a:solidFill>
                  <a:srgbClr val="15192B"/>
                </a:solidFill>
                <a:latin typeface="Segoe UI"/>
              </a:rPr>
              <a:t>Figures are computed, executed, and checked</a:t>
            </a:r>
            <a:r>
              <a:rPr sz="1350" b="0" i="0">
                <a:solidFill>
                  <a:srgbClr val="5A6072"/>
                </a:solidFill>
                <a:latin typeface="Segoe UI"/>
              </a:rPr>
              <a:t> — diagrams come from generated construction code run in a sandbox, verified against independently derived assertions, and automatically repaired on failure</a:t>
            </a:r>
          </a:p>
        </p:txBody>
      </p:sp>
      <p:sp>
        <p:nvSpPr>
          <p:cNvPr id="9" name="Oval 8"/>
          <p:cNvSpPr/>
          <p:nvPr/>
        </p:nvSpPr>
        <p:spPr>
          <a:xfrm>
            <a:off x="585216" y="316801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89148"/>
            <a:ext cx="10820095" cy="546354"/>
          </a:xfrm>
          <a:prstGeom prst="rect">
            <a:avLst/>
          </a:prstGeom>
          <a:noFill/>
        </p:spPr>
        <p:txBody>
          <a:bodyPr wrap="square" lIns="0" rIns="0" tIns="0" bIns="0">
            <a:spAutoFit/>
          </a:bodyPr>
          <a:lstStyle/>
          <a:p>
            <a:r>
              <a:rPr sz="1350" b="1" i="0">
                <a:solidFill>
                  <a:srgbClr val="15192B"/>
                </a:solidFill>
                <a:latin typeface="Segoe UI"/>
              </a:rPr>
              <a:t>The grader isn't the author</a:t>
            </a:r>
            <a:r>
              <a:rPr sz="1350" b="0" i="0">
                <a:solidFill>
                  <a:srgbClr val="5A6072"/>
                </a:solidFill>
                <a:latin typeface="Segoe UI"/>
              </a:rPr>
              <a:t> — assessments and figure verification run on a separate model from the one that wrote the content</a:t>
            </a:r>
          </a:p>
        </p:txBody>
      </p:sp>
      <p:sp>
        <p:nvSpPr>
          <p:cNvPr id="11" name="Oval 10"/>
          <p:cNvSpPr/>
          <p:nvPr/>
        </p:nvSpPr>
        <p:spPr>
          <a:xfrm>
            <a:off x="585216" y="37143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35502"/>
            <a:ext cx="10820095" cy="546354"/>
          </a:xfrm>
          <a:prstGeom prst="rect">
            <a:avLst/>
          </a:prstGeom>
          <a:noFill/>
        </p:spPr>
        <p:txBody>
          <a:bodyPr wrap="square" lIns="0" rIns="0" tIns="0" bIns="0">
            <a:spAutoFit/>
          </a:bodyPr>
          <a:lstStyle/>
          <a:p>
            <a:r>
              <a:rPr sz="1350" b="1" i="0">
                <a:solidFill>
                  <a:srgbClr val="15192B"/>
                </a:solidFill>
                <a:latin typeface="Segoe UI"/>
              </a:rPr>
              <a:t>A concept graph, not a pile of documents</a:t>
            </a:r>
            <a:r>
              <a:rPr sz="1350" b="0" i="0">
                <a:solidFill>
                  <a:srgbClr val="5A6072"/>
                </a:solidFill>
                <a:latin typeface="Segoe UI"/>
              </a:rPr>
              <a:t> — typed relationships and prerequisite edges the system computes over</a:t>
            </a:r>
          </a:p>
        </p:txBody>
      </p:sp>
      <p:sp>
        <p:nvSpPr>
          <p:cNvPr id="13" name="Oval 12"/>
          <p:cNvSpPr/>
          <p:nvPr/>
        </p:nvSpPr>
        <p:spPr>
          <a:xfrm>
            <a:off x="585216" y="4260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181856"/>
            <a:ext cx="10820095" cy="323469"/>
          </a:xfrm>
          <a:prstGeom prst="rect">
            <a:avLst/>
          </a:prstGeom>
          <a:noFill/>
        </p:spPr>
        <p:txBody>
          <a:bodyPr wrap="square" lIns="0" rIns="0" tIns="0" bIns="0">
            <a:spAutoFit/>
          </a:bodyPr>
          <a:lstStyle/>
          <a:p>
            <a:r>
              <a:rPr sz="1350" b="1" i="0">
                <a:solidFill>
                  <a:srgbClr val="15192B"/>
                </a:solidFill>
                <a:latin typeface="Segoe UI"/>
              </a:rPr>
              <a:t>Structural importance ranking</a:t>
            </a:r>
            <a:r>
              <a:rPr sz="1350" b="0" i="0">
                <a:solidFill>
                  <a:srgbClr val="5A6072"/>
                </a:solidFill>
                <a:latin typeface="Segoe UI"/>
              </a:rPr>
              <a:t> — graph centrality identifies which concepts carry the most weight</a:t>
            </a:r>
          </a:p>
        </p:txBody>
      </p:sp>
      <p:sp>
        <p:nvSpPr>
          <p:cNvPr id="15" name="Rectangle 14"/>
          <p:cNvSpPr/>
          <p:nvPr/>
        </p:nvSpPr>
        <p:spPr>
          <a:xfrm>
            <a:off x="566928" y="4532757"/>
            <a:ext cx="50292" cy="26949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505325"/>
            <a:ext cx="10746943" cy="360934"/>
          </a:xfrm>
          <a:prstGeom prst="rect">
            <a:avLst/>
          </a:prstGeom>
          <a:noFill/>
        </p:spPr>
        <p:txBody>
          <a:bodyPr wrap="square" lIns="0" rIns="0" tIns="0" bIns="0">
            <a:spAutoFit/>
          </a:bodyPr>
          <a:lstStyle/>
          <a:p>
            <a:r>
              <a:rPr sz="1300" b="1" i="1">
                <a:solidFill>
                  <a:srgbClr val="5A6072"/>
                </a:solidFill>
                <a:latin typeface="Segoe UI"/>
              </a:rPr>
              <a:t>Eight pipeline stages. Two models. A sandbox. A repair loop.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7   </a:t>
            </a:r>
            <a:r>
              <a:rPr sz="2500" b="1">
                <a:solidFill>
                  <a:srgbClr val="15192B"/>
                </a:solidFill>
                <a:latin typeface="Segoe UI"/>
              </a:rPr>
              <a:t>Why Now</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Three curves crossed in the last 24 months.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546354"/>
          </a:xfrm>
          <a:prstGeom prst="rect">
            <a:avLst/>
          </a:prstGeom>
          <a:noFill/>
        </p:spPr>
        <p:txBody>
          <a:bodyPr wrap="square" lIns="0" rIns="0" tIns="0" bIns="0">
            <a:spAutoFit/>
          </a:bodyPr>
          <a:lstStyle/>
          <a:p>
            <a:r>
              <a:rPr sz="1350" b="1" i="0">
                <a:solidFill>
                  <a:srgbClr val="15192B"/>
                </a:solidFill>
                <a:latin typeface="Segoe UI"/>
              </a:rPr>
              <a:t>Model capability</a:t>
            </a:r>
            <a:r>
              <a:rPr sz="1350" b="0" i="0">
                <a:solidFill>
                  <a:srgbClr val="5A6072"/>
                </a:solidFill>
                <a:latin typeface="Segoe UI"/>
              </a:rPr>
              <a:t> — frontier models can now hold a full subject's structure coherently, not just answer local questions</a:t>
            </a:r>
          </a:p>
        </p:txBody>
      </p:sp>
      <p:sp>
        <p:nvSpPr>
          <p:cNvPr id="7" name="Oval 6"/>
          <p:cNvSpPr/>
          <p:nvPr/>
        </p:nvSpPr>
        <p:spPr>
          <a:xfrm>
            <a:off x="585216" y="233667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57806"/>
            <a:ext cx="10820095" cy="546354"/>
          </a:xfrm>
          <a:prstGeom prst="rect">
            <a:avLst/>
          </a:prstGeom>
          <a:noFill/>
        </p:spPr>
        <p:txBody>
          <a:bodyPr wrap="square" lIns="0" rIns="0" tIns="0" bIns="0">
            <a:spAutoFit/>
          </a:bodyPr>
          <a:lstStyle/>
          <a:p>
            <a:r>
              <a:rPr sz="1350" b="1" i="0">
                <a:solidFill>
                  <a:srgbClr val="15192B"/>
                </a:solidFill>
                <a:latin typeface="Segoe UI"/>
              </a:rPr>
              <a:t>Inference cost</a:t>
            </a:r>
            <a:r>
              <a:rPr sz="1350" b="0" i="0">
                <a:solidFill>
                  <a:srgbClr val="5A6072"/>
                </a:solidFill>
                <a:latin typeface="Segoe UI"/>
              </a:rPr>
              <a:t> — generating a complete course now costs </a:t>
            </a:r>
            <a:r>
              <a:rPr sz="1350" b="1" i="0">
                <a:solidFill>
                  <a:srgbClr val="15192B"/>
                </a:solidFill>
                <a:latin typeface="Segoe UI"/>
              </a:rPr>
              <a:t>roughly $5</a:t>
            </a:r>
            <a:r>
              <a:rPr sz="1350" b="0" i="0">
                <a:solidFill>
                  <a:srgbClr val="5A6072"/>
                </a:solidFill>
                <a:latin typeface="Segoe UI"/>
              </a:rPr>
              <a:t> in model calls. A subject-matter expert writing the same thing takes months</a:t>
            </a:r>
          </a:p>
        </p:txBody>
      </p:sp>
      <p:sp>
        <p:nvSpPr>
          <p:cNvPr id="9" name="Oval 8"/>
          <p:cNvSpPr/>
          <p:nvPr/>
        </p:nvSpPr>
        <p:spPr>
          <a:xfrm>
            <a:off x="585216" y="28830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804160"/>
            <a:ext cx="10820095" cy="546354"/>
          </a:xfrm>
          <a:prstGeom prst="rect">
            <a:avLst/>
          </a:prstGeom>
          <a:noFill/>
        </p:spPr>
        <p:txBody>
          <a:bodyPr wrap="square" lIns="0" rIns="0" tIns="0" bIns="0">
            <a:spAutoFit/>
          </a:bodyPr>
          <a:lstStyle/>
          <a:p>
            <a:r>
              <a:rPr sz="1350" b="1" i="0">
                <a:solidFill>
                  <a:srgbClr val="15192B"/>
                </a:solidFill>
                <a:latin typeface="Segoe UI"/>
              </a:rPr>
              <a:t>Institutional readiness</a:t>
            </a:r>
            <a:r>
              <a:rPr sz="1350" b="0" i="0">
                <a:solidFill>
                  <a:srgbClr val="5A6072"/>
                </a:solidFill>
                <a:latin typeface="Segoe UI"/>
              </a:rPr>
              <a:t> — post-2020, schools, universities, and employers have both the infrastructure and the permission to adopt digital-first learning</a:t>
            </a:r>
          </a:p>
        </p:txBody>
      </p:sp>
      <p:sp>
        <p:nvSpPr>
          <p:cNvPr id="11" name="Rectangle 10"/>
          <p:cNvSpPr/>
          <p:nvPr/>
        </p:nvSpPr>
        <p:spPr>
          <a:xfrm>
            <a:off x="566928" y="3377946"/>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350514"/>
            <a:ext cx="10746943" cy="575564"/>
          </a:xfrm>
          <a:prstGeom prst="rect">
            <a:avLst/>
          </a:prstGeom>
          <a:noFill/>
        </p:spPr>
        <p:txBody>
          <a:bodyPr wrap="square" lIns="0" rIns="0" tIns="0" bIns="0">
            <a:spAutoFit/>
          </a:bodyPr>
          <a:lstStyle/>
          <a:p>
            <a:r>
              <a:rPr sz="1300" b="1" i="1">
                <a:solidFill>
                  <a:srgbClr val="5A6072"/>
                </a:solidFill>
                <a:latin typeface="Segoe UI"/>
              </a:rPr>
              <a:t>~$5 and about 15 minutes</a:t>
            </a:r>
            <a:r>
              <a:rPr sz="1300" b="0" i="1">
                <a:solidFill>
                  <a:srgbClr val="5A6072"/>
                </a:solidFill>
                <a:latin typeface="Segoe UI"/>
              </a:rPr>
              <a:t> to generate a ~34-concept course with written instruction, computed figures, ~107 assessment questions, and a full prerequisite graph.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8   </a:t>
            </a:r>
            <a:r>
              <a:rPr sz="2500" b="1">
                <a:solidFill>
                  <a:srgbClr val="15192B"/>
                </a:solidFill>
                <a:latin typeface="Segoe UI"/>
              </a:rPr>
              <a:t>Defensibility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A filed patent, plus a content asset that compounds.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1" i="0">
                <a:solidFill>
                  <a:srgbClr val="15192B"/>
                </a:solidFill>
                <a:latin typeface="Segoe UI"/>
              </a:rPr>
              <a:t>Non-provisional patent application filed</a:t>
            </a:r>
            <a:r>
              <a:rPr sz="1350" b="0" i="0">
                <a:solidFill>
                  <a:srgbClr val="5A6072"/>
                </a:solidFill>
                <a:latin typeface="Segoe UI"/>
              </a:rPr>
              <a:t> — App. No. 19/756,145, filed 2026-07-28</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1" i="0">
                <a:solidFill>
                  <a:srgbClr val="15192B"/>
                </a:solidFill>
                <a:latin typeface="Segoe UI"/>
              </a:rPr>
              <a:t>Two independent claim sets</a:t>
            </a:r>
            <a:r>
              <a:rPr sz="1350" b="0" i="0">
                <a:solidFill>
                  <a:srgbClr val="5A6072"/>
                </a:solidFill>
                <a:latin typeface="Segoe UI"/>
              </a:rPr>
              <a:t> — generation and delivery can be enforced and licensed separately</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546354"/>
          </a:xfrm>
          <a:prstGeom prst="rect">
            <a:avLst/>
          </a:prstGeom>
          <a:noFill/>
        </p:spPr>
        <p:txBody>
          <a:bodyPr wrap="square" lIns="0" rIns="0" tIns="0" bIns="0">
            <a:spAutoFit/>
          </a:bodyPr>
          <a:lstStyle/>
          <a:p>
            <a:r>
              <a:rPr sz="1350" b="1" i="0">
                <a:solidFill>
                  <a:srgbClr val="15192B"/>
                </a:solidFill>
                <a:latin typeface="Segoe UI"/>
              </a:rPr>
              <a:t>An appreciating asset</a:t>
            </a:r>
            <a:r>
              <a:rPr sz="1350" b="0" i="0">
                <a:solidFill>
                  <a:srgbClr val="5A6072"/>
                </a:solidFill>
                <a:latin typeface="Segoe UI"/>
              </a:rPr>
              <a:t> — the graph is generated once and served indefinitely. Every domain adds to a reusable, cross-linked corpus, and generation cost amortizes across every learner who ever uses it</a:t>
            </a:r>
          </a:p>
        </p:txBody>
      </p:sp>
      <p:sp>
        <p:nvSpPr>
          <p:cNvPr id="11" name="Oval 10"/>
          <p:cNvSpPr/>
          <p:nvPr/>
        </p:nvSpPr>
        <p:spPr>
          <a:xfrm>
            <a:off x="585216" y="298361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04744"/>
            <a:ext cx="10820095" cy="546354"/>
          </a:xfrm>
          <a:prstGeom prst="rect">
            <a:avLst/>
          </a:prstGeom>
          <a:noFill/>
        </p:spPr>
        <p:txBody>
          <a:bodyPr wrap="square" lIns="0" rIns="0" tIns="0" bIns="0">
            <a:spAutoFit/>
          </a:bodyPr>
          <a:lstStyle/>
          <a:p>
            <a:r>
              <a:rPr sz="1350" b="1" i="0">
                <a:solidFill>
                  <a:srgbClr val="15192B"/>
                </a:solidFill>
                <a:latin typeface="Segoe UI"/>
              </a:rPr>
              <a:t>Non-obvious engineering</a:t>
            </a:r>
            <a:r>
              <a:rPr sz="1350" b="0" i="0">
                <a:solidFill>
                  <a:srgbClr val="5A6072"/>
                </a:solidFill>
                <a:latin typeface="Segoe UI"/>
              </a:rPr>
              <a:t> — the verified-figure and QA architecture is substantial work that isn't visible from the outside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9   </a:t>
            </a:r>
            <a:r>
              <a:rPr sz="2500" b="1">
                <a:solidFill>
                  <a:srgbClr val="15192B"/>
                </a:solidFill>
                <a:latin typeface="Segoe UI"/>
              </a:rPr>
              <a:t>Business Model &amp; First Customers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one primary motion, named, priced.</a:t>
            </a:r>
          </a:p>
        </p:txBody>
      </p:sp>
      <p:sp>
        <p:nvSpPr>
          <p:cNvPr id="5" name="TextBox 4"/>
          <p:cNvSpPr txBox="1"/>
          <p:nvPr/>
        </p:nvSpPr>
        <p:spPr>
          <a:xfrm>
            <a:off x="566928" y="1711452"/>
            <a:ext cx="11057839" cy="342442"/>
          </a:xfrm>
          <a:prstGeom prst="rect">
            <a:avLst/>
          </a:prstGeom>
          <a:noFill/>
        </p:spPr>
        <p:txBody>
          <a:bodyPr wrap="square" lIns="0" rIns="0" tIns="0" bIns="0">
            <a:spAutoFit/>
          </a:bodyPr>
          <a:lstStyle/>
          <a:p>
            <a:r>
              <a:rPr sz="1188" b="1" i="0">
                <a:solidFill>
                  <a:srgbClr val="15192B"/>
                </a:solidFill>
                <a:latin typeface="Segoe UI"/>
              </a:rPr>
              <a:t>The bottom-up number this slide must produce:</a:t>
            </a:r>
          </a:p>
        </p:txBody>
      </p:sp>
      <p:sp>
        <p:nvSpPr>
          <p:cNvPr id="6" name="Rectangle 5"/>
          <p:cNvSpPr/>
          <p:nvPr/>
        </p:nvSpPr>
        <p:spPr>
          <a:xfrm>
            <a:off x="566928" y="2081326"/>
            <a:ext cx="50292" cy="243738"/>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53894"/>
            <a:ext cx="10746943" cy="335178"/>
          </a:xfrm>
          <a:prstGeom prst="rect">
            <a:avLst/>
          </a:prstGeom>
          <a:noFill/>
        </p:spPr>
        <p:txBody>
          <a:bodyPr wrap="square" lIns="0" rIns="0" tIns="0" bIns="0">
            <a:spAutoFit/>
          </a:bodyPr>
          <a:lstStyle/>
          <a:p>
            <a:r>
              <a:rPr sz="1144" b="0" i="1">
                <a:solidFill>
                  <a:srgbClr val="C2410C"/>
                </a:solidFill>
                <a:latin typeface="Segoe UI"/>
              </a:rPr>
              <a:t>beachhead segment × realistic price × achievable penetration = </a:t>
            </a:r>
            <a:r>
              <a:rPr sz="1144" b="1" i="1">
                <a:solidFill>
                  <a:srgbClr val="C2410C"/>
                </a:solidFill>
                <a:latin typeface="Segoe UI"/>
              </a:rPr>
              <a:t>$⚠️ TODO</a:t>
            </a:r>
          </a:p>
        </p:txBody>
      </p:sp>
      <p:sp>
        <p:nvSpPr>
          <p:cNvPr id="8" name="TextBox 7"/>
          <p:cNvSpPr txBox="1"/>
          <p:nvPr/>
        </p:nvSpPr>
        <p:spPr>
          <a:xfrm>
            <a:off x="566928" y="2389073"/>
            <a:ext cx="11057839" cy="332841"/>
          </a:xfrm>
          <a:prstGeom prst="rect">
            <a:avLst/>
          </a:prstGeom>
          <a:noFill/>
        </p:spPr>
        <p:txBody>
          <a:bodyPr wrap="square" lIns="0" rIns="0" tIns="0" bIns="0">
            <a:spAutoFit/>
          </a:bodyPr>
          <a:lstStyle/>
          <a:p>
            <a:r>
              <a:rPr sz="915" b="1">
                <a:solidFill>
                  <a:srgbClr val="4A3AFF"/>
                </a:solidFill>
                <a:latin typeface="Segoe UI"/>
              </a:rPr>
              <a:t>BEACHHEAD</a:t>
            </a:r>
          </a:p>
        </p:txBody>
      </p:sp>
      <p:sp>
        <p:nvSpPr>
          <p:cNvPr id="9" name="Rectangle 8"/>
          <p:cNvSpPr/>
          <p:nvPr/>
        </p:nvSpPr>
        <p:spPr>
          <a:xfrm>
            <a:off x="566928" y="2749346"/>
            <a:ext cx="50292" cy="243738"/>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721914"/>
            <a:ext cx="10746943" cy="335178"/>
          </a:xfrm>
          <a:prstGeom prst="rect">
            <a:avLst/>
          </a:prstGeom>
          <a:noFill/>
        </p:spPr>
        <p:txBody>
          <a:bodyPr wrap="square" lIns="0" rIns="0" tIns="0" bIns="0">
            <a:spAutoFit/>
          </a:bodyPr>
          <a:lstStyle/>
          <a:p>
            <a:r>
              <a:rPr sz="1144" b="1" i="1">
                <a:solidFill>
                  <a:srgbClr val="5A6072"/>
                </a:solidFill>
                <a:latin typeface="Segoe UI"/>
              </a:rPr>
              <a:t>Upper-level math and science for homeschool families.</a:t>
            </a:r>
          </a:p>
        </p:txBody>
      </p:sp>
      <p:sp>
        <p:nvSpPr>
          <p:cNvPr id="11" name="TextBox 10"/>
          <p:cNvSpPr txBox="1"/>
          <p:nvPr/>
        </p:nvSpPr>
        <p:spPr>
          <a:xfrm>
            <a:off x="566928" y="3057093"/>
            <a:ext cx="11057839" cy="332841"/>
          </a:xfrm>
          <a:prstGeom prst="rect">
            <a:avLst/>
          </a:prstGeom>
          <a:noFill/>
        </p:spPr>
        <p:txBody>
          <a:bodyPr wrap="square" lIns="0" rIns="0" tIns="0" bIns="0">
            <a:spAutoFit/>
          </a:bodyPr>
          <a:lstStyle/>
          <a:p>
            <a:r>
              <a:rPr sz="915" b="1">
                <a:solidFill>
                  <a:srgbClr val="4A3AFF"/>
                </a:solidFill>
                <a:latin typeface="Segoe UI"/>
              </a:rPr>
              <a:t>WHY THIS SEGMENT FIRST</a:t>
            </a:r>
          </a:p>
        </p:txBody>
      </p:sp>
      <p:sp>
        <p:nvSpPr>
          <p:cNvPr id="12" name="Oval 11"/>
          <p:cNvSpPr/>
          <p:nvPr/>
        </p:nvSpPr>
        <p:spPr>
          <a:xfrm>
            <a:off x="585216" y="345933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389934"/>
            <a:ext cx="10820095" cy="296722"/>
          </a:xfrm>
          <a:prstGeom prst="rect">
            <a:avLst/>
          </a:prstGeom>
          <a:noFill/>
        </p:spPr>
        <p:txBody>
          <a:bodyPr wrap="square" lIns="0" rIns="0" tIns="0" bIns="0">
            <a:spAutoFit/>
          </a:bodyPr>
          <a:lstStyle/>
          <a:p>
            <a:r>
              <a:rPr sz="1188" b="1" i="0">
                <a:solidFill>
                  <a:srgbClr val="15192B"/>
                </a:solidFill>
                <a:latin typeface="Segoe UI"/>
              </a:rPr>
              <a:t>No procurement</a:t>
            </a:r>
            <a:r>
              <a:rPr sz="1188" b="0" i="0">
                <a:solidFill>
                  <a:srgbClr val="5A6072"/>
                </a:solidFill>
                <a:latin typeface="Segoe UI"/>
              </a:rPr>
              <a:t> — parents decide in an evening and pay by card. No district sales cycle a solo founder can't survive.</a:t>
            </a:r>
          </a:p>
        </p:txBody>
      </p:sp>
      <p:sp>
        <p:nvSpPr>
          <p:cNvPr id="14" name="Oval 13"/>
          <p:cNvSpPr/>
          <p:nvPr/>
        </p:nvSpPr>
        <p:spPr>
          <a:xfrm>
            <a:off x="585216" y="375606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686657"/>
            <a:ext cx="10820095" cy="492861"/>
          </a:xfrm>
          <a:prstGeom prst="rect">
            <a:avLst/>
          </a:prstGeom>
          <a:noFill/>
        </p:spPr>
        <p:txBody>
          <a:bodyPr wrap="square" lIns="0" rIns="0" tIns="0" bIns="0">
            <a:spAutoFit/>
          </a:bodyPr>
          <a:lstStyle/>
          <a:p>
            <a:r>
              <a:rPr sz="1188" b="1" i="0">
                <a:solidFill>
                  <a:srgbClr val="15192B"/>
                </a:solidFill>
                <a:latin typeface="Segoe UI"/>
              </a:rPr>
              <a:t>The pain starts exactly where the parent's competence ends</a:t>
            </a:r>
            <a:r>
              <a:rPr sz="1188" b="0" i="0">
                <a:solidFill>
                  <a:srgbClr val="5A6072"/>
                </a:solidFill>
                <a:latin typeface="Segoe UI"/>
              </a:rPr>
              <a:t> — they can teach reading and arithmetic, not algebra II or chemistry. They already pay tutors for precisely this.</a:t>
            </a:r>
          </a:p>
        </p:txBody>
      </p:sp>
      <p:sp>
        <p:nvSpPr>
          <p:cNvPr id="16" name="Oval 15"/>
          <p:cNvSpPr/>
          <p:nvPr/>
        </p:nvSpPr>
        <p:spPr>
          <a:xfrm>
            <a:off x="585216" y="42489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179519"/>
            <a:ext cx="10820095" cy="492861"/>
          </a:xfrm>
          <a:prstGeom prst="rect">
            <a:avLst/>
          </a:prstGeom>
          <a:noFill/>
        </p:spPr>
        <p:txBody>
          <a:bodyPr wrap="square" lIns="0" rIns="0" tIns="0" bIns="0">
            <a:spAutoFit/>
          </a:bodyPr>
          <a:lstStyle/>
          <a:p>
            <a:r>
              <a:rPr sz="1188" b="1" i="0">
                <a:solidFill>
                  <a:srgbClr val="15192B"/>
                </a:solidFill>
                <a:latin typeface="Segoe UI"/>
              </a:rPr>
              <a:t>Their stated anxiety is prerequisite gaps</a:t>
            </a:r>
            <a:r>
              <a:rPr sz="1188" b="0" i="0">
                <a:solidFill>
                  <a:srgbClr val="5A6072"/>
                </a:solidFill>
                <a:latin typeface="Segoe UI"/>
              </a:rPr>
              <a:t> — </a:t>
            </a:r>
            <a:r>
              <a:rPr sz="1188" b="0" i="1">
                <a:solidFill>
                  <a:srgbClr val="5A6072"/>
                </a:solidFill>
                <a:latin typeface="Segoe UI"/>
              </a:rPr>
              <a:t>"is my kid actually ready for algebra II?"</a:t>
            </a:r>
            <a:r>
              <a:rPr sz="1188" b="0" i="0">
                <a:solidFill>
                  <a:srgbClr val="5A6072"/>
                </a:solidFill>
                <a:latin typeface="Segoe UI"/>
              </a:rPr>
              <a:t> That is literally what the prerequisite graph computes.</a:t>
            </a:r>
          </a:p>
        </p:txBody>
      </p:sp>
      <p:sp>
        <p:nvSpPr>
          <p:cNvPr id="18" name="Oval 17"/>
          <p:cNvSpPr/>
          <p:nvPr/>
        </p:nvSpPr>
        <p:spPr>
          <a:xfrm>
            <a:off x="585216" y="474178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672380"/>
            <a:ext cx="10820095" cy="492861"/>
          </a:xfrm>
          <a:prstGeom prst="rect">
            <a:avLst/>
          </a:prstGeom>
          <a:noFill/>
        </p:spPr>
        <p:txBody>
          <a:bodyPr wrap="square" lIns="0" rIns="0" tIns="0" bIns="0">
            <a:spAutoFit/>
          </a:bodyPr>
          <a:lstStyle/>
          <a:p>
            <a:r>
              <a:rPr sz="1188" b="1" i="0">
                <a:solidFill>
                  <a:srgbClr val="15192B"/>
                </a:solidFill>
                <a:latin typeface="Segoe UI"/>
              </a:rPr>
              <a:t>Verified figures matter most in math and science</a:t>
            </a:r>
            <a:r>
              <a:rPr sz="1188" b="0" i="0">
                <a:solidFill>
                  <a:srgbClr val="5A6072"/>
                </a:solidFill>
                <a:latin typeface="Segoe UI"/>
              </a:rPr>
              <a:t> — where our differentiator and their need coincide, and where competitors' AI content is weakest.</a:t>
            </a:r>
          </a:p>
        </p:txBody>
      </p:sp>
      <p:sp>
        <p:nvSpPr>
          <p:cNvPr id="20" name="TextBox 19"/>
          <p:cNvSpPr txBox="1"/>
          <p:nvPr/>
        </p:nvSpPr>
        <p:spPr>
          <a:xfrm>
            <a:off x="566928" y="5165242"/>
            <a:ext cx="11057839" cy="332841"/>
          </a:xfrm>
          <a:prstGeom prst="rect">
            <a:avLst/>
          </a:prstGeom>
          <a:noFill/>
        </p:spPr>
        <p:txBody>
          <a:bodyPr wrap="square" lIns="0" rIns="0" tIns="0" bIns="0">
            <a:spAutoFit/>
          </a:bodyPr>
          <a:lstStyle/>
          <a:p>
            <a:r>
              <a:rPr sz="915" b="1">
                <a:solidFill>
                  <a:srgbClr val="4A3AFF"/>
                </a:solidFill>
                <a:latin typeface="Segoe UI"/>
              </a:rPr>
              <a:t>EXPANSION PATH</a:t>
            </a:r>
          </a:p>
        </p:txBody>
      </p:sp>
      <p:sp>
        <p:nvSpPr>
          <p:cNvPr id="21" name="TextBox 20"/>
          <p:cNvSpPr txBox="1"/>
          <p:nvPr/>
        </p:nvSpPr>
        <p:spPr>
          <a:xfrm>
            <a:off x="566928" y="5498083"/>
            <a:ext cx="11057839" cy="538581"/>
          </a:xfrm>
          <a:prstGeom prst="rect">
            <a:avLst/>
          </a:prstGeom>
          <a:noFill/>
        </p:spPr>
        <p:txBody>
          <a:bodyPr wrap="square" lIns="0" rIns="0" tIns="0" bIns="0">
            <a:spAutoFit/>
          </a:bodyPr>
          <a:lstStyle/>
          <a:p>
            <a:r>
              <a:rPr sz="1188" b="0" i="0">
                <a:solidFill>
                  <a:srgbClr val="5A6072"/>
                </a:solidFill>
                <a:latin typeface="Segoe UI"/>
              </a:rPr>
              <a:t>Co-ops and microschools as buying groups → broader subject coverage → domain experts publishing their own schools → institutional.</a:t>
            </a:r>
          </a:p>
        </p:txBody>
      </p:sp>
      <p:sp>
        <p:nvSpPr>
          <p:cNvPr id="22" name="TextBox 21"/>
          <p:cNvSpPr txBox="1"/>
          <p:nvPr/>
        </p:nvSpPr>
        <p:spPr>
          <a:xfrm>
            <a:off x="566928" y="6036665"/>
            <a:ext cx="11057839" cy="342442"/>
          </a:xfrm>
          <a:prstGeom prst="rect">
            <a:avLst/>
          </a:prstGeom>
          <a:noFill/>
        </p:spPr>
        <p:txBody>
          <a:bodyPr wrap="square" lIns="0" rIns="0" tIns="0" bIns="0">
            <a:spAutoFit/>
          </a:bodyPr>
          <a:lstStyle/>
          <a:p>
            <a:r>
              <a:rPr sz="1188" b="1" i="0">
                <a:solidFill>
                  <a:srgbClr val="15192B"/>
                </a:solidFill>
                <a:latin typeface="Segoe UI"/>
              </a:rPr>
              <a:t>Pricing motion:</a:t>
            </a:r>
            <a:r>
              <a:rPr sz="1188" b="0" i="0">
                <a:solidFill>
                  <a:srgbClr val="5A6072"/>
                </a:solidFill>
                <a:latin typeface="Segoe UI"/>
              </a:rPr>
              <a:t> B2C subscription, direct. </a:t>
            </a:r>
            <a:r>
              <a:rPr sz="1188" b="0" i="1">
                <a:solidFill>
                  <a:srgbClr val="5A6072"/>
                </a:solidFill>
                <a:latin typeface="Segoe UI"/>
              </a:rPr>
              <a:t>(Full segment inventory and the alternatives considered: Appendix A9.)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10   </a:t>
            </a:r>
            <a:r>
              <a:rPr sz="2500" b="1">
                <a:solidFill>
                  <a:srgbClr val="15192B"/>
                </a:solidFill>
                <a:latin typeface="Segoe UI"/>
              </a:rPr>
              <a:t>Traction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Built, not planned — 64 courses already generated, solo.</a:t>
            </a:r>
          </a:p>
        </p:txBody>
      </p:sp>
      <p:graphicFrame>
        <p:nvGraphicFramePr>
          <p:cNvPr id="5" name="Table 4"/>
          <p:cNvGraphicFramePr>
            <a:graphicFrameLocks noGrp="1"/>
          </p:cNvGraphicFramePr>
          <p:nvPr/>
        </p:nvGraphicFramePr>
        <p:xfrm>
          <a:off x="566928" y="1711452"/>
          <a:ext cx="11057839" cy="2327148"/>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
                      </a:r>
                    </a:p>
                  </a:txBody>
                  <a:tcPr marL="82296" marR="64008" marT="32004" marB="32004" anchor="ctr">
                    <a:solidFill>
                      <a:srgbClr val="F4F5F9"/>
                    </a:solidFill>
                  </a:tcPr>
                </a:tc>
                <a:tc>
                  <a:txBody>
                    <a:bodyPr wrap="square"/>
                    <a:lstStyle/>
                    <a:p>
                      <a:r>
                        <a:rPr sz="1100" b="1">
                          <a:solidFill>
                            <a:srgbClr val="15192B"/>
                          </a:solidFill>
                          <a:latin typeface="Segoe UI"/>
                        </a:rPr>
                        <a:t/>
                      </a:r>
                    </a:p>
                  </a:txBody>
                  <a:tcPr marL="82296" marR="64008" marT="32004" marB="32004" anchor="ctr">
                    <a:solidFill>
                      <a:srgbClr val="F4F5F9"/>
                    </a:solidFill>
                  </a:tcPr>
                </a:tc>
              </a:tr>
              <a:tr h="288036">
                <a:tc>
                  <a:txBody>
                    <a:bodyPr wrap="square"/>
                    <a:lstStyle/>
                    <a:p>
                      <a:r>
                        <a:rPr sz="1100" b="0" i="0">
                          <a:solidFill>
                            <a:srgbClr val="5A6072"/>
                          </a:solidFill>
                          <a:latin typeface="Segoe UI"/>
                        </a:rPr>
                        <a:t>Courses generated</a:t>
                      </a:r>
                    </a:p>
                  </a:txBody>
                  <a:tcPr marL="82296" marR="64008" marT="32004" marB="32004" anchor="ctr">
                    <a:solidFill>
                      <a:srgbClr val="FFFFFF"/>
                    </a:solidFill>
                  </a:tcPr>
                </a:tc>
                <a:tc>
                  <a:txBody>
                    <a:bodyPr wrap="square"/>
                    <a:lstStyle/>
                    <a:p>
                      <a:r>
                        <a:rPr sz="1100" b="1" i="0">
                          <a:solidFill>
                            <a:srgbClr val="15192B"/>
                          </a:solidFill>
                          <a:latin typeface="Segoe UI"/>
                        </a:rPr>
                        <a:t>64</a:t>
                      </a:r>
                    </a:p>
                  </a:txBody>
                  <a:tcPr marL="82296" marR="64008" marT="32004" marB="32004" anchor="ctr">
                    <a:solidFill>
                      <a:srgbClr val="FFFFFF"/>
                    </a:solidFill>
                  </a:tcPr>
                </a:tc>
              </a:tr>
              <a:tr h="288036">
                <a:tc>
                  <a:txBody>
                    <a:bodyPr wrap="square"/>
                    <a:lstStyle/>
                    <a:p>
                      <a:r>
                        <a:rPr sz="1100" b="0" i="0">
                          <a:solidFill>
                            <a:srgbClr val="5A6072"/>
                          </a:solidFill>
                          <a:latin typeface="Segoe UI"/>
                        </a:rPr>
                        <a:t>Concepts</a:t>
                      </a:r>
                    </a:p>
                  </a:txBody>
                  <a:tcPr marL="82296" marR="64008" marT="32004" marB="32004" anchor="ctr">
                    <a:solidFill>
                      <a:srgbClr val="FFFFFF"/>
                    </a:solidFill>
                  </a:tcPr>
                </a:tc>
                <a:tc>
                  <a:txBody>
                    <a:bodyPr wrap="square"/>
                    <a:lstStyle/>
                    <a:p>
                      <a:r>
                        <a:rPr sz="1100" b="1" i="0">
                          <a:solidFill>
                            <a:srgbClr val="15192B"/>
                          </a:solidFill>
                          <a:latin typeface="Segoe UI"/>
                        </a:rPr>
                        <a:t>2,202</a:t>
                      </a:r>
                    </a:p>
                  </a:txBody>
                  <a:tcPr marL="82296" marR="64008" marT="32004" marB="32004" anchor="ctr">
                    <a:solidFill>
                      <a:srgbClr val="FFFFFF"/>
                    </a:solidFill>
                  </a:tcPr>
                </a:tc>
              </a:tr>
              <a:tr h="288036">
                <a:tc>
                  <a:txBody>
                    <a:bodyPr wrap="square"/>
                    <a:lstStyle/>
                    <a:p>
                      <a:r>
                        <a:rPr sz="1100" b="0" i="0">
                          <a:solidFill>
                            <a:srgbClr val="5A6072"/>
                          </a:solidFill>
                          <a:latin typeface="Segoe UI"/>
                        </a:rPr>
                        <a:t>Assessment questions</a:t>
                      </a:r>
                    </a:p>
                  </a:txBody>
                  <a:tcPr marL="82296" marR="64008" marT="32004" marB="32004" anchor="ctr">
                    <a:solidFill>
                      <a:srgbClr val="FFFFFF"/>
                    </a:solidFill>
                  </a:tcPr>
                </a:tc>
                <a:tc>
                  <a:txBody>
                    <a:bodyPr wrap="square"/>
                    <a:lstStyle/>
                    <a:p>
                      <a:r>
                        <a:rPr sz="1100" b="1" i="0">
                          <a:solidFill>
                            <a:srgbClr val="15192B"/>
                          </a:solidFill>
                          <a:latin typeface="Segoe UI"/>
                        </a:rPr>
                        <a:t>6,844</a:t>
                      </a:r>
                    </a:p>
                  </a:txBody>
                  <a:tcPr marL="82296" marR="64008" marT="32004" marB="32004" anchor="ctr">
                    <a:solidFill>
                      <a:srgbClr val="FFFFFF"/>
                    </a:solidFill>
                  </a:tcPr>
                </a:tc>
              </a:tr>
              <a:tr h="288036">
                <a:tc>
                  <a:txBody>
                    <a:bodyPr wrap="square"/>
                    <a:lstStyle/>
                    <a:p>
                      <a:r>
                        <a:rPr sz="1100" b="0" i="0">
                          <a:solidFill>
                            <a:srgbClr val="5A6072"/>
                          </a:solidFill>
                          <a:latin typeface="Segoe UI"/>
                        </a:rPr>
                        <a:t>Prerequisite edges</a:t>
                      </a:r>
                    </a:p>
                  </a:txBody>
                  <a:tcPr marL="82296" marR="64008" marT="32004" marB="32004" anchor="ctr">
                    <a:solidFill>
                      <a:srgbClr val="FFFFFF"/>
                    </a:solidFill>
                  </a:tcPr>
                </a:tc>
                <a:tc>
                  <a:txBody>
                    <a:bodyPr wrap="square"/>
                    <a:lstStyle/>
                    <a:p>
                      <a:r>
                        <a:rPr sz="1100" b="1" i="0">
                          <a:solidFill>
                            <a:srgbClr val="15192B"/>
                          </a:solidFill>
                          <a:latin typeface="Segoe UI"/>
                        </a:rPr>
                        <a:t>9,420</a:t>
                      </a:r>
                    </a:p>
                  </a:txBody>
                  <a:tcPr marL="82296" marR="64008" marT="32004" marB="32004" anchor="ctr">
                    <a:solidFill>
                      <a:srgbClr val="FFFFFF"/>
                    </a:solidFill>
                  </a:tcPr>
                </a:tc>
              </a:tr>
              <a:tr h="288036">
                <a:tc>
                  <a:txBody>
                    <a:bodyPr wrap="square"/>
                    <a:lstStyle/>
                    <a:p>
                      <a:r>
                        <a:rPr sz="1100" b="0" i="0">
                          <a:solidFill>
                            <a:srgbClr val="5A6072"/>
                          </a:solidFill>
                          <a:latin typeface="Segoe UI"/>
                        </a:rPr>
                        <a:t>Typed concept relationships</a:t>
                      </a:r>
                    </a:p>
                  </a:txBody>
                  <a:tcPr marL="82296" marR="64008" marT="32004" marB="32004" anchor="ctr">
                    <a:solidFill>
                      <a:srgbClr val="FFFFFF"/>
                    </a:solidFill>
                  </a:tcPr>
                </a:tc>
                <a:tc>
                  <a:txBody>
                    <a:bodyPr wrap="square"/>
                    <a:lstStyle/>
                    <a:p>
                      <a:r>
                        <a:rPr sz="1100" b="1" i="0">
                          <a:solidFill>
                            <a:srgbClr val="15192B"/>
                          </a:solidFill>
                          <a:latin typeface="Segoe UI"/>
                        </a:rPr>
                        <a:t>14,580</a:t>
                      </a:r>
                    </a:p>
                  </a:txBody>
                  <a:tcPr marL="82296" marR="64008" marT="32004" marB="32004" anchor="ctr">
                    <a:solidFill>
                      <a:srgbClr val="FFFFFF"/>
                    </a:solidFill>
                  </a:tcPr>
                </a:tc>
              </a:tr>
              <a:tr h="288036">
                <a:tc>
                  <a:txBody>
                    <a:bodyPr wrap="square"/>
                    <a:lstStyle/>
                    <a:p>
                      <a:r>
                        <a:rPr sz="1100" b="0" i="0">
                          <a:solidFill>
                            <a:srgbClr val="5A6072"/>
                          </a:solidFill>
                          <a:latin typeface="Segoe UI"/>
                        </a:rPr>
                        <a:t>Generated instruction</a:t>
                      </a:r>
                    </a:p>
                  </a:txBody>
                  <a:tcPr marL="82296" marR="64008" marT="32004" marB="32004" anchor="ctr">
                    <a:solidFill>
                      <a:srgbClr val="FFFFFF"/>
                    </a:solidFill>
                  </a:tcPr>
                </a:tc>
                <a:tc>
                  <a:txBody>
                    <a:bodyPr wrap="square"/>
                    <a:lstStyle/>
                    <a:p>
                      <a:r>
                        <a:rPr sz="1100" b="1" i="0">
                          <a:solidFill>
                            <a:srgbClr val="15192B"/>
                          </a:solidFill>
                          <a:latin typeface="Segoe UI"/>
                        </a:rPr>
                        <a:t>~4.1M tokens</a:t>
                      </a:r>
                    </a:p>
                  </a:txBody>
                  <a:tcPr marL="82296" marR="64008" marT="32004" marB="32004" anchor="ctr">
                    <a:solidFill>
                      <a:srgbClr val="FFFFFF"/>
                    </a:solidFill>
                  </a:tcPr>
                </a:tc>
              </a:tr>
              <a:tr h="288036">
                <a:tc>
                  <a:txBody>
                    <a:bodyPr wrap="square"/>
                    <a:lstStyle/>
                    <a:p>
                      <a:r>
                        <a:rPr sz="1100" b="0" i="0">
                          <a:solidFill>
                            <a:srgbClr val="5A6072"/>
                          </a:solidFill>
                          <a:latin typeface="Segoe UI"/>
                        </a:rPr>
                        <a:t>Branded schools</a:t>
                      </a:r>
                    </a:p>
                  </a:txBody>
                  <a:tcPr marL="82296" marR="64008" marT="32004" marB="32004" anchor="ctr">
                    <a:solidFill>
                      <a:srgbClr val="FFFFFF"/>
                    </a:solidFill>
                  </a:tcPr>
                </a:tc>
                <a:tc>
                  <a:txBody>
                    <a:bodyPr wrap="square"/>
                    <a:lstStyle/>
                    <a:p>
                      <a:r>
                        <a:rPr sz="1100" b="1" i="0">
                          <a:solidFill>
                            <a:srgbClr val="15192B"/>
                          </a:solidFill>
                          <a:latin typeface="Segoe UI"/>
                        </a:rPr>
                        <a:t>6</a:t>
                      </a:r>
                    </a:p>
                  </a:txBody>
                  <a:tcPr marL="82296" marR="64008" marT="32004" marB="32004" anchor="ctr">
                    <a:solidFill>
                      <a:srgbClr val="FFFFFF"/>
                    </a:solidFill>
                  </a:tcPr>
                </a:tc>
              </a:tr>
            </a:tbl>
          </a:graphicData>
        </a:graphic>
      </p:graphicFrame>
      <p:sp>
        <p:nvSpPr>
          <p:cNvPr id="6" name="Oval 5"/>
          <p:cNvSpPr/>
          <p:nvPr/>
        </p:nvSpPr>
        <p:spPr>
          <a:xfrm>
            <a:off x="585216" y="430034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221480"/>
            <a:ext cx="10820095" cy="323469"/>
          </a:xfrm>
          <a:prstGeom prst="rect">
            <a:avLst/>
          </a:prstGeom>
          <a:noFill/>
        </p:spPr>
        <p:txBody>
          <a:bodyPr wrap="square" lIns="0" rIns="0" tIns="0" bIns="0">
            <a:spAutoFit/>
          </a:bodyPr>
          <a:lstStyle/>
          <a:p>
            <a:r>
              <a:rPr sz="1350" b="1" i="0">
                <a:solidFill>
                  <a:srgbClr val="15192B"/>
                </a:solidFill>
                <a:latin typeface="Segoe UI"/>
              </a:rPr>
              <a:t>~$5 and ~15 minutes</a:t>
            </a:r>
            <a:r>
              <a:rPr sz="1350" b="0" i="0">
                <a:solidFill>
                  <a:srgbClr val="5A6072"/>
                </a:solidFill>
                <a:latin typeface="Segoe UI"/>
              </a:rPr>
              <a:t> per course — the efficiency metric that matters</a:t>
            </a:r>
          </a:p>
        </p:txBody>
      </p:sp>
      <p:sp>
        <p:nvSpPr>
          <p:cNvPr id="8" name="Oval 7"/>
          <p:cNvSpPr/>
          <p:nvPr/>
        </p:nvSpPr>
        <p:spPr>
          <a:xfrm>
            <a:off x="585216" y="462381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544949"/>
            <a:ext cx="10820095" cy="323469"/>
          </a:xfrm>
          <a:prstGeom prst="rect">
            <a:avLst/>
          </a:prstGeom>
          <a:noFill/>
        </p:spPr>
        <p:txBody>
          <a:bodyPr wrap="square" lIns="0" rIns="0" tIns="0" bIns="0">
            <a:spAutoFit/>
          </a:bodyPr>
          <a:lstStyle/>
          <a:p>
            <a:r>
              <a:rPr sz="1350" b="0" i="0">
                <a:solidFill>
                  <a:srgbClr val="C2410C"/>
                </a:solidFill>
                <a:latin typeface="Segoe UI"/>
              </a:rPr>
              <a:t>⚠️ TODO: institutional conversations, pilots, or LOIs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11   </a:t>
            </a:r>
            <a:r>
              <a:rPr sz="2500" b="1">
                <a:solidFill>
                  <a:srgbClr val="15192B"/>
                </a:solidFill>
                <a:latin typeface="Segoe UI"/>
              </a:rPr>
              <a:t>Use of Funds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what this round buys, and the milestone it reaches.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0" i="0">
                <a:solidFill>
                  <a:srgbClr val="C2410C"/>
                </a:solidFill>
                <a:latin typeface="Segoe UI"/>
              </a:rPr>
              <a:t>⚠️ TODO: allocation across engineering / content / GTM / runway</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0" i="0">
                <a:solidFill>
                  <a:srgbClr val="C2410C"/>
                </a:solidFill>
                <a:latin typeface="Segoe UI"/>
              </a:rPr>
              <a:t>⚠️ TODO: months of runway</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323469"/>
          </a:xfrm>
          <a:prstGeom prst="rect">
            <a:avLst/>
          </a:prstGeom>
          <a:noFill/>
        </p:spPr>
        <p:txBody>
          <a:bodyPr wrap="square" lIns="0" rIns="0" tIns="0" bIns="0">
            <a:spAutoFit/>
          </a:bodyPr>
          <a:lstStyle/>
          <a:p>
            <a:r>
              <a:rPr sz="1350" b="0" i="0">
                <a:solidFill>
                  <a:srgbClr val="C2410C"/>
                </a:solidFill>
                <a:latin typeface="Segoe UI"/>
              </a:rPr>
              <a:t>⚠️ TODO: the specific milestone that makes the </a:t>
            </a:r>
            <a:r>
              <a:rPr sz="1350" b="0" i="1">
                <a:solidFill>
                  <a:srgbClr val="C2410C"/>
                </a:solidFill>
                <a:latin typeface="Segoe UI"/>
              </a:rPr>
              <a:t>next</a:t>
            </a:r>
            <a:r>
              <a:rPr sz="1350" b="0" i="0">
                <a:solidFill>
                  <a:srgbClr val="C2410C"/>
                </a:solidFill>
                <a:latin typeface="Segoe UI"/>
              </a:rPr>
              <a:t> round (or profitability) achievable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12   </a:t>
            </a:r>
            <a:r>
              <a:rPr sz="2500" b="1">
                <a:solidFill>
                  <a:srgbClr val="15192B"/>
                </a:solidFill>
                <a:latin typeface="Segoe UI"/>
              </a:rPr>
              <a:t>The Ask</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 raising on a ⚠️ TODO.</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1" i="0">
                <a:solidFill>
                  <a:srgbClr val="C2410C"/>
                </a:solidFill>
                <a:latin typeface="Segoe UI"/>
              </a:rPr>
              <a:t>Raising:</a:t>
            </a:r>
            <a:r>
              <a:rPr sz="1350" b="0" i="0">
                <a:solidFill>
                  <a:srgbClr val="C2410C"/>
                </a:solidFill>
                <a:latin typeface="Segoe UI"/>
              </a:rPr>
              <a:t> ⚠️ TODO amount</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1" i="0">
                <a:solidFill>
                  <a:srgbClr val="C2410C"/>
                </a:solidFill>
                <a:latin typeface="Segoe UI"/>
              </a:rPr>
              <a:t>Instrument:</a:t>
            </a:r>
            <a:r>
              <a:rPr sz="1350" b="0" i="0">
                <a:solidFill>
                  <a:srgbClr val="C2410C"/>
                </a:solidFill>
                <a:latin typeface="Segoe UI"/>
              </a:rPr>
              <a:t> ⚠️ TODO — SAFE (post-money cap) / convertible note / priced round</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323469"/>
          </a:xfrm>
          <a:prstGeom prst="rect">
            <a:avLst/>
          </a:prstGeom>
          <a:noFill/>
        </p:spPr>
        <p:txBody>
          <a:bodyPr wrap="square" lIns="0" rIns="0" tIns="0" bIns="0">
            <a:spAutoFit/>
          </a:bodyPr>
          <a:lstStyle/>
          <a:p>
            <a:r>
              <a:rPr sz="1350" b="1" i="0">
                <a:solidFill>
                  <a:srgbClr val="C2410C"/>
                </a:solidFill>
                <a:latin typeface="Segoe UI"/>
              </a:rPr>
              <a:t>Valuation cap:</a:t>
            </a:r>
            <a:r>
              <a:rPr sz="1350" b="0" i="0">
                <a:solidFill>
                  <a:srgbClr val="C2410C"/>
                </a:solidFill>
                <a:latin typeface="Segoe UI"/>
              </a:rPr>
              <a:t> ⚠️ TODO</a:t>
            </a:r>
          </a:p>
        </p:txBody>
      </p:sp>
      <p:sp>
        <p:nvSpPr>
          <p:cNvPr id="11" name="Oval 10"/>
          <p:cNvSpPr/>
          <p:nvPr/>
        </p:nvSpPr>
        <p:spPr>
          <a:xfrm>
            <a:off x="585216" y="27607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681858"/>
            <a:ext cx="10820095" cy="323469"/>
          </a:xfrm>
          <a:prstGeom prst="rect">
            <a:avLst/>
          </a:prstGeom>
          <a:noFill/>
        </p:spPr>
        <p:txBody>
          <a:bodyPr wrap="square" lIns="0" rIns="0" tIns="0" bIns="0">
            <a:spAutoFit/>
          </a:bodyPr>
          <a:lstStyle/>
          <a:p>
            <a:r>
              <a:rPr sz="1350" b="1" i="0">
                <a:solidFill>
                  <a:srgbClr val="C2410C"/>
                </a:solidFill>
                <a:latin typeface="Segoe UI"/>
              </a:rPr>
              <a:t>Minimum check:</a:t>
            </a:r>
            <a:r>
              <a:rPr sz="1350" b="0" i="0">
                <a:solidFill>
                  <a:srgbClr val="C2410C"/>
                </a:solidFill>
                <a:latin typeface="Segoe UI"/>
              </a:rPr>
              <a:t> ⚠️ TODO</a:t>
            </a:r>
          </a:p>
        </p:txBody>
      </p:sp>
      <p:sp>
        <p:nvSpPr>
          <p:cNvPr id="13" name="Oval 12"/>
          <p:cNvSpPr/>
          <p:nvPr/>
        </p:nvSpPr>
        <p:spPr>
          <a:xfrm>
            <a:off x="585216" y="308419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005327"/>
            <a:ext cx="10820095" cy="323469"/>
          </a:xfrm>
          <a:prstGeom prst="rect">
            <a:avLst/>
          </a:prstGeom>
          <a:noFill/>
        </p:spPr>
        <p:txBody>
          <a:bodyPr wrap="square" lIns="0" rIns="0" tIns="0" bIns="0">
            <a:spAutoFit/>
          </a:bodyPr>
          <a:lstStyle/>
          <a:p>
            <a:r>
              <a:rPr sz="1350" b="1" i="0">
                <a:solidFill>
                  <a:srgbClr val="C2410C"/>
                </a:solidFill>
                <a:latin typeface="Segoe UI"/>
              </a:rPr>
              <a:t>Committed to date:</a:t>
            </a:r>
            <a:r>
              <a:rPr sz="1350" b="0" i="0">
                <a:solidFill>
                  <a:srgbClr val="C2410C"/>
                </a:solidFill>
                <a:latin typeface="Segoe UI"/>
              </a:rPr>
              <a:t> ⚠️ TODO — including any founder capital</a:t>
            </a:r>
          </a:p>
        </p:txBody>
      </p:sp>
      <p:sp>
        <p:nvSpPr>
          <p:cNvPr id="15" name="Oval 14"/>
          <p:cNvSpPr/>
          <p:nvPr/>
        </p:nvSpPr>
        <p:spPr>
          <a:xfrm>
            <a:off x="585216" y="34076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328796"/>
            <a:ext cx="10820095" cy="323469"/>
          </a:xfrm>
          <a:prstGeom prst="rect">
            <a:avLst/>
          </a:prstGeom>
          <a:noFill/>
        </p:spPr>
        <p:txBody>
          <a:bodyPr wrap="square" lIns="0" rIns="0" tIns="0" bIns="0">
            <a:spAutoFit/>
          </a:bodyPr>
          <a:lstStyle/>
          <a:p>
            <a:r>
              <a:rPr sz="1350" b="1" i="0">
                <a:solidFill>
                  <a:srgbClr val="C2410C"/>
                </a:solidFill>
                <a:latin typeface="Segoe UI"/>
              </a:rPr>
              <a:t>Target close:</a:t>
            </a:r>
            <a:r>
              <a:rPr sz="1350" b="0" i="0">
                <a:solidFill>
                  <a:srgbClr val="C2410C"/>
                </a:solidFill>
                <a:latin typeface="Segoe UI"/>
              </a:rPr>
              <a:t> ⚠️ TODO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13   </a:t>
            </a:r>
            <a:r>
              <a:rPr sz="2500" b="1">
                <a:solidFill>
                  <a:srgbClr val="15192B"/>
                </a:solidFill>
                <a:latin typeface="Segoe UI"/>
              </a:rPr>
              <a:t>How This Returns Capital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the realistic exit paths.</a:t>
            </a:r>
          </a:p>
        </p:txBody>
      </p:sp>
      <p:sp>
        <p:nvSpPr>
          <p:cNvPr id="5" name="TextBox 4"/>
          <p:cNvSpPr txBox="1"/>
          <p:nvPr/>
        </p:nvSpPr>
        <p:spPr>
          <a:xfrm>
            <a:off x="566928" y="1711452"/>
            <a:ext cx="11057839" cy="369189"/>
          </a:xfrm>
          <a:prstGeom prst="rect">
            <a:avLst/>
          </a:prstGeom>
          <a:noFill/>
        </p:spPr>
        <p:txBody>
          <a:bodyPr wrap="square" lIns="0" rIns="0" tIns="0" bIns="0">
            <a:spAutoFit/>
          </a:bodyPr>
          <a:lstStyle/>
          <a:p>
            <a:r>
              <a:rPr sz="1350" b="1" i="0">
                <a:solidFill>
                  <a:srgbClr val="15192B"/>
                </a:solidFill>
                <a:latin typeface="Segoe UI"/>
              </a:rPr>
              <a:t>Likely acquirer categories:</a:t>
            </a:r>
          </a:p>
        </p:txBody>
      </p:sp>
      <p:sp>
        <p:nvSpPr>
          <p:cNvPr id="6" name="Oval 5"/>
          <p:cNvSpPr/>
          <p:nvPr/>
        </p:nvSpPr>
        <p:spPr>
          <a:xfrm>
            <a:off x="585216" y="21595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80641"/>
            <a:ext cx="10820095" cy="992124"/>
          </a:xfrm>
          <a:prstGeom prst="rect">
            <a:avLst/>
          </a:prstGeom>
          <a:noFill/>
        </p:spPr>
        <p:txBody>
          <a:bodyPr wrap="square" lIns="0" rIns="0" tIns="0" bIns="0">
            <a:spAutoFit/>
          </a:bodyPr>
          <a:lstStyle/>
          <a:p>
            <a:r>
              <a:rPr sz="1350" b="1" i="0">
                <a:solidFill>
                  <a:srgbClr val="15192B"/>
                </a:solidFill>
                <a:latin typeface="Segoe UI"/>
              </a:rPr>
              <a:t>Frontier model providers</a:t>
            </a:r>
            <a:r>
              <a:rPr sz="1350" b="0" i="0">
                <a:solidFill>
                  <a:srgbClr val="5A6072"/>
                </a:solidFill>
                <a:latin typeface="Segoe UI"/>
              </a:rPr>
              <a:t> — Anthropic, OpenAI, Google DeepMind. Each already has an education initiative and each hits the same wall: a fluent tutor with no curriculum. </a:t>
            </a:r>
            <a:r>
              <a:rPr sz="1350" b="1" i="0">
                <a:solidFill>
                  <a:srgbClr val="15192B"/>
                </a:solidFill>
                <a:latin typeface="Segoe UI"/>
              </a:rPr>
              <a:t>They also own the input cost — what we pay $5 for, they produce for a fraction of it.</a:t>
            </a:r>
            <a:r>
              <a:rPr sz="1350" b="0" i="0">
                <a:solidFill>
                  <a:srgbClr val="5A6072"/>
                </a:solidFill>
                <a:latin typeface="Segoe UI"/>
              </a:rPr>
              <a:t> The unit economics that make this viable for us are extraordinary for them</a:t>
            </a:r>
          </a:p>
        </p:txBody>
      </p:sp>
      <p:sp>
        <p:nvSpPr>
          <p:cNvPr id="8" name="Oval 7"/>
          <p:cNvSpPr/>
          <p:nvPr/>
        </p:nvSpPr>
        <p:spPr>
          <a:xfrm>
            <a:off x="585216" y="315163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072765"/>
            <a:ext cx="10820095" cy="546354"/>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 Pearson, McGraw Hill, Cengage: they own content and are structurally threatened by generated content</a:t>
            </a:r>
          </a:p>
        </p:txBody>
      </p:sp>
      <p:sp>
        <p:nvSpPr>
          <p:cNvPr id="10" name="Oval 9"/>
          <p:cNvSpPr/>
          <p:nvPr/>
        </p:nvSpPr>
        <p:spPr>
          <a:xfrm>
            <a:off x="585216" y="369798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619119"/>
            <a:ext cx="10820095" cy="323469"/>
          </a:xfrm>
          <a:prstGeom prst="rect">
            <a:avLst/>
          </a:prstGeom>
          <a:noFill/>
        </p:spPr>
        <p:txBody>
          <a:bodyPr wrap="square" lIns="0" rIns="0" tIns="0" bIns="0">
            <a:spAutoFit/>
          </a:bodyPr>
          <a:lstStyle/>
          <a:p>
            <a:r>
              <a:rPr sz="1350" b="1" i="0">
                <a:solidFill>
                  <a:srgbClr val="15192B"/>
                </a:solidFill>
                <a:latin typeface="Segoe UI"/>
              </a:rPr>
              <a:t>Learning platforms</a:t>
            </a:r>
            <a:r>
              <a:rPr sz="1350" b="0" i="0">
                <a:solidFill>
                  <a:srgbClr val="5A6072"/>
                </a:solidFill>
                <a:latin typeface="Segoe UI"/>
              </a:rPr>
              <a:t> — Coursera, Udemy, Chegg, Duolingo</a:t>
            </a:r>
          </a:p>
        </p:txBody>
      </p:sp>
      <p:sp>
        <p:nvSpPr>
          <p:cNvPr id="12" name="Oval 11"/>
          <p:cNvSpPr/>
          <p:nvPr/>
        </p:nvSpPr>
        <p:spPr>
          <a:xfrm>
            <a:off x="585216" y="402145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942588"/>
            <a:ext cx="10820095" cy="323469"/>
          </a:xfrm>
          <a:prstGeom prst="rect">
            <a:avLst/>
          </a:prstGeom>
          <a:noFill/>
        </p:spPr>
        <p:txBody>
          <a:bodyPr wrap="square" lIns="0" rIns="0" tIns="0" bIns="0">
            <a:spAutoFit/>
          </a:bodyPr>
          <a:lstStyle/>
          <a:p>
            <a:r>
              <a:rPr sz="1350" b="1" i="0">
                <a:solidFill>
                  <a:srgbClr val="15192B"/>
                </a:solidFill>
                <a:latin typeface="Segoe UI"/>
              </a:rPr>
              <a:t>LMS incumbents</a:t>
            </a:r>
            <a:r>
              <a:rPr sz="1350" b="0" i="0">
                <a:solidFill>
                  <a:srgbClr val="5A6072"/>
                </a:solidFill>
                <a:latin typeface="Segoe UI"/>
              </a:rPr>
              <a:t> — Instructure/Canvas, Anthology/Blackboard</a:t>
            </a:r>
          </a:p>
        </p:txBody>
      </p:sp>
      <p:sp>
        <p:nvSpPr>
          <p:cNvPr id="14" name="Oval 13"/>
          <p:cNvSpPr/>
          <p:nvPr/>
        </p:nvSpPr>
        <p:spPr>
          <a:xfrm>
            <a:off x="585216" y="43449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266057"/>
            <a:ext cx="10820095" cy="323469"/>
          </a:xfrm>
          <a:prstGeom prst="rect">
            <a:avLst/>
          </a:prstGeom>
          <a:noFill/>
        </p:spPr>
        <p:txBody>
          <a:bodyPr wrap="square" lIns="0" rIns="0" tIns="0" bIns="0">
            <a:spAutoFit/>
          </a:bodyPr>
          <a:lstStyle/>
          <a:p>
            <a:r>
              <a:rPr sz="1350" b="1" i="0">
                <a:solidFill>
                  <a:srgbClr val="15192B"/>
                </a:solidFill>
                <a:latin typeface="Segoe UI"/>
              </a:rPr>
              <a:t>Enterprise learning</a:t>
            </a:r>
            <a:r>
              <a:rPr sz="1350" b="0" i="0">
                <a:solidFill>
                  <a:srgbClr val="5A6072"/>
                </a:solidFill>
                <a:latin typeface="Segoe UI"/>
              </a:rPr>
              <a:t> — LinkedIn Learning, Docebo, Cornerstone</a:t>
            </a:r>
          </a:p>
        </p:txBody>
      </p:sp>
      <p:sp>
        <p:nvSpPr>
          <p:cNvPr id="16" name="Oval 15"/>
          <p:cNvSpPr/>
          <p:nvPr/>
        </p:nvSpPr>
        <p:spPr>
          <a:xfrm>
            <a:off x="585216" y="46683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89525"/>
            <a:ext cx="10820095" cy="323469"/>
          </a:xfrm>
          <a:prstGeom prst="rect">
            <a:avLst/>
          </a:prstGeom>
          <a:noFill/>
        </p:spPr>
        <p:txBody>
          <a:bodyPr wrap="square" lIns="0" rIns="0" tIns="0" bIns="0">
            <a:spAutoFit/>
          </a:bodyPr>
          <a:lstStyle/>
          <a:p>
            <a:r>
              <a:rPr sz="1350" b="1" i="0">
                <a:solidFill>
                  <a:srgbClr val="15192B"/>
                </a:solidFill>
                <a:latin typeface="Segoe UI"/>
              </a:rPr>
              <a:t>Big tech platform arms</a:t>
            </a:r>
            <a:r>
              <a:rPr sz="1350" b="0" i="0">
                <a:solidFill>
                  <a:srgbClr val="5A6072"/>
                </a:solidFill>
                <a:latin typeface="Segoe UI"/>
              </a:rPr>
              <a:t> — Microsoft, Google (Classroom / Workspace for Education)</a:t>
            </a:r>
          </a:p>
        </p:txBody>
      </p:sp>
      <p:sp>
        <p:nvSpPr>
          <p:cNvPr id="18" name="Oval 17"/>
          <p:cNvSpPr/>
          <p:nvPr/>
        </p:nvSpPr>
        <p:spPr>
          <a:xfrm>
            <a:off x="585216" y="49918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912994"/>
            <a:ext cx="10820095" cy="323469"/>
          </a:xfrm>
          <a:prstGeom prst="rect">
            <a:avLst/>
          </a:prstGeom>
          <a:noFill/>
        </p:spPr>
        <p:txBody>
          <a:bodyPr wrap="square" lIns="0" rIns="0" tIns="0" bIns="0">
            <a:spAutoFit/>
          </a:bodyPr>
          <a:lstStyle/>
          <a:p>
            <a:r>
              <a:rPr sz="1350" b="0" i="0">
                <a:solidFill>
                  <a:srgbClr val="C2410C"/>
                </a:solidFill>
                <a:latin typeface="Segoe UI"/>
              </a:rPr>
              <a:t>⚠️ TODO: comparable transactions and multiples in this space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788920"/>
            <a:ext cx="9960559" cy="1463040"/>
          </a:xfrm>
          <a:prstGeom prst="rect">
            <a:avLst/>
          </a:prstGeom>
          <a:noFill/>
        </p:spPr>
        <p:txBody>
          <a:bodyPr wrap="square" lIns="0" rIns="0" tIns="0" bIns="0">
            <a:spAutoFit/>
          </a:bodyPr>
          <a:lstStyle/>
          <a:p>
            <a:r>
              <a:rPr sz="4400" b="1">
                <a:solidFill>
                  <a:srgbClr val="FFFFFF"/>
                </a:solidFill>
                <a:latin typeface="Segoe UI"/>
              </a:rPr>
              <a:t>Appendix</a:t>
            </a:r>
          </a:p>
          <a:p>
            <a:pPr>
              <a:spcBef>
                <a:spcPts val="1000"/>
              </a:spcBef>
            </a:pPr>
            <a:r>
              <a:rPr sz="1700">
                <a:solidFill>
                  <a:srgbClr val="9AA1B8"/>
                </a:solidFill>
                <a:latin typeface="Segoe UI"/>
              </a:rPr>
              <a:t>sent after the meeting, not presented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 — Competition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5A6072"/>
                </a:solidFill>
                <a:latin typeface="Segoe UI"/>
              </a:rPr>
              <a:t>Suggested 2×2 axes: </a:t>
            </a:r>
            <a:r>
              <a:rPr sz="1350" b="1" i="0">
                <a:solidFill>
                  <a:srgbClr val="15192B"/>
                </a:solidFill>
                <a:latin typeface="Segoe UI"/>
              </a:rPr>
              <a:t>structured &amp; verified ↔ unstructured</a:t>
            </a:r>
            <a:r>
              <a:rPr sz="1350" b="0" i="0">
                <a:solidFill>
                  <a:srgbClr val="5A6072"/>
                </a:solidFill>
                <a:latin typeface="Segoe UI"/>
              </a:rPr>
              <a:t>, and </a:t>
            </a:r>
            <a:r>
              <a:rPr sz="1350" b="1" i="0">
                <a:solidFill>
                  <a:srgbClr val="15192B"/>
                </a:solidFill>
                <a:latin typeface="Segoe UI"/>
              </a:rPr>
              <a:t>content generated ↔ content licensed or hand-built</a:t>
            </a:r>
            <a:r>
              <a:rPr sz="1350" b="0" i="0">
                <a:solidFill>
                  <a:srgbClr val="5A6072"/>
                </a:solidFill>
                <a:latin typeface="Segoe UI"/>
              </a:rPr>
              <a:t>.</a:t>
            </a:r>
          </a:p>
        </p:txBody>
      </p:sp>
      <p:sp>
        <p:nvSpPr>
          <p:cNvPr id="5" name="Oval 4"/>
          <p:cNvSpPr/>
          <p:nvPr/>
        </p:nvSpPr>
        <p:spPr>
          <a:xfrm>
            <a:off x="585216" y="180479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25930"/>
            <a:ext cx="10820095" cy="323469"/>
          </a:xfrm>
          <a:prstGeom prst="rect">
            <a:avLst/>
          </a:prstGeom>
          <a:noFill/>
        </p:spPr>
        <p:txBody>
          <a:bodyPr wrap="square" lIns="0" rIns="0" tIns="0" bIns="0">
            <a:spAutoFit/>
          </a:bodyPr>
          <a:lstStyle/>
          <a:p>
            <a:r>
              <a:rPr sz="1350" b="1" i="0">
                <a:solidFill>
                  <a:srgbClr val="15192B"/>
                </a:solidFill>
                <a:latin typeface="Segoe UI"/>
              </a:rPr>
              <a:t>General AI assistants</a:t>
            </a:r>
            <a:r>
              <a:rPr sz="1350" b="0" i="0">
                <a:solidFill>
                  <a:srgbClr val="5A6072"/>
                </a:solidFill>
                <a:latin typeface="Segoe UI"/>
              </a:rPr>
              <a:t> (ChatGPT, Claude, Gemini) — fluent, unstructured, no mastery model, no curriculum</a:t>
            </a:r>
          </a:p>
        </p:txBody>
      </p:sp>
      <p:sp>
        <p:nvSpPr>
          <p:cNvPr id="7" name="Oval 6"/>
          <p:cNvSpPr/>
          <p:nvPr/>
        </p:nvSpPr>
        <p:spPr>
          <a:xfrm>
            <a:off x="585216" y="21282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49399"/>
            <a:ext cx="10820095" cy="546354"/>
          </a:xfrm>
          <a:prstGeom prst="rect">
            <a:avLst/>
          </a:prstGeom>
          <a:noFill/>
        </p:spPr>
        <p:txBody>
          <a:bodyPr wrap="square" lIns="0" rIns="0" tIns="0" bIns="0">
            <a:spAutoFit/>
          </a:bodyPr>
          <a:lstStyle/>
          <a:p>
            <a:r>
              <a:rPr sz="1350" b="1" i="0">
                <a:solidFill>
                  <a:srgbClr val="15192B"/>
                </a:solidFill>
                <a:latin typeface="Segoe UI"/>
              </a:rPr>
              <a:t>Incumbent EdTech / LMS</a:t>
            </a:r>
            <a:r>
              <a:rPr sz="1350" b="0" i="0">
                <a:solidFill>
                  <a:srgbClr val="5A6072"/>
                </a:solidFill>
                <a:latin typeface="Segoe UI"/>
              </a:rPr>
              <a:t> (Canvas, Blackboard, Coursera, Khan Academy) — delivery infrastructure over hand-built content</a:t>
            </a:r>
          </a:p>
        </p:txBody>
      </p:sp>
      <p:sp>
        <p:nvSpPr>
          <p:cNvPr id="9" name="Oval 8"/>
          <p:cNvSpPr/>
          <p:nvPr/>
        </p:nvSpPr>
        <p:spPr>
          <a:xfrm>
            <a:off x="585216" y="267462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95753"/>
            <a:ext cx="10820095" cy="323469"/>
          </a:xfrm>
          <a:prstGeom prst="rect">
            <a:avLst/>
          </a:prstGeom>
          <a:noFill/>
        </p:spPr>
        <p:txBody>
          <a:bodyPr wrap="square" lIns="0" rIns="0" tIns="0" bIns="0">
            <a:spAutoFit/>
          </a:bodyPr>
          <a:lstStyle/>
          <a:p>
            <a:r>
              <a:rPr sz="1350" b="1" i="0">
                <a:solidFill>
                  <a:srgbClr val="15192B"/>
                </a:solidFill>
                <a:latin typeface="Segoe UI"/>
              </a:rPr>
              <a:t>AI tutoring startups</a:t>
            </a:r>
            <a:r>
              <a:rPr sz="1350" b="0" i="0">
                <a:solidFill>
                  <a:srgbClr val="5A6072"/>
                </a:solidFill>
                <a:latin typeface="Segoe UI"/>
              </a:rPr>
              <a:t> — conversation layers over existing curricula</a:t>
            </a:r>
          </a:p>
        </p:txBody>
      </p:sp>
      <p:sp>
        <p:nvSpPr>
          <p:cNvPr id="11" name="Oval 10"/>
          <p:cNvSpPr/>
          <p:nvPr/>
        </p:nvSpPr>
        <p:spPr>
          <a:xfrm>
            <a:off x="585216" y="29980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19222"/>
            <a:ext cx="10820095" cy="323469"/>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(Pearson, McGraw Hill, Cengage) — own the content, but it's manually produced and static</a:t>
            </a:r>
          </a:p>
        </p:txBody>
      </p:sp>
      <p:sp>
        <p:nvSpPr>
          <p:cNvPr id="13" name="Rectangle 12"/>
          <p:cNvSpPr/>
          <p:nvPr/>
        </p:nvSpPr>
        <p:spPr>
          <a:xfrm>
            <a:off x="566928" y="3270122"/>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242690"/>
            <a:ext cx="10746943" cy="790194"/>
          </a:xfrm>
          <a:prstGeom prst="rect">
            <a:avLst/>
          </a:prstGeom>
          <a:noFill/>
        </p:spPr>
        <p:txBody>
          <a:bodyPr wrap="square" lIns="0" rIns="0" tIns="0" bIns="0">
            <a:spAutoFit/>
          </a:bodyPr>
          <a:lstStyle/>
          <a:p>
            <a:r>
              <a:rPr sz="1300" b="0" i="1">
                <a:solidFill>
                  <a:srgbClr val="C2410C"/>
                </a:solidFill>
                <a:latin typeface="Segoe UI"/>
              </a:rPr>
              <a:t>⚠️ TODO: Charles to confirm which competitors actually come up in his conversations. Moved out of the main deck for angels — the named-competitor grid is a VC-diligence artifact, and the differentiation argument is already carried by Slides 2, 3, and 6. Bring it back into the main deck if a specific investor asks.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A2 — Technical architecture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Generation pipeline stages: concept map → atomic documents → computed figures (sandboxed execution + independently derived assertions + repair loop) → assessments → typed concept edges → prerequisite edges → embeddings → graph population.</a:t>
            </a:r>
          </a:p>
        </p:txBody>
      </p:sp>
      <p:sp>
        <p:nvSpPr>
          <p:cNvPr id="5" name="TextBox 4"/>
          <p:cNvSpPr txBox="1"/>
          <p:nvPr/>
        </p:nvSpPr>
        <p:spPr>
          <a:xfrm>
            <a:off x="566928" y="1948815"/>
            <a:ext cx="11057839" cy="592074"/>
          </a:xfrm>
          <a:prstGeom prst="rect">
            <a:avLst/>
          </a:prstGeom>
          <a:noFill/>
        </p:spPr>
        <p:txBody>
          <a:bodyPr wrap="square" lIns="0" rIns="0" tIns="0" bIns="0">
            <a:spAutoFit/>
          </a:bodyPr>
          <a:lstStyle/>
          <a:p>
            <a:r>
              <a:rPr sz="1350" b="0" i="0">
                <a:solidFill>
                  <a:srgbClr val="5A6072"/>
                </a:solidFill>
                <a:latin typeface="Segoe UI"/>
              </a:rPr>
              <a:t>Delivery: readiness computed over transitive prerequisite closure against per-concept mastery; multiple concurrent learning paths; goal-directed backward pathfinding.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A3 — Roadmap</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12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323469"/>
          </a:xfrm>
          <a:prstGeom prst="rect">
            <a:avLst/>
          </a:prstGeom>
          <a:noFill/>
        </p:spPr>
        <p:txBody>
          <a:bodyPr wrap="square" lIns="0" rIns="0" tIns="0" bIns="0">
            <a:spAutoFit/>
          </a:bodyPr>
          <a:lstStyle/>
          <a:p>
            <a:r>
              <a:rPr sz="1350" b="0" i="0">
                <a:solidFill>
                  <a:srgbClr val="5A6072"/>
                </a:solidFill>
                <a:latin typeface="Segoe UI"/>
              </a:rPr>
              <a:t>Template layer for figure generation — the agreed next major build</a:t>
            </a:r>
          </a:p>
        </p:txBody>
      </p:sp>
      <p:sp>
        <p:nvSpPr>
          <p:cNvPr id="6" name="Oval 5"/>
          <p:cNvSpPr/>
          <p:nvPr/>
        </p:nvSpPr>
        <p:spPr>
          <a:xfrm>
            <a:off x="585216" y="1536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457325"/>
            <a:ext cx="10820095" cy="323469"/>
          </a:xfrm>
          <a:prstGeom prst="rect">
            <a:avLst/>
          </a:prstGeom>
          <a:noFill/>
        </p:spPr>
        <p:txBody>
          <a:bodyPr wrap="square" lIns="0" rIns="0" tIns="0" bIns="0">
            <a:spAutoFit/>
          </a:bodyPr>
          <a:lstStyle/>
          <a:p>
            <a:r>
              <a:rPr sz="1350" b="0" i="0">
                <a:solidFill>
                  <a:srgbClr val="C2410C"/>
                </a:solidFill>
                <a:latin typeface="Segoe UI"/>
              </a:rPr>
              <a:t>⚠️ TODO: remaining 12–18 month milestones, tied to the Slide 11 funding milestone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A4 — Patent detail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Non-provisional App. No. 19/756,145, filed 2026-07-28. Claim Set 1 covers AI-driven knowledge base generation; Claim Set 2 covers transitive-prerequisite adaptive delivery. The two claim sets are independently enforceable and licensable.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A5 — The 1985 thesis: architectural correspondence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C2410C"/>
                </a:solidFill>
                <a:latin typeface="Segoe UI"/>
              </a:rPr>
              <a:t>Source material for Slide 4. Charles Irvine, </a:t>
            </a:r>
            <a:r>
              <a:rPr sz="1350" b="0" i="1">
                <a:solidFill>
                  <a:srgbClr val="C2410C"/>
                </a:solidFill>
                <a:latin typeface="Segoe UI"/>
              </a:rPr>
              <a:t>The Conceptual Knowledge System (CKS)</a:t>
            </a:r>
            <a:r>
              <a:rPr sz="1350" b="0" i="0">
                <a:solidFill>
                  <a:srgbClr val="C2410C"/>
                </a:solidFill>
                <a:latin typeface="Segoe UI"/>
              </a:rPr>
              <a:t>, master's thesis, University of Kansas, 1985. ⚠️ TODO: confirm exact month; scan in full.</a:t>
            </a:r>
          </a:p>
        </p:txBody>
      </p:sp>
      <p:graphicFrame>
        <p:nvGraphicFramePr>
          <p:cNvPr id="5" name="Table 4"/>
          <p:cNvGraphicFramePr>
            <a:graphicFrameLocks noGrp="1"/>
          </p:cNvGraphicFramePr>
          <p:nvPr/>
        </p:nvGraphicFramePr>
        <p:xfrm>
          <a:off x="566928" y="1725930"/>
          <a:ext cx="11057839" cy="2615184"/>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CKS (1985)</a:t>
                      </a:r>
                    </a:p>
                  </a:txBody>
                  <a:tcPr marL="82296" marR="64008" marT="32004" marB="32004" anchor="ctr">
                    <a:solidFill>
                      <a:srgbClr val="F4F5F9"/>
                    </a:solidFill>
                  </a:tcPr>
                </a:tc>
                <a:tc>
                  <a:txBody>
                    <a:bodyPr wrap="square"/>
                    <a:lstStyle/>
                    <a:p>
                      <a:r>
                        <a:rPr sz="1100" b="1">
                          <a:solidFill>
                            <a:srgbClr val="15192B"/>
                          </a:solidFill>
                          <a:latin typeface="Segoe UI"/>
                        </a:rPr>
                        <a:t>Qlaudia (2026)</a:t>
                      </a:r>
                    </a:p>
                  </a:txBody>
                  <a:tcPr marL="82296" marR="64008" marT="32004" marB="32004" anchor="ctr">
                    <a:solidFill>
                      <a:srgbClr val="F4F5F9"/>
                    </a:solidFill>
                  </a:tcPr>
                </a:tc>
              </a:tr>
              <a:tr h="288036">
                <a:tc>
                  <a:txBody>
                    <a:bodyPr wrap="square"/>
                    <a:lstStyle/>
                    <a:p>
                      <a:r>
                        <a:rPr sz="1100" b="1" i="0">
                          <a:solidFill>
                            <a:srgbClr val="15192B"/>
                          </a:solidFill>
                          <a:latin typeface="Segoe UI"/>
                        </a:rPr>
                        <a:t>Two functions: an acquisition facility and a retrieval facility, over one constructed graph</a:t>
                      </a:r>
                    </a:p>
                  </a:txBody>
                  <a:tcPr marL="82296" marR="64008" marT="32004" marB="32004" anchor="ctr">
                    <a:solidFill>
                      <a:srgbClr val="FFFFFF"/>
                    </a:solidFill>
                  </a:tcPr>
                </a:tc>
                <a:tc>
                  <a:txBody>
                    <a:bodyPr wrap="square"/>
                    <a:lstStyle/>
                    <a:p>
                      <a:r>
                        <a:rPr sz="1100" b="1" i="0">
                          <a:solidFill>
                            <a:srgbClr val="15192B"/>
                          </a:solidFill>
                          <a:latin typeface="Segoe UI"/>
                        </a:rPr>
                        <a:t>Two inventions — KB generation and adaptive delivery — and the patent's two claim sets</a:t>
                      </a:r>
                    </a:p>
                  </a:txBody>
                  <a:tcPr marL="82296" marR="64008" marT="32004" marB="32004" anchor="ctr">
                    <a:solidFill>
                      <a:srgbClr val="FFFFFF"/>
                    </a:solidFill>
                  </a:tcPr>
                </a:tc>
              </a:tr>
              <a:tr h="288036">
                <a:tc>
                  <a:txBody>
                    <a:bodyPr wrap="square"/>
                    <a:lstStyle/>
                    <a:p>
                      <a:r>
                        <a:rPr sz="1100" b="0" i="0">
                          <a:solidFill>
                            <a:srgbClr val="5A6072"/>
                          </a:solidFill>
                          <a:latin typeface="Segoe UI"/>
                        </a:rPr>
                        <a:t>Knowledge base of concepts</a:t>
                      </a:r>
                    </a:p>
                  </a:txBody>
                  <a:tcPr marL="82296" marR="64008" marT="32004" marB="32004" anchor="ctr">
                    <a:solidFill>
                      <a:srgbClr val="FFFFFF"/>
                    </a:solidFill>
                  </a:tcPr>
                </a:tc>
                <a:tc>
                  <a:txBody>
                    <a:bodyPr wrap="square"/>
                    <a:lstStyle/>
                    <a:p>
                      <a:r>
                        <a:rPr sz="1100" b="0" i="0">
                          <a:solidFill>
                            <a:srgbClr val="5A6072"/>
                          </a:solidFill>
                          <a:latin typeface="Consolas"/>
                        </a:rPr>
                        <a:t>Concept</a:t>
                      </a:r>
                      <a:r>
                        <a:rPr sz="1100" b="0" i="0">
                          <a:solidFill>
                            <a:srgbClr val="5A6072"/>
                          </a:solidFill>
                          <a:latin typeface="Segoe UI"/>
                        </a:rPr>
                        <a:t> nodes in Neo4j</a:t>
                      </a:r>
                    </a:p>
                  </a:txBody>
                  <a:tcPr marL="82296" marR="64008" marT="32004" marB="32004" anchor="ctr">
                    <a:solidFill>
                      <a:srgbClr val="FFFFFF"/>
                    </a:solidFill>
                  </a:tcPr>
                </a:tc>
              </a:tr>
              <a:tr h="288036">
                <a:tc>
                  <a:txBody>
                    <a:bodyPr wrap="square"/>
                    <a:lstStyle/>
                    <a:p>
                      <a:r>
                        <a:rPr sz="1100" b="0" i="0">
                          <a:solidFill>
                            <a:srgbClr val="5A6072"/>
                          </a:solidFill>
                          <a:latin typeface="Segoe UI"/>
                        </a:rPr>
                        <a:t>"Logical relations that exist between the concepts"</a:t>
                      </a:r>
                    </a:p>
                  </a:txBody>
                  <a:tcPr marL="82296" marR="64008" marT="32004" marB="32004" anchor="ctr">
                    <a:solidFill>
                      <a:srgbClr val="FFFFFF"/>
                    </a:solidFill>
                  </a:tcPr>
                </a:tc>
                <a:tc>
                  <a:txBody>
                    <a:bodyPr wrap="square"/>
                    <a:lstStyle/>
                    <a:p>
                      <a:r>
                        <a:rPr sz="1100" b="0" i="0">
                          <a:solidFill>
                            <a:srgbClr val="5A6072"/>
                          </a:solidFill>
                          <a:latin typeface="Segoe UI"/>
                        </a:rPr>
                        <a:t>Typed relationship edges + prerequisite edges</a:t>
                      </a:r>
                    </a:p>
                  </a:txBody>
                  <a:tcPr marL="82296" marR="64008" marT="32004" marB="32004" anchor="ctr">
                    <a:solidFill>
                      <a:srgbClr val="FFFFFF"/>
                    </a:solidFill>
                  </a:tcPr>
                </a:tc>
              </a:tr>
              <a:tr h="288036">
                <a:tc>
                  <a:txBody>
                    <a:bodyPr wrap="square"/>
                    <a:lstStyle/>
                    <a:p>
                      <a:r>
                        <a:rPr sz="1100" b="0" i="0">
                          <a:solidFill>
                            <a:srgbClr val="5A6072"/>
                          </a:solidFill>
                          <a:latin typeface="Segoe UI"/>
                        </a:rPr>
                        <a:t>Retrieval facility: "top down examination… according to the logical relations"</a:t>
                      </a:r>
                    </a:p>
                  </a:txBody>
                  <a:tcPr marL="82296" marR="64008" marT="32004" marB="32004" anchor="ctr">
                    <a:solidFill>
                      <a:srgbClr val="FFFFFF"/>
                    </a:solidFill>
                  </a:tcPr>
                </a:tc>
                <a:tc>
                  <a:txBody>
                    <a:bodyPr wrap="square"/>
                    <a:lstStyle/>
                    <a:p>
                      <a:r>
                        <a:rPr sz="1100" b="0" i="0">
                          <a:solidFill>
                            <a:srgbClr val="5A6072"/>
                          </a:solidFill>
                          <a:latin typeface="Segoe UI"/>
                        </a:rPr>
                        <a:t>Graph traversal, prerequisite-ordered learning paths</a:t>
                      </a:r>
                    </a:p>
                  </a:txBody>
                  <a:tcPr marL="82296" marR="64008" marT="32004" marB="32004" anchor="ctr">
                    <a:solidFill>
                      <a:srgbClr val="FFFFFF"/>
                    </a:solidFill>
                  </a:tcPr>
                </a:tc>
              </a:tr>
              <a:tr h="288036">
                <a:tc>
                  <a:txBody>
                    <a:bodyPr wrap="square"/>
                    <a:lstStyle/>
                    <a:p>
                      <a:r>
                        <a:rPr sz="1100" b="0" i="0">
                          <a:solidFill>
                            <a:srgbClr val="5A6072"/>
                          </a:solidFill>
                          <a:latin typeface="Segoe UI"/>
                        </a:rPr>
                        <a:t>Minsky frame formalism</a:t>
                      </a:r>
                    </a:p>
                  </a:txBody>
                  <a:tcPr marL="82296" marR="64008" marT="32004" marB="32004" anchor="ctr">
                    <a:solidFill>
                      <a:srgbClr val="FFFFFF"/>
                    </a:solidFill>
                  </a:tcPr>
                </a:tc>
                <a:tc>
                  <a:txBody>
                    <a:bodyPr wrap="square"/>
                    <a:lstStyle/>
                    <a:p>
                      <a:r>
                        <a:rPr sz="1100" b="0" i="0">
                          <a:solidFill>
                            <a:srgbClr val="5A6072"/>
                          </a:solidFill>
                          <a:latin typeface="Segoe UI"/>
                        </a:rPr>
                        <a:t>Structured concept schema</a:t>
                      </a:r>
                    </a:p>
                  </a:txBody>
                  <a:tcPr marL="82296" marR="64008" marT="32004" marB="32004" anchor="ctr">
                    <a:solidFill>
                      <a:srgbClr val="FFFFFF"/>
                    </a:solidFill>
                  </a:tcPr>
                </a:tc>
              </a:tr>
              <a:tr h="288036">
                <a:tc>
                  <a:txBody>
                    <a:bodyPr wrap="square"/>
                    <a:lstStyle/>
                    <a:p>
                      <a:r>
                        <a:rPr sz="1100" b="1" i="0">
                          <a:solidFill>
                            <a:srgbClr val="15192B"/>
                          </a:solidFill>
                          <a:latin typeface="Segoe UI"/>
                        </a:rPr>
                        <a:t>Acquisition facility: interactive dialog interrogating a human expert</a:t>
                      </a:r>
                    </a:p>
                  </a:txBody>
                  <a:tcPr marL="82296" marR="64008" marT="32004" marB="32004" anchor="ctr">
                    <a:solidFill>
                      <a:srgbClr val="FFFFFF"/>
                    </a:solidFill>
                  </a:tcPr>
                </a:tc>
                <a:tc>
                  <a:txBody>
                    <a:bodyPr wrap="square"/>
                    <a:lstStyle/>
                    <a:p>
                      <a:r>
                        <a:rPr sz="1100" b="1" i="0">
                          <a:solidFill>
                            <a:srgbClr val="15192B"/>
                          </a:solidFill>
                          <a:latin typeface="Segoe UI"/>
                        </a:rPr>
                        <a:t>LLM generation pipeline — the half that was missing</a:t>
                      </a:r>
                    </a:p>
                  </a:txBody>
                  <a:tcPr marL="82296" marR="64008" marT="32004" marB="32004" anchor="ctr">
                    <a:solidFill>
                      <a:srgbClr val="FFFFFF"/>
                    </a:solidFill>
                  </a:tcPr>
                </a:tc>
              </a:tr>
              <a:tr h="288036">
                <a:tc>
                  <a:txBody>
                    <a:bodyPr wrap="square"/>
                    <a:lstStyle/>
                    <a:p>
                      <a:r>
                        <a:rPr sz="1100" b="0" i="0">
                          <a:solidFill>
                            <a:srgbClr val="5A6072"/>
                          </a:solidFill>
                          <a:latin typeface="Segoe UI"/>
                        </a:rPr>
                        <a:t>Proposed as an alternative to printed media, which "imposes unnecessary constraints on the organization of a body of knowledge"</a:t>
                      </a:r>
                    </a:p>
                  </a:txBody>
                  <a:tcPr marL="82296" marR="64008" marT="32004" marB="32004" anchor="ctr">
                    <a:solidFill>
                      <a:srgbClr val="FFFFFF"/>
                    </a:solidFill>
                  </a:tcPr>
                </a:tc>
                <a:tc>
                  <a:txBody>
                    <a:bodyPr wrap="square"/>
                    <a:lstStyle/>
                    <a:p>
                      <a:r>
                        <a:rPr sz="1100" b="0" i="0">
                          <a:solidFill>
                            <a:srgbClr val="5A6072"/>
                          </a:solidFill>
                          <a:latin typeface="Segoe UI"/>
                        </a:rPr>
                        <a:t>Concept graph rather than linear documents</a:t>
                      </a:r>
                    </a:p>
                  </a:txBody>
                  <a:tcPr marL="82296" marR="64008" marT="32004" marB="32004" anchor="ctr">
                    <a:solidFill>
                      <a:srgbClr val="FFFFFF"/>
                    </a:solidFill>
                  </a:tcPr>
                </a:tc>
              </a:tr>
              <a:tr h="288036">
                <a:tc>
                  <a:txBody>
                    <a:bodyPr wrap="square"/>
                    <a:lstStyle/>
                    <a:p>
                      <a:r>
                        <a:rPr sz="1100" b="1" i="0">
                          <a:solidFill>
                            <a:srgbClr val="15192B"/>
                          </a:solidFill>
                          <a:latin typeface="Segoe UI"/>
                        </a:rPr>
                        <a:t>"A small set of conceptual primitives" — all concepts ultimately defined in terms of them</a:t>
                      </a:r>
                    </a:p>
                  </a:txBody>
                  <a:tcPr marL="82296" marR="64008" marT="32004" marB="32004" anchor="ctr">
                    <a:solidFill>
                      <a:srgbClr val="FFFFFF"/>
                    </a:solidFill>
                  </a:tcPr>
                </a:tc>
                <a:tc>
                  <a:txBody>
                    <a:bodyPr wrap="square"/>
                    <a:lstStyle/>
                    <a:p>
                      <a:r>
                        <a:rPr sz="1100" b="1" i="0">
                          <a:solidFill>
                            <a:srgbClr val="15192B"/>
                          </a:solidFill>
                          <a:latin typeface="Segoe UI"/>
                        </a:rPr>
                        <a:t>Not carried forward. Qlaudia has no primitive basis.</a:t>
                      </a:r>
                    </a:p>
                  </a:txBody>
                  <a:tcPr marL="82296" marR="64008" marT="32004" marB="32004"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329069"/>
          </a:xfrm>
          <a:prstGeom prst="rect">
            <a:avLst/>
          </a:prstGeom>
          <a:noFill/>
        </p:spPr>
        <p:txBody>
          <a:bodyPr wrap="square" lIns="0" rIns="0" tIns="0" bIns="0">
            <a:spAutoFit/>
          </a:bodyPr>
          <a:lstStyle/>
          <a:p>
            <a:r>
              <a:rPr sz="1106" b="1" i="0">
                <a:solidFill>
                  <a:srgbClr val="15192B"/>
                </a:solidFill>
                <a:latin typeface="Segoe UI"/>
              </a:rPr>
              <a:t>Verify against the original before use.</a:t>
            </a:r>
          </a:p>
        </p:txBody>
      </p:sp>
      <p:sp>
        <p:nvSpPr>
          <p:cNvPr id="5" name="TextBox 4"/>
          <p:cNvSpPr txBox="1"/>
          <p:nvPr/>
        </p:nvSpPr>
        <p:spPr>
          <a:xfrm>
            <a:off x="566928" y="1462925"/>
            <a:ext cx="5336895" cy="329069"/>
          </a:xfrm>
          <a:prstGeom prst="rect">
            <a:avLst/>
          </a:prstGeom>
          <a:noFill/>
        </p:spPr>
        <p:txBody>
          <a:bodyPr wrap="square" lIns="0" rIns="0" tIns="0" bIns="0">
            <a:spAutoFit/>
          </a:bodyPr>
          <a:lstStyle/>
          <a:p>
            <a:r>
              <a:rPr sz="1106" b="1" i="0">
                <a:solidFill>
                  <a:srgbClr val="15192B"/>
                </a:solidFill>
                <a:latin typeface="Segoe UI"/>
              </a:rPr>
              <a:t>The two that carry Slide 4:</a:t>
            </a:r>
          </a:p>
        </p:txBody>
      </p:sp>
      <p:sp>
        <p:nvSpPr>
          <p:cNvPr id="6" name="Oval 5"/>
          <p:cNvSpPr/>
          <p:nvPr/>
        </p:nvSpPr>
        <p:spPr>
          <a:xfrm>
            <a:off x="585216" y="18566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1995"/>
            <a:ext cx="5099151" cy="831646"/>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what the system was</a:t>
            </a:r>
            <a:r>
              <a:rPr sz="1106" b="0" i="0">
                <a:solidFill>
                  <a:srgbClr val="5A6072"/>
                </a:solidFill>
                <a:latin typeface="Segoe UI"/>
              </a:rPr>
              <a:t>: </a:t>
            </a:r>
            <a:r>
              <a:rPr sz="1106" b="0" i="1">
                <a:solidFill>
                  <a:srgbClr val="5A6072"/>
                </a:solidFill>
                <a:latin typeface="Segoe UI"/>
              </a:rPr>
              <a:t>"Specifically, the program has two intended functions: as an interactive knowledge acquisition facility and, secondly, as an information retrieval facility."</a:t>
            </a:r>
          </a:p>
        </p:txBody>
      </p:sp>
      <p:sp>
        <p:nvSpPr>
          <p:cNvPr id="8" name="Oval 7"/>
          <p:cNvSpPr/>
          <p:nvPr/>
        </p:nvSpPr>
        <p:spPr>
          <a:xfrm>
            <a:off x="585216" y="268831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23642"/>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how acquisition worked</a:t>
            </a:r>
            <a:r>
              <a:rPr sz="1106" b="0" i="0">
                <a:solidFill>
                  <a:srgbClr val="5A6072"/>
                </a:solidFill>
                <a:latin typeface="Segoe UI"/>
              </a:rPr>
              <a:t>: </a:t>
            </a:r>
            <a:r>
              <a:rPr sz="1106" b="0" i="1">
                <a:solidFill>
                  <a:srgbClr val="5A6072"/>
                </a:solidFill>
                <a:latin typeface="Segoe UI"/>
              </a:rPr>
              <a:t>"While engaged in interactive dialog with a user, CKS's acquisition facility attempts to acquire the concepts which constitute the user's knowledge."</a:t>
            </a:r>
          </a:p>
        </p:txBody>
      </p:sp>
      <p:sp>
        <p:nvSpPr>
          <p:cNvPr id="10" name="TextBox 9"/>
          <p:cNvSpPr txBox="1"/>
          <p:nvPr/>
        </p:nvSpPr>
        <p:spPr>
          <a:xfrm>
            <a:off x="566928" y="3272523"/>
            <a:ext cx="5336895" cy="329069"/>
          </a:xfrm>
          <a:prstGeom prst="rect">
            <a:avLst/>
          </a:prstGeom>
          <a:noFill/>
        </p:spPr>
        <p:txBody>
          <a:bodyPr wrap="square" lIns="0" rIns="0" tIns="0" bIns="0">
            <a:spAutoFit/>
          </a:bodyPr>
          <a:lstStyle/>
          <a:p>
            <a:r>
              <a:rPr sz="1106" b="1" i="0">
                <a:solidFill>
                  <a:srgbClr val="15192B"/>
                </a:solidFill>
                <a:latin typeface="Segoe UI"/>
              </a:rPr>
              <a:t>Supporting:</a:t>
            </a:r>
          </a:p>
        </p:txBody>
      </p:sp>
      <p:sp>
        <p:nvSpPr>
          <p:cNvPr id="11" name="Oval 10"/>
          <p:cNvSpPr/>
          <p:nvPr/>
        </p:nvSpPr>
        <p:spPr>
          <a:xfrm>
            <a:off x="585216" y="36662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01593"/>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"The retrieval facility serves the complementary function of allowing the traversal of a knowledge base that has been encoded through interaction with CKS."</a:t>
            </a:r>
          </a:p>
        </p:txBody>
      </p:sp>
      <p:sp>
        <p:nvSpPr>
          <p:cNvPr id="13" name="Oval 12"/>
          <p:cNvSpPr/>
          <p:nvPr/>
        </p:nvSpPr>
        <p:spPr>
          <a:xfrm>
            <a:off x="585216" y="43151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250474"/>
            <a:ext cx="5099151" cy="831646"/>
          </a:xfrm>
          <a:prstGeom prst="rect">
            <a:avLst/>
          </a:prstGeom>
          <a:noFill/>
        </p:spPr>
        <p:txBody>
          <a:bodyPr wrap="square" lIns="0" rIns="0" tIns="0" bIns="0">
            <a:spAutoFit/>
          </a:bodyPr>
          <a:lstStyle/>
          <a:p>
            <a:r>
              <a:rPr sz="1106" b="0" i="0">
                <a:solidFill>
                  <a:srgbClr val="5A6072"/>
                </a:solidFill>
                <a:latin typeface="Segoe UI"/>
              </a:rPr>
              <a:t>Abstract, on guidance: </a:t>
            </a:r>
            <a:r>
              <a:rPr sz="1106" b="0" i="1">
                <a:solidFill>
                  <a:srgbClr val="5A6072"/>
                </a:solidFill>
                <a:latin typeface="Segoe UI"/>
              </a:rPr>
              <a:t>"The knowledge base serves the guidance function by providing a set of patterns which enable the program to anticipate the organization of the incoming information."</a:t>
            </a:r>
          </a:p>
        </p:txBody>
      </p:sp>
      <p:sp>
        <p:nvSpPr>
          <p:cNvPr id="15" name="Oval 14"/>
          <p:cNvSpPr/>
          <p:nvPr/>
        </p:nvSpPr>
        <p:spPr>
          <a:xfrm>
            <a:off x="585216" y="514679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082120"/>
            <a:ext cx="5099151" cy="1014412"/>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acquisition facility does succeed in the top down acquisition of a set of concepts. The retrieval facility… allows the top down examination of an appropriately encoded set of concepts according to the logical relations that exist between the concepts."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1014412"/>
          </a:xfrm>
          <a:prstGeom prst="rect">
            <a:avLst/>
          </a:prstGeom>
          <a:noFill/>
        </p:spPr>
        <p:txBody>
          <a:bodyPr wrap="square" lIns="0" rIns="0" tIns="0" bIns="0">
            <a:spAutoFit/>
          </a:bodyPr>
          <a:lstStyle/>
          <a:p>
            <a:r>
              <a:rPr sz="1106" b="0" i="0">
                <a:solidFill>
                  <a:srgbClr val="5A6072"/>
                </a:solidFill>
                <a:latin typeface="Segoe UI"/>
              </a:rPr>
              <a:t>§1.3: </a:t>
            </a:r>
            <a:r>
              <a:rPr sz="1106" b="0" i="1">
                <a:solidFill>
                  <a:srgbClr val="5A6072"/>
                </a:solidFill>
                <a:latin typeface="Segoe UI"/>
              </a:rPr>
              <a:t>"It is hypothesized that a system similar in principle to the one described would in many circumstances be superior to a strict written language representation of knowledge which imposes unnecessary constraints on the organization of a body of knowledge."</a:t>
            </a:r>
          </a:p>
        </p:txBody>
      </p:sp>
      <p:sp>
        <p:nvSpPr>
          <p:cNvPr id="6" name="Oval 5"/>
          <p:cNvSpPr/>
          <p:nvPr/>
        </p:nvSpPr>
        <p:spPr>
          <a:xfrm>
            <a:off x="585216" y="2212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148268"/>
            <a:ext cx="5099151" cy="648881"/>
          </a:xfrm>
          <a:prstGeom prst="rect">
            <a:avLst/>
          </a:prstGeom>
          <a:noFill/>
        </p:spPr>
        <p:txBody>
          <a:bodyPr wrap="square" lIns="0" rIns="0" tIns="0" bIns="0">
            <a:spAutoFit/>
          </a:bodyPr>
          <a:lstStyle/>
          <a:p>
            <a:r>
              <a:rPr sz="1106" b="0" i="0">
                <a:solidFill>
                  <a:srgbClr val="5A6072"/>
                </a:solidFill>
                <a:latin typeface="Segoe UI"/>
              </a:rPr>
              <a:t>§1.2: </a:t>
            </a:r>
            <a:r>
              <a:rPr sz="1106" b="0" i="1">
                <a:solidFill>
                  <a:srgbClr val="5A6072"/>
                </a:solidFill>
                <a:latin typeface="Segoe UI"/>
              </a:rPr>
              <a:t>"…might the computer serve to enrich the life of the individual? The author believes in the viability of this prospect."</a:t>
            </a:r>
          </a:p>
        </p:txBody>
      </p:sp>
      <p:sp>
        <p:nvSpPr>
          <p:cNvPr id="8" name="TextBox 7"/>
          <p:cNvSpPr txBox="1"/>
          <p:nvPr/>
        </p:nvSpPr>
        <p:spPr>
          <a:xfrm>
            <a:off x="566928" y="2797149"/>
            <a:ext cx="5336895" cy="329069"/>
          </a:xfrm>
          <a:prstGeom prst="rect">
            <a:avLst/>
          </a:prstGeom>
          <a:noFill/>
        </p:spPr>
        <p:txBody>
          <a:bodyPr wrap="square" lIns="0" rIns="0" tIns="0" bIns="0">
            <a:spAutoFit/>
          </a:bodyPr>
          <a:lstStyle/>
          <a:p>
            <a:r>
              <a:rPr sz="1106" b="1" i="0">
                <a:solidFill>
                  <a:srgbClr val="15192B"/>
                </a:solidFill>
                <a:latin typeface="Segoe UI"/>
              </a:rPr>
              <a:t>Accurate but do not put on a slide:</a:t>
            </a:r>
          </a:p>
        </p:txBody>
      </p:sp>
      <p:sp>
        <p:nvSpPr>
          <p:cNvPr id="9" name="Oval 8"/>
          <p:cNvSpPr/>
          <p:nvPr/>
        </p:nvSpPr>
        <p:spPr>
          <a:xfrm>
            <a:off x="585216" y="31908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126219"/>
            <a:ext cx="5099151" cy="1379943"/>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user interface in general is quite terse and requires a knowledge of system details which could not normally be assumed. The program uses untried methods and is still in an experimental state."</a:t>
            </a:r>
            <a:r>
              <a:rPr sz="1106" b="0" i="0">
                <a:solidFill>
                  <a:srgbClr val="5A6072"/>
                </a:solidFill>
                <a:latin typeface="Segoe UI"/>
              </a:rPr>
              <a:t> — a true statement of the limitation, but it reads as a UI complaint rather than as the acquisition ceiling, and an audience has to be told what it means. Show the mechanism quote instead and let them infer it.</a:t>
            </a:r>
          </a:p>
        </p:txBody>
      </p:sp>
      <p:sp>
        <p:nvSpPr>
          <p:cNvPr id="11" name="TextBox 10"/>
          <p:cNvSpPr txBox="1"/>
          <p:nvPr/>
        </p:nvSpPr>
        <p:spPr>
          <a:xfrm>
            <a:off x="566928" y="4506163"/>
            <a:ext cx="5336895" cy="1242898"/>
          </a:xfrm>
          <a:prstGeom prst="rect">
            <a:avLst/>
          </a:prstGeom>
          <a:noFill/>
        </p:spPr>
        <p:txBody>
          <a:bodyPr wrap="square" lIns="0" rIns="0" tIns="0" bIns="0">
            <a:spAutoFit/>
          </a:bodyPr>
          <a:lstStyle/>
          <a:p>
            <a:r>
              <a:rPr sz="1106" b="1" i="0">
                <a:solidFill>
                  <a:srgbClr val="15192B"/>
                </a:solidFill>
                <a:latin typeface="Segoe UI"/>
              </a:rPr>
              <a:t>On conceptual primitives.</a:t>
            </a:r>
            <a:r>
              <a:rPr sz="1106" b="0" i="0">
                <a:solidFill>
                  <a:srgbClr val="5A6072"/>
                </a:solidFill>
                <a:latin typeface="Segoe UI"/>
              </a:rPr>
              <a:t> CKS also held that all encoded concepts must ultimately be defined in terms of a small set of conceptual primitives (</a:t>
            </a:r>
            <a:r>
              <a:rPr sz="1106" b="0" i="1">
                <a:solidFill>
                  <a:srgbClr val="5A6072"/>
                </a:solidFill>
                <a:latin typeface="Segoe UI"/>
              </a:rPr>
              <a:t>"…another which consists of a small set of conceptual primitives"</a:t>
            </a:r>
            <a:r>
              <a:rPr sz="1106" b="0" i="0">
                <a:solidFill>
                  <a:srgbClr val="5A6072"/>
                </a:solidFill>
                <a:latin typeface="Segoe UI"/>
              </a:rPr>
              <a:t>). Kept here for the record only — see the warning below. It is not Qlaudia's architecture and should stay out of the pitch.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1161288"/>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1133856"/>
            <a:ext cx="10746943" cy="790194"/>
          </a:xfrm>
          <a:prstGeom prst="rect">
            <a:avLst/>
          </a:prstGeom>
          <a:noFill/>
        </p:spPr>
        <p:txBody>
          <a:bodyPr wrap="square" lIns="0" rIns="0" tIns="0" bIns="0">
            <a:spAutoFit/>
          </a:bodyPr>
          <a:lstStyle/>
          <a:p>
            <a:r>
              <a:rPr sz="1300" b="1" i="1">
                <a:solidFill>
                  <a:srgbClr val="5A6072"/>
                </a:solidFill>
                <a:latin typeface="Segoe UI"/>
              </a:rPr>
              <a:t>Note on the last quotation.</a:t>
            </a:r>
            <a:r>
              <a:rPr sz="1300" b="0" i="1">
                <a:solidFill>
                  <a:srgbClr val="5A6072"/>
                </a:solidFill>
                <a:latin typeface="Segoe UI"/>
              </a:rPr>
              <a:t> It is the mission statement of this company, written in 1985. If there is a closing line for the whole pitch, it may be that sentence — read aloud from the original, then: </a:t>
            </a:r>
            <a:r>
              <a:rPr sz="1300" b="0" i="1">
                <a:solidFill>
                  <a:srgbClr val="5A6072"/>
                </a:solidFill>
                <a:latin typeface="Segoe UI"/>
              </a:rPr>
              <a:t>"I still believe it. Now it's buildable."</a:t>
            </a:r>
            <a:r>
              <a:rPr sz="1300" b="0" i="1">
                <a:solidFill>
                  <a:srgbClr val="5A6072"/>
                </a:solidFill>
                <a:latin typeface="Segoe UI"/>
              </a:rPr>
              <a:t> Use once, at the end, and don't explain it afterward.</a:t>
            </a:r>
          </a:p>
        </p:txBody>
      </p:sp>
      <p:sp>
        <p:nvSpPr>
          <p:cNvPr id="6" name="TextBox 5"/>
          <p:cNvSpPr txBox="1"/>
          <p:nvPr/>
        </p:nvSpPr>
        <p:spPr>
          <a:xfrm>
            <a:off x="566928" y="1924050"/>
            <a:ext cx="11057839" cy="1483614"/>
          </a:xfrm>
          <a:prstGeom prst="rect">
            <a:avLst/>
          </a:prstGeom>
          <a:noFill/>
        </p:spPr>
        <p:txBody>
          <a:bodyPr wrap="square" lIns="0" rIns="0" tIns="0" bIns="0">
            <a:spAutoFit/>
          </a:bodyPr>
          <a:lstStyle/>
          <a:p>
            <a:r>
              <a:rPr sz="1350" b="1" i="0">
                <a:solidFill>
                  <a:srgbClr val="15192B"/>
                </a:solidFill>
                <a:latin typeface="Segoe UI"/>
              </a:rPr>
              <a:t>The primitives idea is NOT in Qlaudia — do not claim otherwise.</a:t>
            </a:r>
            <a:r>
              <a:rPr sz="1350" b="0" i="0">
                <a:solidFill>
                  <a:srgbClr val="5A6072"/>
                </a:solidFill>
                <a:latin typeface="Segoe UI"/>
              </a:rPr>
              <a:t> CKS rested on a closed basis: a small set of conceptual primitives in terms of which every encoded concept had ultimately to be defined. Qlaudia does the opposite. </a:t>
            </a:r>
            <a:r>
              <a:rPr sz="1350" b="0" i="0">
                <a:solidFill>
                  <a:srgbClr val="5A6072"/>
                </a:solidFill>
                <a:latin typeface="Consolas"/>
              </a:rPr>
              <a:t>step4_edges.py</a:t>
            </a:r>
            <a:r>
              <a:rPr sz="1350" b="0" i="0">
                <a:solidFill>
                  <a:srgbClr val="5A6072"/>
                </a:solidFill>
                <a:latin typeface="Segoe UI"/>
              </a:rPr>
              <a:t> has the LLM generate a fresh, domain-specific relationship vocabulary per subject, explicitly preferring specificity (</a:t>
            </a:r>
            <a:r>
              <a:rPr sz="1350" b="0" i="0">
                <a:solidFill>
                  <a:srgbClr val="5A6072"/>
                </a:solidFill>
                <a:latin typeface="Consolas"/>
              </a:rPr>
              <a:t>TRANSFERS_POWER_TO</a:t>
            </a:r>
            <a:r>
              <a:rPr sz="1350" b="0" i="0">
                <a:solidFill>
                  <a:srgbClr val="5A6072"/>
                </a:solidFill>
                <a:latin typeface="Segoe UI"/>
              </a:rPr>
              <a:t>, not </a:t>
            </a:r>
            <a:r>
              <a:rPr sz="1350" b="0" i="0">
                <a:solidFill>
                  <a:srgbClr val="5A6072"/>
                </a:solidFill>
                <a:latin typeface="Consolas"/>
              </a:rPr>
              <a:t>RELATED_TO</a:t>
            </a:r>
            <a:r>
              <a:rPr sz="1350" b="0" i="0">
                <a:solidFill>
                  <a:srgbClr val="5A6072"/>
                </a:solidFill>
                <a:latin typeface="Segoe UI"/>
              </a:rPr>
              <a:t>). The only closed set in the system is a six-value </a:t>
            </a:r>
            <a:r>
              <a:rPr sz="1350" b="0" i="0">
                <a:solidFill>
                  <a:srgbClr val="5A6072"/>
                </a:solidFill>
                <a:latin typeface="Consolas"/>
              </a:rPr>
              <a:t>archetype</a:t>
            </a:r>
            <a:r>
              <a:rPr sz="1350" b="0" i="0">
                <a:solidFill>
                  <a:srgbClr val="5A6072"/>
                </a:solidFill>
                <a:latin typeface="Segoe UI"/>
              </a:rPr>
              <a:t> tag — functional, hierarchical, causal, spatial, temporal, safety — which </a:t>
            </a:r>
            <a:r>
              <a:rPr sz="1350" b="0" i="1">
                <a:solidFill>
                  <a:srgbClr val="5A6072"/>
                </a:solidFill>
                <a:latin typeface="Segoe UI"/>
              </a:rPr>
              <a:t>classifies</a:t>
            </a:r>
            <a:r>
              <a:rPr sz="1350" b="0" i="0">
                <a:solidFill>
                  <a:srgbClr val="5A6072"/>
                </a:solidFill>
                <a:latin typeface="Segoe UI"/>
              </a:rPr>
              <a:t> relations rather than serving as a basis from which concepts are composed.</a:t>
            </a:r>
          </a:p>
        </p:txBody>
      </p:sp>
      <p:sp>
        <p:nvSpPr>
          <p:cNvPr id="7" name="TextBox 6"/>
          <p:cNvSpPr txBox="1"/>
          <p:nvPr/>
        </p:nvSpPr>
        <p:spPr>
          <a:xfrm>
            <a:off x="566928" y="3407664"/>
            <a:ext cx="11057839" cy="1037844"/>
          </a:xfrm>
          <a:prstGeom prst="rect">
            <a:avLst/>
          </a:prstGeom>
          <a:noFill/>
        </p:spPr>
        <p:txBody>
          <a:bodyPr wrap="square" lIns="0" rIns="0" tIns="0" bIns="0">
            <a:spAutoFit/>
          </a:bodyPr>
          <a:lstStyle/>
          <a:p>
            <a:r>
              <a:rPr sz="1350" b="0" i="0">
                <a:solidFill>
                  <a:srgbClr val="5A6072"/>
                </a:solidFill>
                <a:latin typeface="Segoe UI"/>
              </a:rPr>
              <a:t>The Substance/Relation/Change/Extent framework in </a:t>
            </a:r>
            <a:r>
              <a:rPr sz="1350" b="0" i="0">
                <a:solidFill>
                  <a:srgbClr val="5A6072"/>
                </a:solidFill>
                <a:latin typeface="Consolas"/>
              </a:rPr>
              <a:t>patent_application/The_Four_Emergent_Realities.md</a:t>
            </a:r>
            <a:r>
              <a:rPr sz="1350" b="0" i="0">
                <a:solidFill>
                  <a:srgbClr val="5A6072"/>
                </a:solidFill>
                <a:latin typeface="Segoe UI"/>
              </a:rPr>
              <a:t> is a separate philosophical document. It is </a:t>
            </a:r>
            <a:r>
              <a:rPr sz="1350" b="1" i="0">
                <a:solidFill>
                  <a:srgbClr val="15192B"/>
                </a:solidFill>
                <a:latin typeface="Segoe UI"/>
              </a:rPr>
              <a:t>not implemented</a:t>
            </a:r>
            <a:r>
              <a:rPr sz="1350" b="0" i="0">
                <a:solidFill>
                  <a:srgbClr val="5A6072"/>
                </a:solidFill>
                <a:latin typeface="Segoe UI"/>
              </a:rPr>
              <a:t>. Treat it as a research direction, never as a shipped capability — an overclaim here is the kind an even mildly technical investor can disprove by reading the schema, and it would put every other claim in the deck in question.</a:t>
            </a:r>
          </a:p>
        </p:txBody>
      </p:sp>
      <p:sp>
        <p:nvSpPr>
          <p:cNvPr id="8" name="TextBox 7"/>
          <p:cNvSpPr txBox="1"/>
          <p:nvPr/>
        </p:nvSpPr>
        <p:spPr>
          <a:xfrm>
            <a:off x="566928" y="4445508"/>
            <a:ext cx="11057839" cy="814959"/>
          </a:xfrm>
          <a:prstGeom prst="rect">
            <a:avLst/>
          </a:prstGeom>
          <a:noFill/>
        </p:spPr>
        <p:txBody>
          <a:bodyPr wrap="square" lIns="0" rIns="0" tIns="0" bIns="0">
            <a:spAutoFit/>
          </a:bodyPr>
          <a:lstStyle/>
          <a:p>
            <a:r>
              <a:rPr sz="1350" b="1" i="0">
                <a:solidFill>
                  <a:srgbClr val="15192B"/>
                </a:solidFill>
                <a:latin typeface="Segoe UI"/>
              </a:rPr>
              <a:t>On the thesis committee.</a:t>
            </a:r>
            <a:r>
              <a:rPr sz="1350" b="0" i="0">
                <a:solidFill>
                  <a:srgbClr val="5A6072"/>
                </a:solidFill>
                <a:latin typeface="Segoe UI"/>
              </a:rPr>
              <a:t> Dr. Appie van de Liefvoort moved to UMKC in August 1987 and is emeritus there now. Noted only because a diligence search on his name surfaces UMKC and could look like a mismatch with the University of Kansas — the dates rule it 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$10 Trillion Global Education Market in 2030</a:t>
            </a:r>
            <a:r>
              <a:rPr sz="1106" b="0" i="0">
                <a:solidFill>
                  <a:srgbClr val="5A6072"/>
                </a:solidFill>
                <a:latin typeface="Segoe UI"/>
              </a:rPr>
              <a:t> — https://www.holoniq.com/notes/10-trillion-global-education-market-in-2030</a:t>
            </a:r>
          </a:p>
        </p:txBody>
      </p:sp>
      <p:sp>
        <p:nvSpPr>
          <p:cNvPr id="6" name="Oval 5"/>
          <p:cNvSpPr/>
          <p:nvPr/>
        </p:nvSpPr>
        <p:spPr>
          <a:xfrm>
            <a:off x="585216" y="18474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82737"/>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Global EdTech market to reach $404B by 2025</a:t>
            </a:r>
            <a:r>
              <a:rPr sz="1106" b="0" i="0">
                <a:solidFill>
                  <a:srgbClr val="5A6072"/>
                </a:solidFill>
                <a:latin typeface="Segoe UI"/>
              </a:rPr>
              <a:t> — https://www.holoniq.com/notes/global-education-technology-market-to-reach-404b-by-2025</a:t>
            </a:r>
          </a:p>
        </p:txBody>
      </p:sp>
      <p:sp>
        <p:nvSpPr>
          <p:cNvPr id="8" name="Oval 7"/>
          <p:cNvSpPr/>
          <p:nvPr/>
        </p:nvSpPr>
        <p:spPr>
          <a:xfrm>
            <a:off x="585216" y="2496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31618"/>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The Size &amp; Shape of the Global Education Market</a:t>
            </a:r>
            <a:r>
              <a:rPr sz="1106" b="0" i="0">
                <a:solidFill>
                  <a:srgbClr val="5A6072"/>
                </a:solidFill>
                <a:latin typeface="Segoe UI"/>
              </a:rPr>
              <a:t> — https://www.holoniq.com/notes/the-size-shape-of-the-global-education-market</a:t>
            </a:r>
          </a:p>
        </p:txBody>
      </p:sp>
      <p:sp>
        <p:nvSpPr>
          <p:cNvPr id="10" name="Oval 9"/>
          <p:cNvSpPr/>
          <p:nvPr/>
        </p:nvSpPr>
        <p:spPr>
          <a:xfrm>
            <a:off x="585216" y="314517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080499"/>
            <a:ext cx="5099151" cy="648881"/>
          </a:xfrm>
          <a:prstGeom prst="rect">
            <a:avLst/>
          </a:prstGeom>
          <a:noFill/>
        </p:spPr>
        <p:txBody>
          <a:bodyPr wrap="square" lIns="0" rIns="0" tIns="0" bIns="0">
            <a:spAutoFit/>
          </a:bodyPr>
          <a:lstStyle/>
          <a:p>
            <a:r>
              <a:rPr sz="1106" b="0" i="0">
                <a:solidFill>
                  <a:srgbClr val="5A6072"/>
                </a:solidFill>
                <a:latin typeface="Segoe UI"/>
              </a:rPr>
              <a:t>U.S. Census Bureau, </a:t>
            </a:r>
            <a:r>
              <a:rPr sz="1106" b="0" i="1">
                <a:solidFill>
                  <a:srgbClr val="5A6072"/>
                </a:solidFill>
                <a:latin typeface="Segoe UI"/>
              </a:rPr>
              <a:t>Public School Spending Per Pupil Reaches Historic High in 2024</a:t>
            </a:r>
            <a:r>
              <a:rPr sz="1106" b="0" i="0">
                <a:solidFill>
                  <a:srgbClr val="5A6072"/>
                </a:solidFill>
                <a:latin typeface="Segoe UI"/>
              </a:rPr>
              <a:t> — https://www.census.gov/newsroom/press-releases/2026/school-system-finances.html</a:t>
            </a:r>
          </a:p>
        </p:txBody>
      </p:sp>
      <p:sp>
        <p:nvSpPr>
          <p:cNvPr id="12" name="Oval 11"/>
          <p:cNvSpPr/>
          <p:nvPr/>
        </p:nvSpPr>
        <p:spPr>
          <a:xfrm>
            <a:off x="585216" y="379405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729380"/>
            <a:ext cx="5099151" cy="466115"/>
          </a:xfrm>
          <a:prstGeom prst="rect">
            <a:avLst/>
          </a:prstGeom>
          <a:noFill/>
        </p:spPr>
        <p:txBody>
          <a:bodyPr wrap="square" lIns="0" rIns="0" tIns="0" bIns="0">
            <a:spAutoFit/>
          </a:bodyPr>
          <a:lstStyle/>
          <a:p>
            <a:r>
              <a:rPr sz="1106" b="0" i="0">
                <a:solidFill>
                  <a:srgbClr val="5A6072"/>
                </a:solidFill>
                <a:latin typeface="Segoe UI"/>
              </a:rPr>
              <a:t>EdChoice, </a:t>
            </a:r>
            <a:r>
              <a:rPr sz="1106" b="0" i="1">
                <a:solidFill>
                  <a:srgbClr val="5A6072"/>
                </a:solidFill>
                <a:latin typeface="Segoe UI"/>
              </a:rPr>
              <a:t>How Much Do Public Schools Spend?</a:t>
            </a:r>
            <a:r>
              <a:rPr sz="1106" b="0" i="0">
                <a:solidFill>
                  <a:srgbClr val="5A6072"/>
                </a:solidFill>
                <a:latin typeface="Segoe UI"/>
              </a:rPr>
              <a:t> — https://www.edchoice.org/2026-how-much-do-public-schools-spend/</a:t>
            </a:r>
          </a:p>
        </p:txBody>
      </p:sp>
      <p:sp>
        <p:nvSpPr>
          <p:cNvPr id="14" name="Oval 13"/>
          <p:cNvSpPr/>
          <p:nvPr/>
        </p:nvSpPr>
        <p:spPr>
          <a:xfrm>
            <a:off x="585216" y="42601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195495"/>
            <a:ext cx="5099151" cy="466115"/>
          </a:xfrm>
          <a:prstGeom prst="rect">
            <a:avLst/>
          </a:prstGeom>
          <a:noFill/>
        </p:spPr>
        <p:txBody>
          <a:bodyPr wrap="square" lIns="0" rIns="0" tIns="0" bIns="0">
            <a:spAutoFit/>
          </a:bodyPr>
          <a:lstStyle/>
          <a:p>
            <a:r>
              <a:rPr sz="1106" b="0" i="0">
                <a:solidFill>
                  <a:srgbClr val="5A6072"/>
                </a:solidFill>
                <a:latin typeface="Segoe UI"/>
              </a:rPr>
              <a:t>NCES, </a:t>
            </a:r>
            <a:r>
              <a:rPr sz="1106" b="0" i="1">
                <a:solidFill>
                  <a:srgbClr val="5A6072"/>
                </a:solidFill>
                <a:latin typeface="Segoe UI"/>
              </a:rPr>
              <a:t>Fast Facts: Expenditures</a:t>
            </a:r>
            <a:r>
              <a:rPr sz="1106" b="0" i="0">
                <a:solidFill>
                  <a:srgbClr val="5A6072"/>
                </a:solidFill>
                <a:latin typeface="Segoe UI"/>
              </a:rPr>
              <a:t> — https://nces.ed.gov/fastfacts/display.asp?id=66</a:t>
            </a:r>
          </a:p>
        </p:txBody>
      </p:sp>
      <p:sp>
        <p:nvSpPr>
          <p:cNvPr id="16" name="Oval 15"/>
          <p:cNvSpPr/>
          <p:nvPr/>
        </p:nvSpPr>
        <p:spPr>
          <a:xfrm>
            <a:off x="585216" y="472628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61611"/>
            <a:ext cx="5099151" cy="648881"/>
          </a:xfrm>
          <a:prstGeom prst="rect">
            <a:avLst/>
          </a:prstGeom>
          <a:noFill/>
        </p:spPr>
        <p:txBody>
          <a:bodyPr wrap="square" lIns="0" rIns="0" tIns="0" bIns="0">
            <a:spAutoFit/>
          </a:bodyPr>
          <a:lstStyle/>
          <a:p>
            <a:r>
              <a:rPr sz="1106" b="0" i="0">
                <a:solidFill>
                  <a:srgbClr val="5A6072"/>
                </a:solidFill>
                <a:latin typeface="Segoe UI"/>
              </a:rPr>
              <a:t>Statista, </a:t>
            </a:r>
            <a:r>
              <a:rPr sz="1106" b="0" i="1">
                <a:solidFill>
                  <a:srgbClr val="5A6072"/>
                </a:solidFill>
                <a:latin typeface="Segoe UI"/>
              </a:rPr>
              <a:t>Expenditure of public and private colleges and universities</a:t>
            </a:r>
            <a:r>
              <a:rPr sz="1106" b="0" i="0">
                <a:solidFill>
                  <a:srgbClr val="5A6072"/>
                </a:solidFill>
                <a:latin typeface="Segoe UI"/>
              </a:rPr>
              <a:t> — https://www.statista.com/statistics/184231/expenditure-of-public-and-private-colleges-and-universities</a:t>
            </a:r>
          </a:p>
        </p:txBody>
      </p:sp>
      <p:sp>
        <p:nvSpPr>
          <p:cNvPr id="18" name="Oval 17"/>
          <p:cNvSpPr/>
          <p:nvPr/>
        </p:nvSpPr>
        <p:spPr>
          <a:xfrm>
            <a:off x="585216" y="5375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310492"/>
            <a:ext cx="5099151" cy="648881"/>
          </a:xfrm>
          <a:prstGeom prst="rect">
            <a:avLst/>
          </a:prstGeom>
          <a:noFill/>
        </p:spPr>
        <p:txBody>
          <a:bodyPr wrap="square" lIns="0" rIns="0" tIns="0" bIns="0">
            <a:spAutoFit/>
          </a:bodyPr>
          <a:lstStyle/>
          <a:p>
            <a:r>
              <a:rPr sz="1106" b="0" i="0">
                <a:solidFill>
                  <a:srgbClr val="5A6072"/>
                </a:solidFill>
                <a:latin typeface="Segoe UI"/>
              </a:rPr>
              <a:t>Grand View Research, </a:t>
            </a:r>
            <a:r>
              <a:rPr sz="1106" b="0" i="1">
                <a:solidFill>
                  <a:srgbClr val="5A6072"/>
                </a:solidFill>
                <a:latin typeface="Segoe UI"/>
              </a:rPr>
              <a:t>Corporate Training Market Report</a:t>
            </a:r>
            <a:r>
              <a:rPr sz="1106" b="0" i="0">
                <a:solidFill>
                  <a:srgbClr val="5A6072"/>
                </a:solidFill>
                <a:latin typeface="Segoe UI"/>
              </a:rPr>
              <a:t> — https://www.grandviewresearch.com/industry-analysis/corporate-training-market-report</a:t>
            </a:r>
          </a:p>
        </p:txBody>
      </p:sp>
      <p:sp>
        <p:nvSpPr>
          <p:cNvPr id="20" name="Oval 19"/>
          <p:cNvSpPr/>
          <p:nvPr/>
        </p:nvSpPr>
        <p:spPr>
          <a:xfrm>
            <a:off x="585216" y="602404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959373"/>
            <a:ext cx="5099151" cy="466115"/>
          </a:xfrm>
          <a:prstGeom prst="rect">
            <a:avLst/>
          </a:prstGeom>
          <a:noFill/>
        </p:spPr>
        <p:txBody>
          <a:bodyPr wrap="square" lIns="0" rIns="0" tIns="0" bIns="0">
            <a:spAutoFit/>
          </a:bodyPr>
          <a:lstStyle/>
          <a:p>
            <a:r>
              <a:rPr sz="1106" b="0" i="0">
                <a:solidFill>
                  <a:srgbClr val="5A6072"/>
                </a:solidFill>
                <a:latin typeface="Segoe UI"/>
              </a:rPr>
              <a:t>Fortune Business Insights, </a:t>
            </a:r>
            <a:r>
              <a:rPr sz="1106" b="0" i="1">
                <a:solidFill>
                  <a:srgbClr val="5A6072"/>
                </a:solidFill>
                <a:latin typeface="Segoe UI"/>
              </a:rPr>
              <a:t>Private Tutoring Market</a:t>
            </a:r>
            <a:r>
              <a:rPr sz="1106" b="0" i="0">
                <a:solidFill>
                  <a:srgbClr val="5A6072"/>
                </a:solidFill>
                <a:latin typeface="Segoe UI"/>
              </a:rPr>
              <a:t> — https://www.fortunebusinessinsights.com/private-tutoring-market-104753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79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519607"/>
          </a:xfrm>
          <a:prstGeom prst="rect">
            <a:avLst/>
          </a:prstGeom>
          <a:noFill/>
        </p:spPr>
        <p:txBody>
          <a:bodyPr wrap="square" lIns="0" rIns="0" tIns="0" bIns="0">
            <a:spAutoFit/>
          </a:bodyPr>
          <a:lstStyle/>
          <a:p>
            <a:r>
              <a:rPr sz="1269" b="0" i="0">
                <a:solidFill>
                  <a:srgbClr val="5A6072"/>
                </a:solidFill>
                <a:latin typeface="Segoe UI"/>
              </a:rPr>
              <a:t>Mordor Intelligence, </a:t>
            </a:r>
            <a:r>
              <a:rPr sz="1269" b="0" i="1">
                <a:solidFill>
                  <a:srgbClr val="5A6072"/>
                </a:solidFill>
                <a:latin typeface="Segoe UI"/>
              </a:rPr>
              <a:t>Language Learning Market</a:t>
            </a:r>
            <a:r>
              <a:rPr sz="1269" b="0" i="0">
                <a:solidFill>
                  <a:srgbClr val="5A6072"/>
                </a:solidFill>
                <a:latin typeface="Segoe UI"/>
              </a:rPr>
              <a:t> — https://www.mordorintelligence.com/industry-reports/language-learning-market</a:t>
            </a:r>
          </a:p>
        </p:txBody>
      </p:sp>
      <p:sp>
        <p:nvSpPr>
          <p:cNvPr id="6" name="TextBox 5"/>
          <p:cNvSpPr txBox="1"/>
          <p:nvPr/>
        </p:nvSpPr>
        <p:spPr>
          <a:xfrm>
            <a:off x="566928" y="1653463"/>
            <a:ext cx="11057839" cy="355815"/>
          </a:xfrm>
          <a:prstGeom prst="rect">
            <a:avLst/>
          </a:prstGeom>
          <a:noFill/>
        </p:spPr>
        <p:txBody>
          <a:bodyPr wrap="square" lIns="0" rIns="0" tIns="0" bIns="0">
            <a:spAutoFit/>
          </a:bodyPr>
          <a:lstStyle/>
          <a:p>
            <a:r>
              <a:rPr sz="1269" b="1" i="0">
                <a:solidFill>
                  <a:srgbClr val="15192B"/>
                </a:solidFill>
                <a:latin typeface="Segoe UI"/>
              </a:rPr>
              <a:t>Cross-sector comparison and capital gap (Slide 1):</a:t>
            </a:r>
          </a:p>
        </p:txBody>
      </p:sp>
      <p:sp>
        <p:nvSpPr>
          <p:cNvPr id="7" name="Oval 6"/>
          <p:cNvSpPr/>
          <p:nvPr/>
        </p:nvSpPr>
        <p:spPr>
          <a:xfrm>
            <a:off x="585216" y="208341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09279"/>
            <a:ext cx="10820095" cy="519607"/>
          </a:xfrm>
          <a:prstGeom prst="rect">
            <a:avLst/>
          </a:prstGeom>
          <a:noFill/>
        </p:spPr>
        <p:txBody>
          <a:bodyPr wrap="square" lIns="0" rIns="0" tIns="0" bIns="0">
            <a:spAutoFit/>
          </a:bodyPr>
          <a:lstStyle/>
          <a:p>
            <a:r>
              <a:rPr sz="1269" b="0" i="0">
                <a:solidFill>
                  <a:srgbClr val="5A6072"/>
                </a:solidFill>
                <a:latin typeface="Segoe UI"/>
              </a:rPr>
              <a:t>WHO, </a:t>
            </a:r>
            <a:r>
              <a:rPr sz="1269" b="0" i="1">
                <a:solidFill>
                  <a:srgbClr val="5A6072"/>
                </a:solidFill>
                <a:latin typeface="Segoe UI"/>
              </a:rPr>
              <a:t>Global spending on health</a:t>
            </a:r>
            <a:r>
              <a:rPr sz="1269" b="0" i="0">
                <a:solidFill>
                  <a:srgbClr val="5A6072"/>
                </a:solidFill>
                <a:latin typeface="Segoe UI"/>
              </a:rPr>
              <a:t> (2024 report, data through 2022; $9.8T, 9.9% of global GDP) — https://www.who.int/teams/health-financing-and-economics/global-spending-on-health-report</a:t>
            </a:r>
          </a:p>
        </p:txBody>
      </p:sp>
      <p:sp>
        <p:nvSpPr>
          <p:cNvPr id="9" name="Oval 8"/>
          <p:cNvSpPr/>
          <p:nvPr/>
        </p:nvSpPr>
        <p:spPr>
          <a:xfrm>
            <a:off x="585216" y="26030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28887"/>
            <a:ext cx="10820095" cy="519607"/>
          </a:xfrm>
          <a:prstGeom prst="rect">
            <a:avLst/>
          </a:prstGeom>
          <a:noFill/>
        </p:spPr>
        <p:txBody>
          <a:bodyPr wrap="square" lIns="0" rIns="0" tIns="0" bIns="0">
            <a:spAutoFit/>
          </a:bodyPr>
          <a:lstStyle/>
          <a:p>
            <a:r>
              <a:rPr sz="1269" b="0" i="0">
                <a:solidFill>
                  <a:srgbClr val="5A6072"/>
                </a:solidFill>
                <a:latin typeface="Segoe UI"/>
              </a:rPr>
              <a:t>Gartner, </a:t>
            </a:r>
            <a:r>
              <a:rPr sz="1269" b="0" i="1">
                <a:solidFill>
                  <a:srgbClr val="5A6072"/>
                </a:solidFill>
                <a:latin typeface="Segoe UI"/>
              </a:rPr>
              <a:t>Worldwide IT Spending Forecast</a:t>
            </a:r>
            <a:r>
              <a:rPr sz="1269" b="0" i="0">
                <a:solidFill>
                  <a:srgbClr val="5A6072"/>
                </a:solidFill>
                <a:latin typeface="Segoe UI"/>
              </a:rPr>
              <a:t> ($5.43T, 2025) — https://www.gartner.com/en/newsroom/press-releases/2025-07-15-gartner-forecasts-worldwide-it-spending-to-grow-7-point-9-percent-in-2025</a:t>
            </a:r>
          </a:p>
        </p:txBody>
      </p:sp>
      <p:sp>
        <p:nvSpPr>
          <p:cNvPr id="11" name="Oval 10"/>
          <p:cNvSpPr/>
          <p:nvPr/>
        </p:nvSpPr>
        <p:spPr>
          <a:xfrm>
            <a:off x="585216" y="312263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8495"/>
            <a:ext cx="10820095" cy="519607"/>
          </a:xfrm>
          <a:prstGeom prst="rect">
            <a:avLst/>
          </a:prstGeom>
          <a:noFill/>
        </p:spPr>
        <p:txBody>
          <a:bodyPr wrap="square" lIns="0" rIns="0" tIns="0" bIns="0">
            <a:spAutoFit/>
          </a:bodyPr>
          <a:lstStyle/>
          <a:p>
            <a:r>
              <a:rPr sz="1269" b="0" i="0">
                <a:solidFill>
                  <a:srgbClr val="5A6072"/>
                </a:solidFill>
                <a:latin typeface="Segoe UI"/>
              </a:rPr>
              <a:t>SIPRI, </a:t>
            </a:r>
            <a:r>
              <a:rPr sz="1269" b="0" i="1">
                <a:solidFill>
                  <a:srgbClr val="5A6072"/>
                </a:solidFill>
                <a:latin typeface="Segoe UI"/>
              </a:rPr>
              <a:t>Trends in World Military Expenditure, 2024</a:t>
            </a:r>
            <a:r>
              <a:rPr sz="1269" b="0" i="0">
                <a:solidFill>
                  <a:srgbClr val="5A6072"/>
                </a:solidFill>
                <a:latin typeface="Segoe UI"/>
              </a:rPr>
              <a:t> ($2.718T) — https://www.sipri.org/publications/2025/sipri-fact-sheets/trends-world-military-expenditure-2024</a:t>
            </a:r>
          </a:p>
        </p:txBody>
      </p:sp>
      <p:sp>
        <p:nvSpPr>
          <p:cNvPr id="13" name="Oval 12"/>
          <p:cNvSpPr/>
          <p:nvPr/>
        </p:nvSpPr>
        <p:spPr>
          <a:xfrm>
            <a:off x="585216" y="364223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68103"/>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VC reached ~$2.4B for 2024, the lowest level of investment in a decade</a:t>
            </a:r>
            <a:r>
              <a:rPr sz="1269" b="0" i="0">
                <a:solidFill>
                  <a:srgbClr val="5A6072"/>
                </a:solidFill>
                <a:latin typeface="Segoe UI"/>
              </a:rPr>
              <a:t> — https://www.holoniq.com/notes/edtech-vc-reached-2-4b-for-2024-representing-the-lowest-level-of-investment-in-a-decade</a:t>
            </a:r>
          </a:p>
        </p:txBody>
      </p:sp>
      <p:sp>
        <p:nvSpPr>
          <p:cNvPr id="15" name="Oval 14"/>
          <p:cNvSpPr/>
          <p:nvPr/>
        </p:nvSpPr>
        <p:spPr>
          <a:xfrm>
            <a:off x="585216" y="41618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087710"/>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funding drops again in early 2025</a:t>
            </a:r>
            <a:r>
              <a:rPr sz="1269" b="0" i="0">
                <a:solidFill>
                  <a:srgbClr val="5A6072"/>
                </a:solidFill>
                <a:latin typeface="Segoe UI"/>
              </a:rPr>
              <a:t> — https://www.holoniq.com/notes/edtech-funding-drops-again-in-early-2025-fewer-deals-but-bigger-bets</a:t>
            </a:r>
          </a:p>
        </p:txBody>
      </p:sp>
      <p:sp>
        <p:nvSpPr>
          <p:cNvPr id="17" name="Oval 16"/>
          <p:cNvSpPr/>
          <p:nvPr/>
        </p:nvSpPr>
        <p:spPr>
          <a:xfrm>
            <a:off x="585216" y="468145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607318"/>
            <a:ext cx="10820095" cy="519607"/>
          </a:xfrm>
          <a:prstGeom prst="rect">
            <a:avLst/>
          </a:prstGeom>
          <a:noFill/>
        </p:spPr>
        <p:txBody>
          <a:bodyPr wrap="square" lIns="0" rIns="0" tIns="0" bIns="0">
            <a:spAutoFit/>
          </a:bodyPr>
          <a:lstStyle/>
          <a:p>
            <a:r>
              <a:rPr sz="1269" b="0" i="0">
                <a:solidFill>
                  <a:srgbClr val="5A6072"/>
                </a:solidFill>
                <a:latin typeface="Segoe UI"/>
              </a:rPr>
              <a:t>EdWeek Market Brief, </a:t>
            </a:r>
            <a:r>
              <a:rPr sz="1269" b="0" i="1">
                <a:solidFill>
                  <a:srgbClr val="5A6072"/>
                </a:solidFill>
                <a:latin typeface="Segoe UI"/>
              </a:rPr>
              <a:t>2024 Was the Worst Year for Ed-Tech VC Funding in a Decade</a:t>
            </a:r>
            <a:r>
              <a:rPr sz="1269" b="0" i="0">
                <a:solidFill>
                  <a:srgbClr val="5A6072"/>
                </a:solidFill>
                <a:latin typeface="Segoe UI"/>
              </a:rPr>
              <a:t> — https://marketbrief.edweek.org/financing-investment/2024-was-the-worst-year-for-ed-tech-vc-funding-in-a-decade-this-year-looks-even-worse/2025/05</a:t>
            </a:r>
          </a:p>
        </p:txBody>
      </p:sp>
      <p:sp>
        <p:nvSpPr>
          <p:cNvPr id="19" name="TextBox 18"/>
          <p:cNvSpPr txBox="1"/>
          <p:nvPr/>
        </p:nvSpPr>
        <p:spPr>
          <a:xfrm>
            <a:off x="566928" y="5126926"/>
            <a:ext cx="11057839" cy="774839"/>
          </a:xfrm>
          <a:prstGeom prst="rect">
            <a:avLst/>
          </a:prstGeom>
          <a:noFill/>
        </p:spPr>
        <p:txBody>
          <a:bodyPr wrap="square" lIns="0" rIns="0" tIns="0" bIns="0">
            <a:spAutoFit/>
          </a:bodyPr>
          <a:lstStyle/>
          <a:p>
            <a:r>
              <a:rPr sz="1269" b="1" i="0">
                <a:solidFill>
                  <a:srgbClr val="15192B"/>
                </a:solidFill>
                <a:latin typeface="Segoe UI"/>
              </a:rPr>
              <a:t>Caveat for diligence:</a:t>
            </a:r>
            <a:r>
              <a:rPr sz="1269" b="0" i="0">
                <a:solidFill>
                  <a:srgbClr val="5A6072"/>
                </a:solidFill>
                <a:latin typeface="Segoe UI"/>
              </a:rPr>
              <a:t> segment figures come from commercial market-research firms whose estimates vary widely by methodology (private tutoring alone is reported anywhere from ~$67B to ~$134B for 2025). The HolonIQ top-line and the U.S. government figures are the two most defensible numbers on Slide 1; lead with those and treat the rest as directional.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A8 — The same market, viewed from the United States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Moved off Slide 1 to keep it presentable. Use if an American angel asks for domestic figures.</a:t>
            </a:r>
          </a:p>
        </p:txBody>
      </p:sp>
      <p:graphicFrame>
        <p:nvGraphicFramePr>
          <p:cNvPr id="5" name="Table 4"/>
          <p:cNvGraphicFramePr>
            <a:graphicFrameLocks noGrp="1"/>
          </p:cNvGraphicFramePr>
          <p:nvPr/>
        </p:nvGraphicFramePr>
        <p:xfrm>
          <a:off x="566928" y="1503045"/>
          <a:ext cx="11057839" cy="1463040"/>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Segment</a:t>
                      </a:r>
                    </a:p>
                  </a:txBody>
                  <a:tcPr marL="82296" marR="64008" marT="32004" marB="32004" anchor="ctr">
                    <a:solidFill>
                      <a:srgbClr val="F4F5F9"/>
                    </a:solidFill>
                  </a:tcPr>
                </a:tc>
                <a:tc>
                  <a:txBody>
                    <a:bodyPr wrap="square"/>
                    <a:lstStyle/>
                    <a:p>
                      <a:r>
                        <a:rPr sz="1100" b="1">
                          <a:solidFill>
                            <a:srgbClr val="15192B"/>
                          </a:solidFill>
                          <a:latin typeface="Segoe UI"/>
                        </a:rPr>
                        <a:t>Annual spend</a:t>
                      </a:r>
                    </a:p>
                  </a:txBody>
                  <a:tcPr marL="82296" marR="64008" marT="32004" marB="32004" anchor="ctr">
                    <a:solidFill>
                      <a:srgbClr val="F4F5F9"/>
                    </a:solidFill>
                  </a:tcPr>
                </a:tc>
              </a:tr>
              <a:tr h="288036">
                <a:tc>
                  <a:txBody>
                    <a:bodyPr wrap="square"/>
                    <a:lstStyle/>
                    <a:p>
                      <a:r>
                        <a:rPr sz="1100" b="0" i="0">
                          <a:solidFill>
                            <a:srgbClr val="5A6072"/>
                          </a:solidFill>
                          <a:latin typeface="Segoe UI"/>
                        </a:rPr>
                        <a:t>U.S. K–12 public schools</a:t>
                      </a:r>
                    </a:p>
                  </a:txBody>
                  <a:tcPr marL="82296" marR="64008" marT="32004" marB="32004" anchor="ctr">
                    <a:solidFill>
                      <a:srgbClr val="FFFFFF"/>
                    </a:solidFill>
                  </a:tcPr>
                </a:tc>
                <a:tc>
                  <a:txBody>
                    <a:bodyPr wrap="square"/>
                    <a:lstStyle/>
                    <a:p>
                      <a:r>
                        <a:rPr sz="1100" b="1" i="0">
                          <a:solidFill>
                            <a:srgbClr val="15192B"/>
                          </a:solidFill>
                          <a:latin typeface="Segoe UI"/>
                        </a:rPr>
                        <a:t>~$1.0T</a:t>
                      </a:r>
                      <a:r>
                        <a:rPr sz="1100" b="0" i="0">
                          <a:solidFill>
                            <a:srgbClr val="5A6072"/>
                          </a:solidFill>
                          <a:latin typeface="Segoe UI"/>
                        </a:rPr>
                        <a:t> (FY2024, first year over $1T; ~$17.6K per pupil)</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higher education institutions</a:t>
                      </a:r>
                    </a:p>
                  </a:txBody>
                  <a:tcPr marL="82296" marR="64008" marT="32004" marB="32004" anchor="ctr">
                    <a:solidFill>
                      <a:srgbClr val="FFFFFF"/>
                    </a:solidFill>
                  </a:tcPr>
                </a:tc>
                <a:tc>
                  <a:txBody>
                    <a:bodyPr wrap="square"/>
                    <a:lstStyle/>
                    <a:p>
                      <a:r>
                        <a:rPr sz="1100" b="1" i="0">
                          <a:solidFill>
                            <a:srgbClr val="15192B"/>
                          </a:solidFill>
                          <a:latin typeface="Segoe UI"/>
                        </a:rPr>
                        <a:t>~$712B</a:t>
                      </a:r>
                      <a:r>
                        <a:rPr sz="1100" b="0" i="0">
                          <a:solidFill>
                            <a:srgbClr val="5A6072"/>
                          </a:solidFill>
                          <a:latin typeface="Segoe UI"/>
                        </a:rPr>
                        <a:t> total institutional expenditure</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corporate &amp; workplace training</a:t>
                      </a:r>
                    </a:p>
                  </a:txBody>
                  <a:tcPr marL="82296" marR="64008" marT="32004" marB="32004" anchor="ctr">
                    <a:solidFill>
                      <a:srgbClr val="FFFFFF"/>
                    </a:solidFill>
                  </a:tcPr>
                </a:tc>
                <a:tc>
                  <a:txBody>
                    <a:bodyPr wrap="square"/>
                    <a:lstStyle/>
                    <a:p>
                      <a:r>
                        <a:rPr sz="1100" b="0" i="0">
                          <a:solidFill>
                            <a:srgbClr val="5A6072"/>
                          </a:solidFill>
                          <a:latin typeface="Segoe UI"/>
                        </a:rPr>
                        <a:t>~$100B</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private tutoring</a:t>
                      </a:r>
                    </a:p>
                  </a:txBody>
                  <a:tcPr marL="82296" marR="64008" marT="32004" marB="32004" anchor="ctr">
                    <a:solidFill>
                      <a:srgbClr val="FFFFFF"/>
                    </a:solidFill>
                  </a:tcPr>
                </a:tc>
                <a:tc>
                  <a:txBody>
                    <a:bodyPr wrap="square"/>
                    <a:lstStyle/>
                    <a:p>
                      <a:r>
                        <a:rPr sz="1100" b="0" i="0">
                          <a:solidFill>
                            <a:srgbClr val="5A6072"/>
                          </a:solidFill>
                          <a:latin typeface="Segoe UI"/>
                        </a:rPr>
                        <a:t>~$30B and growing double digits</a:t>
                      </a:r>
                    </a:p>
                  </a:txBody>
                  <a:tcPr marL="82296" marR="64008" marT="32004" marB="32004"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511835"/>
          </a:xfrm>
          <a:prstGeom prst="rect">
            <a:avLst/>
          </a:prstGeom>
          <a:noFill/>
        </p:spPr>
        <p:txBody>
          <a:bodyPr wrap="square" lIns="0" rIns="0" tIns="0" bIns="0">
            <a:spAutoFit/>
          </a:bodyPr>
          <a:lstStyle/>
          <a:p>
            <a:r>
              <a:rPr sz="1106" b="0" i="0">
                <a:solidFill>
                  <a:srgbClr val="5A6072"/>
                </a:solidFill>
                <a:latin typeface="Segoe UI"/>
              </a:rPr>
              <a:t>Working material behind Slide 9. </a:t>
            </a:r>
            <a:r>
              <a:rPr sz="1106" b="1" i="0">
                <a:solidFill>
                  <a:srgbClr val="15192B"/>
                </a:solidFill>
                <a:latin typeface="Segoe UI"/>
              </a:rPr>
              <a:t>Direct-pay parents and learners — no procurement cycle:</a:t>
            </a:r>
          </a:p>
        </p:txBody>
      </p:sp>
      <p:sp>
        <p:nvSpPr>
          <p:cNvPr id="5" name="Oval 4"/>
          <p:cNvSpPr/>
          <p:nvPr/>
        </p:nvSpPr>
        <p:spPr>
          <a:xfrm>
            <a:off x="585216" y="171036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645691"/>
            <a:ext cx="5099151" cy="466115"/>
          </a:xfrm>
          <a:prstGeom prst="rect">
            <a:avLst/>
          </a:prstGeom>
          <a:noFill/>
        </p:spPr>
        <p:txBody>
          <a:bodyPr wrap="square" lIns="0" rIns="0" tIns="0" bIns="0">
            <a:spAutoFit/>
          </a:bodyPr>
          <a:lstStyle/>
          <a:p>
            <a:r>
              <a:rPr sz="1106" b="1" i="0">
                <a:solidFill>
                  <a:srgbClr val="15192B"/>
                </a:solidFill>
                <a:latin typeface="Segoe UI"/>
              </a:rPr>
              <a:t>Homeschool families</a:t>
            </a:r>
            <a:r>
              <a:rPr sz="1106" b="0" i="0">
                <a:solidFill>
                  <a:srgbClr val="5A6072"/>
                </a:solidFill>
                <a:latin typeface="Segoe UI"/>
              </a:rPr>
              <a:t> — buy curriculum directly, need many subjects across many grade levels</a:t>
            </a:r>
          </a:p>
        </p:txBody>
      </p:sp>
      <p:sp>
        <p:nvSpPr>
          <p:cNvPr id="7" name="Oval 6"/>
          <p:cNvSpPr/>
          <p:nvPr/>
        </p:nvSpPr>
        <p:spPr>
          <a:xfrm>
            <a:off x="585216" y="217647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111806"/>
            <a:ext cx="5099151" cy="466115"/>
          </a:xfrm>
          <a:prstGeom prst="rect">
            <a:avLst/>
          </a:prstGeom>
          <a:noFill/>
        </p:spPr>
        <p:txBody>
          <a:bodyPr wrap="square" lIns="0" rIns="0" tIns="0" bIns="0">
            <a:spAutoFit/>
          </a:bodyPr>
          <a:lstStyle/>
          <a:p>
            <a:r>
              <a:rPr sz="1106" b="1" i="0">
                <a:solidFill>
                  <a:srgbClr val="15192B"/>
                </a:solidFill>
                <a:latin typeface="Segoe UI"/>
              </a:rPr>
              <a:t>Homeschool co-ops &amp; microschools</a:t>
            </a:r>
            <a:r>
              <a:rPr sz="1106" b="0" i="0">
                <a:solidFill>
                  <a:srgbClr val="5A6072"/>
                </a:solidFill>
                <a:latin typeface="Segoe UI"/>
              </a:rPr>
              <a:t> — same buyer, multi-seat, higher ACV</a:t>
            </a:r>
          </a:p>
        </p:txBody>
      </p:sp>
      <p:sp>
        <p:nvSpPr>
          <p:cNvPr id="9" name="Oval 8"/>
          <p:cNvSpPr/>
          <p:nvPr/>
        </p:nvSpPr>
        <p:spPr>
          <a:xfrm>
            <a:off x="585216" y="26425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77922"/>
            <a:ext cx="5099151" cy="466115"/>
          </a:xfrm>
          <a:prstGeom prst="rect">
            <a:avLst/>
          </a:prstGeom>
          <a:noFill/>
        </p:spPr>
        <p:txBody>
          <a:bodyPr wrap="square" lIns="0" rIns="0" tIns="0" bIns="0">
            <a:spAutoFit/>
          </a:bodyPr>
          <a:lstStyle/>
          <a:p>
            <a:r>
              <a:rPr sz="1106" b="1" i="0">
                <a:solidFill>
                  <a:srgbClr val="15192B"/>
                </a:solidFill>
                <a:latin typeface="Segoe UI"/>
              </a:rPr>
              <a:t>Supplementary learning for traditional-school parents</a:t>
            </a:r>
            <a:r>
              <a:rPr sz="1106" b="0" i="0">
                <a:solidFill>
                  <a:srgbClr val="5A6072"/>
                </a:solidFill>
                <a:latin typeface="Segoe UI"/>
              </a:rPr>
              <a:t> — math and science alongside school</a:t>
            </a:r>
          </a:p>
        </p:txBody>
      </p:sp>
      <p:sp>
        <p:nvSpPr>
          <p:cNvPr id="11" name="Oval 10"/>
          <p:cNvSpPr/>
          <p:nvPr/>
        </p:nvSpPr>
        <p:spPr>
          <a:xfrm>
            <a:off x="585216" y="31087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4037"/>
            <a:ext cx="5099151" cy="466115"/>
          </a:xfrm>
          <a:prstGeom prst="rect">
            <a:avLst/>
          </a:prstGeom>
          <a:noFill/>
        </p:spPr>
        <p:txBody>
          <a:bodyPr wrap="square" lIns="0" rIns="0" tIns="0" bIns="0">
            <a:spAutoFit/>
          </a:bodyPr>
          <a:lstStyle/>
          <a:p>
            <a:r>
              <a:rPr sz="1106" b="1" i="0">
                <a:solidFill>
                  <a:srgbClr val="15192B"/>
                </a:solidFill>
                <a:latin typeface="Segoe UI"/>
              </a:rPr>
              <a:t>GED preparation</a:t>
            </a:r>
            <a:r>
              <a:rPr sz="1106" b="0" i="0">
                <a:solidFill>
                  <a:srgbClr val="5A6072"/>
                </a:solidFill>
                <a:latin typeface="Segoe UI"/>
              </a:rPr>
              <a:t> — adult learners with genuine, diagnosable prerequisite gaps</a:t>
            </a:r>
          </a:p>
        </p:txBody>
      </p:sp>
      <p:sp>
        <p:nvSpPr>
          <p:cNvPr id="13" name="Oval 12"/>
          <p:cNvSpPr/>
          <p:nvPr/>
        </p:nvSpPr>
        <p:spPr>
          <a:xfrm>
            <a:off x="585216" y="35748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10152"/>
            <a:ext cx="5099151" cy="466115"/>
          </a:xfrm>
          <a:prstGeom prst="rect">
            <a:avLst/>
          </a:prstGeom>
          <a:noFill/>
        </p:spPr>
        <p:txBody>
          <a:bodyPr wrap="square" lIns="0" rIns="0" tIns="0" bIns="0">
            <a:spAutoFit/>
          </a:bodyPr>
          <a:lstStyle/>
          <a:p>
            <a:r>
              <a:rPr sz="1106" b="1" i="0">
                <a:solidFill>
                  <a:srgbClr val="15192B"/>
                </a:solidFill>
                <a:latin typeface="Segoe UI"/>
              </a:rPr>
              <a:t>Gifted / accelerated learners</a:t>
            </a:r>
            <a:r>
              <a:rPr sz="1106" b="0" i="0">
                <a:solidFill>
                  <a:srgbClr val="5A6072"/>
                </a:solidFill>
                <a:latin typeface="Segoe UI"/>
              </a:rPr>
              <a:t> — need to move fast through prerequisites, not slowly</a:t>
            </a:r>
          </a:p>
        </p:txBody>
      </p:sp>
      <p:sp>
        <p:nvSpPr>
          <p:cNvPr id="15" name="Oval 14"/>
          <p:cNvSpPr/>
          <p:nvPr/>
        </p:nvSpPr>
        <p:spPr>
          <a:xfrm>
            <a:off x="585216" y="4040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976268"/>
            <a:ext cx="5099151" cy="283349"/>
          </a:xfrm>
          <a:prstGeom prst="rect">
            <a:avLst/>
          </a:prstGeom>
          <a:noFill/>
        </p:spPr>
        <p:txBody>
          <a:bodyPr wrap="square" lIns="0" rIns="0" tIns="0" bIns="0">
            <a:spAutoFit/>
          </a:bodyPr>
          <a:lstStyle/>
          <a:p>
            <a:r>
              <a:rPr sz="1106" b="1" i="0">
                <a:solidFill>
                  <a:srgbClr val="15192B"/>
                </a:solidFill>
                <a:latin typeface="Segoe UI"/>
              </a:rPr>
              <a:t>Test prep</a:t>
            </a:r>
            <a:r>
              <a:rPr sz="1106" b="0" i="0">
                <a:solidFill>
                  <a:srgbClr val="5A6072"/>
                </a:solidFill>
                <a:latin typeface="Segoe UI"/>
              </a:rPr>
              <a:t> — SAT/ACT, GRE, MCAT, LSAT</a:t>
            </a:r>
          </a:p>
        </p:txBody>
      </p:sp>
      <p:sp>
        <p:nvSpPr>
          <p:cNvPr id="17" name="Oval 16"/>
          <p:cNvSpPr/>
          <p:nvPr/>
        </p:nvSpPr>
        <p:spPr>
          <a:xfrm>
            <a:off x="585216" y="4324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259618"/>
            <a:ext cx="5099151" cy="283349"/>
          </a:xfrm>
          <a:prstGeom prst="rect">
            <a:avLst/>
          </a:prstGeom>
          <a:noFill/>
        </p:spPr>
        <p:txBody>
          <a:bodyPr wrap="square" lIns="0" rIns="0" tIns="0" bIns="0">
            <a:spAutoFit/>
          </a:bodyPr>
          <a:lstStyle/>
          <a:p>
            <a:r>
              <a:rPr sz="1106" b="1" i="0">
                <a:solidFill>
                  <a:srgbClr val="15192B"/>
                </a:solidFill>
                <a:latin typeface="Segoe UI"/>
              </a:rPr>
              <a:t>Adult career changers</a:t>
            </a:r>
            <a:r>
              <a:rPr sz="1106" b="0" i="0">
                <a:solidFill>
                  <a:srgbClr val="5A6072"/>
                </a:solidFill>
                <a:latin typeface="Segoe UI"/>
              </a:rPr>
              <a:t> — self-funded, outcome-motivated</a:t>
            </a:r>
          </a:p>
        </p:txBody>
      </p:sp>
      <p:sp>
        <p:nvSpPr>
          <p:cNvPr id="19" name="TextBox 18"/>
          <p:cNvSpPr txBox="1"/>
          <p:nvPr/>
        </p:nvSpPr>
        <p:spPr>
          <a:xfrm>
            <a:off x="566928" y="4542967"/>
            <a:ext cx="5336895" cy="511835"/>
          </a:xfrm>
          <a:prstGeom prst="rect">
            <a:avLst/>
          </a:prstGeom>
          <a:noFill/>
        </p:spPr>
        <p:txBody>
          <a:bodyPr wrap="square" lIns="0" rIns="0" tIns="0" bIns="0">
            <a:spAutoFit/>
          </a:bodyPr>
          <a:lstStyle/>
          <a:p>
            <a:r>
              <a:rPr sz="1106" b="1" i="0">
                <a:solidFill>
                  <a:srgbClr val="15192B"/>
                </a:solidFill>
                <a:latin typeface="Segoe UI"/>
              </a:rPr>
              <a:t>Credential-driven buyers — clear outcome, high willingness to pay:</a:t>
            </a:r>
          </a:p>
        </p:txBody>
      </p:sp>
      <p:sp>
        <p:nvSpPr>
          <p:cNvPr id="20" name="Oval 19"/>
          <p:cNvSpPr/>
          <p:nvPr/>
        </p:nvSpPr>
        <p:spPr>
          <a:xfrm>
            <a:off x="585216" y="51194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54803"/>
            <a:ext cx="5099151" cy="466115"/>
          </a:xfrm>
          <a:prstGeom prst="rect">
            <a:avLst/>
          </a:prstGeom>
          <a:noFill/>
        </p:spPr>
        <p:txBody>
          <a:bodyPr wrap="square" lIns="0" rIns="0" tIns="0" bIns="0">
            <a:spAutoFit/>
          </a:bodyPr>
          <a:lstStyle/>
          <a:p>
            <a:r>
              <a:rPr sz="1106" b="1" i="0">
                <a:solidFill>
                  <a:srgbClr val="15192B"/>
                </a:solidFill>
                <a:latin typeface="Segoe UI"/>
              </a:rPr>
              <a:t>Professional licensure</a:t>
            </a:r>
            <a:r>
              <a:rPr sz="1106" b="0" i="0">
                <a:solidFill>
                  <a:srgbClr val="5A6072"/>
                </a:solidFill>
                <a:latin typeface="Segoe UI"/>
              </a:rPr>
              <a:t> — CPA, bar, NCLEX/nursing, PE, actuarial, real estate, insurance</a:t>
            </a:r>
          </a:p>
        </p:txBody>
      </p:sp>
      <p:sp>
        <p:nvSpPr>
          <p:cNvPr id="22" name="Oval 21"/>
          <p:cNvSpPr/>
          <p:nvPr/>
        </p:nvSpPr>
        <p:spPr>
          <a:xfrm>
            <a:off x="585216" y="55855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20918"/>
            <a:ext cx="5099151" cy="466115"/>
          </a:xfrm>
          <a:prstGeom prst="rect">
            <a:avLst/>
          </a:prstGeom>
          <a:noFill/>
        </p:spPr>
        <p:txBody>
          <a:bodyPr wrap="square" lIns="0" rIns="0" tIns="0" bIns="0">
            <a:spAutoFit/>
          </a:bodyPr>
          <a:lstStyle/>
          <a:p>
            <a:r>
              <a:rPr sz="1106" b="1" i="0">
                <a:solidFill>
                  <a:srgbClr val="15192B"/>
                </a:solidFill>
                <a:latin typeface="Segoe UI"/>
              </a:rPr>
              <a:t>IT &amp; cloud certification</a:t>
            </a:r>
            <a:r>
              <a:rPr sz="1106" b="0" i="0">
                <a:solidFill>
                  <a:srgbClr val="5A6072"/>
                </a:solidFill>
                <a:latin typeface="Segoe UI"/>
              </a:rPr>
              <a:t> — AWS, Azure, CompTIA, Cisco, security</a:t>
            </a:r>
          </a:p>
        </p:txBody>
      </p:sp>
      <p:sp>
        <p:nvSpPr>
          <p:cNvPr id="24" name="Oval 23"/>
          <p:cNvSpPr/>
          <p:nvPr/>
        </p:nvSpPr>
        <p:spPr>
          <a:xfrm>
            <a:off x="585216" y="605170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987033"/>
            <a:ext cx="5099151" cy="283349"/>
          </a:xfrm>
          <a:prstGeom prst="rect">
            <a:avLst/>
          </a:prstGeom>
          <a:noFill/>
        </p:spPr>
        <p:txBody>
          <a:bodyPr wrap="square" lIns="0" rIns="0" tIns="0" bIns="0">
            <a:spAutoFit/>
          </a:bodyPr>
          <a:lstStyle/>
          <a:p>
            <a:r>
              <a:rPr sz="1106" b="1" i="0">
                <a:solidFill>
                  <a:srgbClr val="15192B"/>
                </a:solidFill>
                <a:latin typeface="Segoe UI"/>
              </a:rPr>
              <a:t>Trades &amp; vocational</a:t>
            </a:r>
            <a:r>
              <a:rPr sz="1106" b="0" i="0">
                <a:solidFill>
                  <a:srgbClr val="5A6072"/>
                </a:solidFill>
                <a:latin typeface="Segoe UI"/>
              </a:rPr>
              <a:t> — HVAC, electrical, welding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32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296722"/>
          </a:xfrm>
          <a:prstGeom prst="rect">
            <a:avLst/>
          </a:prstGeom>
          <a:noFill/>
        </p:spPr>
        <p:txBody>
          <a:bodyPr wrap="square" lIns="0" rIns="0" tIns="0" bIns="0">
            <a:spAutoFit/>
          </a:bodyPr>
          <a:lstStyle/>
          <a:p>
            <a:r>
              <a:rPr sz="1188" b="1" i="0">
                <a:solidFill>
                  <a:srgbClr val="15192B"/>
                </a:solidFill>
                <a:latin typeface="Segoe UI"/>
              </a:rPr>
              <a:t>Continuing education</a:t>
            </a:r>
            <a:r>
              <a:rPr sz="1188" b="0" i="0">
                <a:solidFill>
                  <a:srgbClr val="5A6072"/>
                </a:solidFill>
                <a:latin typeface="Segoe UI"/>
              </a:rPr>
              <a:t> — CME, CLE, CPE</a:t>
            </a:r>
          </a:p>
        </p:txBody>
      </p:sp>
      <p:sp>
        <p:nvSpPr>
          <p:cNvPr id="6" name="TextBox 5"/>
          <p:cNvSpPr txBox="1"/>
          <p:nvPr/>
        </p:nvSpPr>
        <p:spPr>
          <a:xfrm>
            <a:off x="566928" y="1430578"/>
            <a:ext cx="11057839" cy="342442"/>
          </a:xfrm>
          <a:prstGeom prst="rect">
            <a:avLst/>
          </a:prstGeom>
          <a:noFill/>
        </p:spPr>
        <p:txBody>
          <a:bodyPr wrap="square" lIns="0" rIns="0" tIns="0" bIns="0">
            <a:spAutoFit/>
          </a:bodyPr>
          <a:lstStyle/>
          <a:p>
            <a:r>
              <a:rPr sz="1188" b="1" i="0">
                <a:solidFill>
                  <a:srgbClr val="15192B"/>
                </a:solidFill>
                <a:latin typeface="Segoe UI"/>
              </a:rPr>
              <a:t>Supply-side / platform:</a:t>
            </a:r>
          </a:p>
        </p:txBody>
      </p:sp>
      <p:sp>
        <p:nvSpPr>
          <p:cNvPr id="7" name="Oval 6"/>
          <p:cNvSpPr/>
          <p:nvPr/>
        </p:nvSpPr>
        <p:spPr>
          <a:xfrm>
            <a:off x="585216" y="184242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73021"/>
            <a:ext cx="10820095" cy="492861"/>
          </a:xfrm>
          <a:prstGeom prst="rect">
            <a:avLst/>
          </a:prstGeom>
          <a:noFill/>
        </p:spPr>
        <p:txBody>
          <a:bodyPr wrap="square" lIns="0" rIns="0" tIns="0" bIns="0">
            <a:spAutoFit/>
          </a:bodyPr>
          <a:lstStyle/>
          <a:p>
            <a:r>
              <a:rPr sz="1188" b="1" i="0">
                <a:solidFill>
                  <a:srgbClr val="15192B"/>
                </a:solidFill>
                <a:latin typeface="Segoe UI"/>
              </a:rPr>
              <a:t>Domain experts publishing their own schools</a:t>
            </a:r>
            <a:r>
              <a:rPr sz="1188" b="0" i="0">
                <a:solidFill>
                  <a:srgbClr val="5A6072"/>
                </a:solidFill>
                <a:latin typeface="Segoe UI"/>
              </a:rPr>
              <a:t> — the expert brings expertise, Qlaudia does the production. </a:t>
            </a:r>
            <a:r>
              <a:rPr sz="1188" b="0" i="0">
                <a:solidFill>
                  <a:srgbClr val="5A6072"/>
                </a:solidFill>
                <a:latin typeface="Consolas"/>
              </a:rPr>
              <a:t>School</a:t>
            </a:r>
            <a:r>
              <a:rPr sz="1188" b="0" i="0">
                <a:solidFill>
                  <a:srgbClr val="5A6072"/>
                </a:solidFill>
                <a:latin typeface="Segoe UI"/>
              </a:rPr>
              <a:t> nodes and per-school course listings already exist in the data model</a:t>
            </a:r>
          </a:p>
        </p:txBody>
      </p:sp>
      <p:sp>
        <p:nvSpPr>
          <p:cNvPr id="9" name="Oval 8"/>
          <p:cNvSpPr/>
          <p:nvPr/>
        </p:nvSpPr>
        <p:spPr>
          <a:xfrm>
            <a:off x="585216" y="233528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265883"/>
            <a:ext cx="10820095" cy="296722"/>
          </a:xfrm>
          <a:prstGeom prst="rect">
            <a:avLst/>
          </a:prstGeom>
          <a:noFill/>
        </p:spPr>
        <p:txBody>
          <a:bodyPr wrap="square" lIns="0" rIns="0" tIns="0" bIns="0">
            <a:spAutoFit/>
          </a:bodyPr>
          <a:lstStyle/>
          <a:p>
            <a:r>
              <a:rPr sz="1188" b="1" i="0">
                <a:solidFill>
                  <a:srgbClr val="15192B"/>
                </a:solidFill>
                <a:latin typeface="Segoe UI"/>
              </a:rPr>
              <a:t>Tutoring companies</a:t>
            </a:r>
            <a:r>
              <a:rPr sz="1188" b="0" i="0">
                <a:solidFill>
                  <a:srgbClr val="5A6072"/>
                </a:solidFill>
                <a:latin typeface="Segoe UI"/>
              </a:rPr>
              <a:t> — sell them the curriculum engine rather than compete with them</a:t>
            </a:r>
          </a:p>
        </p:txBody>
      </p:sp>
      <p:sp>
        <p:nvSpPr>
          <p:cNvPr id="11" name="Oval 10"/>
          <p:cNvSpPr/>
          <p:nvPr/>
        </p:nvSpPr>
        <p:spPr>
          <a:xfrm>
            <a:off x="585216" y="26320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562606"/>
            <a:ext cx="10820095" cy="296722"/>
          </a:xfrm>
          <a:prstGeom prst="rect">
            <a:avLst/>
          </a:prstGeom>
          <a:noFill/>
        </p:spPr>
        <p:txBody>
          <a:bodyPr wrap="square" lIns="0" rIns="0" tIns="0" bIns="0">
            <a:spAutoFit/>
          </a:bodyPr>
          <a:lstStyle/>
          <a:p>
            <a:r>
              <a:rPr sz="1188" b="1" i="0">
                <a:solidFill>
                  <a:srgbClr val="15192B"/>
                </a:solidFill>
                <a:latin typeface="Segoe UI"/>
              </a:rPr>
              <a:t>Publishers &amp; platforms</a:t>
            </a:r>
            <a:r>
              <a:rPr sz="1188" b="0" i="0">
                <a:solidFill>
                  <a:srgbClr val="5A6072"/>
                </a:solidFill>
                <a:latin typeface="Segoe UI"/>
              </a:rPr>
              <a:t> — generation-engine API licensing</a:t>
            </a:r>
          </a:p>
        </p:txBody>
      </p:sp>
      <p:sp>
        <p:nvSpPr>
          <p:cNvPr id="13" name="TextBox 12"/>
          <p:cNvSpPr txBox="1"/>
          <p:nvPr/>
        </p:nvSpPr>
        <p:spPr>
          <a:xfrm>
            <a:off x="566928" y="2859328"/>
            <a:ext cx="11057839" cy="342442"/>
          </a:xfrm>
          <a:prstGeom prst="rect">
            <a:avLst/>
          </a:prstGeom>
          <a:noFill/>
        </p:spPr>
        <p:txBody>
          <a:bodyPr wrap="square" lIns="0" rIns="0" tIns="0" bIns="0">
            <a:spAutoFit/>
          </a:bodyPr>
          <a:lstStyle/>
          <a:p>
            <a:r>
              <a:rPr sz="1188" b="1" i="0">
                <a:solidFill>
                  <a:srgbClr val="15192B"/>
                </a:solidFill>
                <a:latin typeface="Segoe UI"/>
              </a:rPr>
              <a:t>Institutional — long cycles, deliberately deferred:</a:t>
            </a:r>
          </a:p>
        </p:txBody>
      </p:sp>
      <p:sp>
        <p:nvSpPr>
          <p:cNvPr id="14" name="Oval 13"/>
          <p:cNvSpPr/>
          <p:nvPr/>
        </p:nvSpPr>
        <p:spPr>
          <a:xfrm>
            <a:off x="585216" y="32711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01771"/>
            <a:ext cx="10820095" cy="492861"/>
          </a:xfrm>
          <a:prstGeom prst="rect">
            <a:avLst/>
          </a:prstGeom>
          <a:noFill/>
        </p:spPr>
        <p:txBody>
          <a:bodyPr wrap="square" lIns="0" rIns="0" tIns="0" bIns="0">
            <a:spAutoFit/>
          </a:bodyPr>
          <a:lstStyle/>
          <a:p>
            <a:r>
              <a:rPr sz="1188" b="0" i="0">
                <a:solidFill>
                  <a:srgbClr val="5A6072"/>
                </a:solidFill>
                <a:latin typeface="Segoe UI"/>
              </a:rPr>
              <a:t>K–12 districts · community college developmental ed · university gateway-course remediation · corporate L&amp;D on proprietary internal domains · special education, where prerequisite structure </a:t>
            </a:r>
            <a:r>
              <a:rPr sz="1188" b="0" i="1">
                <a:solidFill>
                  <a:srgbClr val="5A6072"/>
                </a:solidFill>
                <a:latin typeface="Segoe UI"/>
              </a:rPr>
              <a:t>is</a:t>
            </a:r>
            <a:r>
              <a:rPr sz="1188" b="0" i="0">
                <a:solidFill>
                  <a:srgbClr val="5A6072"/>
                </a:solidFill>
                <a:latin typeface="Segoe UI"/>
              </a:rPr>
              <a:t> the pedagogical requirement</a:t>
            </a:r>
          </a:p>
        </p:txBody>
      </p:sp>
      <p:sp>
        <p:nvSpPr>
          <p:cNvPr id="16" name="TextBox 15"/>
          <p:cNvSpPr txBox="1"/>
          <p:nvPr/>
        </p:nvSpPr>
        <p:spPr>
          <a:xfrm>
            <a:off x="566928" y="3694633"/>
            <a:ext cx="11057839" cy="538581"/>
          </a:xfrm>
          <a:prstGeom prst="rect">
            <a:avLst/>
          </a:prstGeom>
          <a:noFill/>
        </p:spPr>
        <p:txBody>
          <a:bodyPr wrap="square" lIns="0" rIns="0" tIns="0" bIns="0">
            <a:spAutoFit/>
          </a:bodyPr>
          <a:lstStyle/>
          <a:p>
            <a:r>
              <a:rPr sz="1188" b="1" i="0">
                <a:solidFill>
                  <a:srgbClr val="15192B"/>
                </a:solidFill>
                <a:latin typeface="Segoe UI"/>
              </a:rPr>
              <a:t>Alternative pricing motions:</a:t>
            </a:r>
            <a:r>
              <a:rPr sz="1188" b="0" i="0">
                <a:solidFill>
                  <a:srgbClr val="5A6072"/>
                </a:solidFill>
                <a:latin typeface="Segoe UI"/>
              </a:rPr>
              <a:t> B2B2C institutional licensing · enterprise training seats · generation-engine API licensing · marketplace revenue share on expert-published schools · patent licensing of either invention independently.</a:t>
            </a:r>
          </a:p>
        </p:txBody>
      </p:sp>
      <p:sp>
        <p:nvSpPr>
          <p:cNvPr id="17" name="TextBox 16"/>
          <p:cNvSpPr txBox="1"/>
          <p:nvPr/>
        </p:nvSpPr>
        <p:spPr>
          <a:xfrm>
            <a:off x="566928" y="4233214"/>
            <a:ext cx="11057839" cy="342442"/>
          </a:xfrm>
          <a:prstGeom prst="rect">
            <a:avLst/>
          </a:prstGeom>
          <a:noFill/>
        </p:spPr>
        <p:txBody>
          <a:bodyPr wrap="square" lIns="0" rIns="0" tIns="0" bIns="0">
            <a:spAutoFit/>
          </a:bodyPr>
          <a:lstStyle/>
          <a:p>
            <a:r>
              <a:rPr sz="1188" b="1" i="0">
                <a:solidFill>
                  <a:srgbClr val="15192B"/>
                </a:solidFill>
                <a:latin typeface="Segoe UI"/>
              </a:rPr>
              <a:t>Why not the three alternatives most often raised:</a:t>
            </a:r>
          </a:p>
        </p:txBody>
      </p:sp>
      <p:sp>
        <p:nvSpPr>
          <p:cNvPr id="18" name="Oval 17"/>
          <p:cNvSpPr/>
          <p:nvPr/>
        </p:nvSpPr>
        <p:spPr>
          <a:xfrm>
            <a:off x="585216" y="464506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75657"/>
            <a:ext cx="10820095" cy="492861"/>
          </a:xfrm>
          <a:prstGeom prst="rect">
            <a:avLst/>
          </a:prstGeom>
          <a:noFill/>
        </p:spPr>
        <p:txBody>
          <a:bodyPr wrap="square" lIns="0" rIns="0" tIns="0" bIns="0">
            <a:spAutoFit/>
          </a:bodyPr>
          <a:lstStyle/>
          <a:p>
            <a:r>
              <a:rPr sz="1188" b="1" i="0">
                <a:solidFill>
                  <a:srgbClr val="15192B"/>
                </a:solidFill>
                <a:latin typeface="Segoe UI"/>
              </a:rPr>
              <a:t>Supplementary for traditional-school parents</a:t>
            </a:r>
            <a:r>
              <a:rPr sz="1188" b="0" i="0">
                <a:solidFill>
                  <a:srgbClr val="5A6072"/>
                </a:solidFill>
                <a:latin typeface="Segoe UI"/>
              </a:rPr>
              <a:t> — larger, but the subject is fixed by the school so breadth stops mattering, and it competes head-on with free Khan Academy and entrenched IXL. High CAC, crowded.</a:t>
            </a:r>
          </a:p>
        </p:txBody>
      </p:sp>
      <p:sp>
        <p:nvSpPr>
          <p:cNvPr id="20" name="Oval 19"/>
          <p:cNvSpPr/>
          <p:nvPr/>
        </p:nvSpPr>
        <p:spPr>
          <a:xfrm>
            <a:off x="585216" y="51379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68519"/>
            <a:ext cx="10820095" cy="492861"/>
          </a:xfrm>
          <a:prstGeom prst="rect">
            <a:avLst/>
          </a:prstGeom>
          <a:noFill/>
        </p:spPr>
        <p:txBody>
          <a:bodyPr wrap="square" lIns="0" rIns="0" tIns="0" bIns="0">
            <a:spAutoFit/>
          </a:bodyPr>
          <a:lstStyle/>
          <a:p>
            <a:r>
              <a:rPr sz="1188" b="1" i="0">
                <a:solidFill>
                  <a:srgbClr val="15192B"/>
                </a:solidFill>
                <a:latin typeface="Segoe UI"/>
              </a:rPr>
              <a:t>GED prep</a:t>
            </a:r>
            <a:r>
              <a:rPr sz="1188" b="0" i="0">
                <a:solidFill>
                  <a:srgbClr val="5A6072"/>
                </a:solidFill>
                <a:latin typeface="Segoe UI"/>
              </a:rPr>
              <a:t> — motivated buyers and real prerequisite gaps, but one fixed curriculum under-uses the generation engine, and the population is price-sensitive and often workforce-funded, which returns you to institutional selling.</a:t>
            </a:r>
          </a:p>
        </p:txBody>
      </p:sp>
      <p:sp>
        <p:nvSpPr>
          <p:cNvPr id="22" name="Oval 21"/>
          <p:cNvSpPr/>
          <p:nvPr/>
        </p:nvSpPr>
        <p:spPr>
          <a:xfrm>
            <a:off x="585216" y="563078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61380"/>
            <a:ext cx="10820095" cy="689000"/>
          </a:xfrm>
          <a:prstGeom prst="rect">
            <a:avLst/>
          </a:prstGeom>
          <a:noFill/>
        </p:spPr>
        <p:txBody>
          <a:bodyPr wrap="square" lIns="0" rIns="0" tIns="0" bIns="0">
            <a:spAutoFit/>
          </a:bodyPr>
          <a:lstStyle/>
          <a:p>
            <a:r>
              <a:rPr sz="1188" b="1" i="0">
                <a:solidFill>
                  <a:srgbClr val="15192B"/>
                </a:solidFill>
                <a:latin typeface="Segoe UI"/>
              </a:rPr>
              <a:t>Domain experts publishing schools</a:t>
            </a:r>
            <a:r>
              <a:rPr sz="1188" b="0" i="0">
                <a:solidFill>
                  <a:srgbClr val="5A6072"/>
                </a:solidFill>
                <a:latin typeface="Segoe UI"/>
              </a:rPr>
              <a:t> — the right second act. A two-sided marketplace needs supply and demand solved simultaneously, which is not a solo-founder first move. It becomes powerful once there is demand to sell into, and it is how content scales past the founder.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060132"/>
          </a:xfrm>
          <a:prstGeom prst="rect">
            <a:avLst/>
          </a:prstGeom>
          <a:noFill/>
        </p:spPr>
        <p:txBody>
          <a:bodyPr wrap="square" lIns="0" rIns="0" tIns="0" bIns="0">
            <a:spAutoFit/>
          </a:bodyPr>
          <a:lstStyle/>
          <a:p>
            <a:r>
              <a:rPr sz="1106" b="1" i="0">
                <a:solidFill>
                  <a:srgbClr val="15192B"/>
                </a:solidFill>
                <a:latin typeface="Segoe UI"/>
              </a:rPr>
              <a:t>Status: bottom-up estimate, not yet a measurement.</a:t>
            </a:r>
            <a:r>
              <a:rPr sz="1106" b="0" i="0">
                <a:solidFill>
                  <a:srgbClr val="5A6072"/>
                </a:solidFill>
                <a:latin typeface="Segoe UI"/>
              </a:rPr>
              <a:t> Cost instrumentation (</a:t>
            </a:r>
            <a:r>
              <a:rPr sz="1106" b="0" i="0">
                <a:solidFill>
                  <a:srgbClr val="5A6072"/>
                </a:solidFill>
                <a:latin typeface="Consolas"/>
              </a:rPr>
              <a:t>cost.py</a:t>
            </a:r>
            <a:r>
              <a:rPr sz="1106" b="0" i="0">
                <a:solidFill>
                  <a:srgbClr val="5A6072"/>
                </a:solidFill>
                <a:latin typeface="Segoe UI"/>
              </a:rPr>
              <a:t>, wired into both pipeline phases) now records real token usage and dollar cost on every generation, including runs that fail partway. Replace this section with measured figures after the next domain is created.</a:t>
            </a:r>
          </a:p>
        </p:txBody>
      </p:sp>
      <p:sp>
        <p:nvSpPr>
          <p:cNvPr id="5" name="TextBox 4"/>
          <p:cNvSpPr txBox="1"/>
          <p:nvPr/>
        </p:nvSpPr>
        <p:spPr>
          <a:xfrm>
            <a:off x="566928" y="2193988"/>
            <a:ext cx="5336895" cy="329069"/>
          </a:xfrm>
          <a:prstGeom prst="rect">
            <a:avLst/>
          </a:prstGeom>
          <a:noFill/>
        </p:spPr>
        <p:txBody>
          <a:bodyPr wrap="square" lIns="0" rIns="0" tIns="0" bIns="0">
            <a:spAutoFit/>
          </a:bodyPr>
          <a:lstStyle/>
          <a:p>
            <a:r>
              <a:rPr sz="1106" b="1" i="0">
                <a:solidFill>
                  <a:srgbClr val="15192B"/>
                </a:solidFill>
                <a:latin typeface="Segoe UI"/>
              </a:rPr>
              <a:t>Measured inputs — actual production graph, 64 domains:</a:t>
            </a:r>
          </a:p>
        </p:txBody>
      </p:sp>
      <p:graphicFrame>
        <p:nvGraphicFramePr>
          <p:cNvPr id="6" name="Table 5"/>
          <p:cNvGraphicFramePr>
            <a:graphicFrameLocks noGrp="1"/>
          </p:cNvGraphicFramePr>
          <p:nvPr/>
        </p:nvGraphicFramePr>
        <p:xfrm>
          <a:off x="566928" y="2523058"/>
          <a:ext cx="5336894" cy="1435879"/>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
                      </a:r>
                    </a:p>
                  </a:txBody>
                  <a:tcPr marL="82296" marR="64008" marT="32004" marB="32004" anchor="ctr">
                    <a:solidFill>
                      <a:srgbClr val="F4F5F9"/>
                    </a:solidFill>
                  </a:tcPr>
                </a:tc>
                <a:tc>
                  <a:txBody>
                    <a:bodyPr wrap="square"/>
                    <a:lstStyle/>
                    <a:p>
                      <a:r>
                        <a:rPr sz="902" b="1">
                          <a:solidFill>
                            <a:srgbClr val="15192B"/>
                          </a:solidFill>
                          <a:latin typeface="Segoe UI"/>
                        </a:rPr>
                        <a:t>Total</a:t>
                      </a:r>
                    </a:p>
                  </a:txBody>
                  <a:tcPr marL="82296" marR="64008" marT="32004" marB="32004" anchor="ctr">
                    <a:solidFill>
                      <a:srgbClr val="F4F5F9"/>
                    </a:solidFill>
                  </a:tcPr>
                </a:tc>
                <a:tc>
                  <a:txBody>
                    <a:bodyPr wrap="square"/>
                    <a:lstStyle/>
                    <a:p>
                      <a:r>
                        <a:rPr sz="902" b="1">
                          <a:solidFill>
                            <a:srgbClr val="15192B"/>
                          </a:solidFill>
                          <a:latin typeface="Segoe UI"/>
                        </a:rPr>
                        <a:t>Per course</a:t>
                      </a:r>
                    </a:p>
                  </a:txBody>
                  <a:tcPr marL="82296" marR="64008" marT="32004" marB="32004" anchor="ctr">
                    <a:solidFill>
                      <a:srgbClr val="F4F5F9"/>
                    </a:solidFill>
                  </a:tcPr>
                </a:tc>
              </a:tr>
              <a:tr h="236189">
                <a:tc>
                  <a:txBody>
                    <a:bodyPr wrap="square"/>
                    <a:lstStyle/>
                    <a:p>
                      <a:r>
                        <a:rPr sz="902" b="0" i="0">
                          <a:solidFill>
                            <a:srgbClr val="5A6072"/>
                          </a:solidFill>
                          <a:latin typeface="Segoe UI"/>
                        </a:rPr>
                        <a:t>Concepts</a:t>
                      </a:r>
                    </a:p>
                  </a:txBody>
                  <a:tcPr marL="82296" marR="64008" marT="32004" marB="32004" anchor="ctr">
                    <a:solidFill>
                      <a:srgbClr val="FFFFFF"/>
                    </a:solidFill>
                  </a:tcPr>
                </a:tc>
                <a:tc>
                  <a:txBody>
                    <a:bodyPr wrap="square"/>
                    <a:lstStyle/>
                    <a:p>
                      <a:r>
                        <a:rPr sz="902" b="0" i="0">
                          <a:solidFill>
                            <a:srgbClr val="5A6072"/>
                          </a:solidFill>
                          <a:latin typeface="Segoe UI"/>
                        </a:rPr>
                        <a:t>2,202</a:t>
                      </a:r>
                    </a:p>
                  </a:txBody>
                  <a:tcPr marL="82296" marR="64008" marT="32004" marB="32004" anchor="ctr">
                    <a:solidFill>
                      <a:srgbClr val="FFFFFF"/>
                    </a:solidFill>
                  </a:tcPr>
                </a:tc>
                <a:tc>
                  <a:txBody>
                    <a:bodyPr wrap="square"/>
                    <a:lstStyle/>
                    <a:p>
                      <a:r>
                        <a:rPr sz="902" b="0" i="0">
                          <a:solidFill>
                            <a:srgbClr val="5A6072"/>
                          </a:solidFill>
                          <a:latin typeface="Segoe UI"/>
                        </a:rPr>
                        <a:t>~34</a:t>
                      </a:r>
                    </a:p>
                  </a:txBody>
                  <a:tcPr marL="82296" marR="64008" marT="32004" marB="32004" anchor="ctr">
                    <a:solidFill>
                      <a:srgbClr val="FFFFFF"/>
                    </a:solidFill>
                  </a:tcPr>
                </a:tc>
              </a:tr>
              <a:tr h="236189">
                <a:tc>
                  <a:txBody>
                    <a:bodyPr wrap="square"/>
                    <a:lstStyle/>
                    <a:p>
                      <a:r>
                        <a:rPr sz="902" b="0" i="0">
                          <a:solidFill>
                            <a:srgbClr val="5A6072"/>
                          </a:solidFill>
                          <a:latin typeface="Segoe UI"/>
                        </a:rPr>
                        <a:t>Assessment questions</a:t>
                      </a:r>
                    </a:p>
                  </a:txBody>
                  <a:tcPr marL="82296" marR="64008" marT="32004" marB="32004" anchor="ctr">
                    <a:solidFill>
                      <a:srgbClr val="FFFFFF"/>
                    </a:solidFill>
                  </a:tcPr>
                </a:tc>
                <a:tc>
                  <a:txBody>
                    <a:bodyPr wrap="square"/>
                    <a:lstStyle/>
                    <a:p>
                      <a:r>
                        <a:rPr sz="902" b="0" i="0">
                          <a:solidFill>
                            <a:srgbClr val="5A6072"/>
                          </a:solidFill>
                          <a:latin typeface="Segoe UI"/>
                        </a:rPr>
                        <a:t>6,844</a:t>
                      </a:r>
                    </a:p>
                  </a:txBody>
                  <a:tcPr marL="82296" marR="64008" marT="32004" marB="32004" anchor="ctr">
                    <a:solidFill>
                      <a:srgbClr val="FFFFFF"/>
                    </a:solidFill>
                  </a:tcPr>
                </a:tc>
                <a:tc>
                  <a:txBody>
                    <a:bodyPr wrap="square"/>
                    <a:lstStyle/>
                    <a:p>
                      <a:r>
                        <a:rPr sz="902" b="0" i="0">
                          <a:solidFill>
                            <a:srgbClr val="5A6072"/>
                          </a:solidFill>
                          <a:latin typeface="Segoe UI"/>
                        </a:rPr>
                        <a:t>~107</a:t>
                      </a:r>
                    </a:p>
                  </a:txBody>
                  <a:tcPr marL="82296" marR="64008" marT="32004" marB="32004" anchor="ctr">
                    <a:solidFill>
                      <a:srgbClr val="FFFFFF"/>
                    </a:solidFill>
                  </a:tcPr>
                </a:tc>
              </a:tr>
              <a:tr h="236189">
                <a:tc>
                  <a:txBody>
                    <a:bodyPr wrap="square"/>
                    <a:lstStyle/>
                    <a:p>
                      <a:r>
                        <a:rPr sz="902" b="0" i="0">
                          <a:solidFill>
                            <a:srgbClr val="5A6072"/>
                          </a:solidFill>
                          <a:latin typeface="Segoe UI"/>
                        </a:rPr>
                        <a:t>Typed relationship edges</a:t>
                      </a:r>
                    </a:p>
                  </a:txBody>
                  <a:tcPr marL="82296" marR="64008" marT="32004" marB="32004" anchor="ctr">
                    <a:solidFill>
                      <a:srgbClr val="FFFFFF"/>
                    </a:solidFill>
                  </a:tcPr>
                </a:tc>
                <a:tc>
                  <a:txBody>
                    <a:bodyPr wrap="square"/>
                    <a:lstStyle/>
                    <a:p>
                      <a:r>
                        <a:rPr sz="902" b="0" i="0">
                          <a:solidFill>
                            <a:srgbClr val="5A6072"/>
                          </a:solidFill>
                          <a:latin typeface="Segoe UI"/>
                        </a:rPr>
                        <a:t>14,580</a:t>
                      </a:r>
                    </a:p>
                  </a:txBody>
                  <a:tcPr marL="82296" marR="64008" marT="32004" marB="32004" anchor="ctr">
                    <a:solidFill>
                      <a:srgbClr val="FFFFFF"/>
                    </a:solidFill>
                  </a:tcPr>
                </a:tc>
                <a:tc>
                  <a:txBody>
                    <a:bodyPr wrap="square"/>
                    <a:lstStyle/>
                    <a:p>
                      <a:r>
                        <a:rPr sz="902" b="0" i="0">
                          <a:solidFill>
                            <a:srgbClr val="5A6072"/>
                          </a:solidFill>
                          <a:latin typeface="Segoe UI"/>
                        </a:rPr>
                        <a:t>~228</a:t>
                      </a:r>
                    </a:p>
                  </a:txBody>
                  <a:tcPr marL="82296" marR="64008" marT="32004" marB="32004" anchor="ctr">
                    <a:solidFill>
                      <a:srgbClr val="FFFFFF"/>
                    </a:solidFill>
                  </a:tcPr>
                </a:tc>
              </a:tr>
              <a:tr h="236189">
                <a:tc>
                  <a:txBody>
                    <a:bodyPr wrap="square"/>
                    <a:lstStyle/>
                    <a:p>
                      <a:r>
                        <a:rPr sz="902" b="0" i="0">
                          <a:solidFill>
                            <a:srgbClr val="5A6072"/>
                          </a:solidFill>
                          <a:latin typeface="Segoe UI"/>
                        </a:rPr>
                        <a:t>Prerequisite edges</a:t>
                      </a:r>
                    </a:p>
                  </a:txBody>
                  <a:tcPr marL="82296" marR="64008" marT="32004" marB="32004" anchor="ctr">
                    <a:solidFill>
                      <a:srgbClr val="FFFFFF"/>
                    </a:solidFill>
                  </a:tcPr>
                </a:tc>
                <a:tc>
                  <a:txBody>
                    <a:bodyPr wrap="square"/>
                    <a:lstStyle/>
                    <a:p>
                      <a:r>
                        <a:rPr sz="902" b="0" i="0">
                          <a:solidFill>
                            <a:srgbClr val="5A6072"/>
                          </a:solidFill>
                          <a:latin typeface="Segoe UI"/>
                        </a:rPr>
                        <a:t>9,420</a:t>
                      </a:r>
                    </a:p>
                  </a:txBody>
                  <a:tcPr marL="82296" marR="64008" marT="32004" marB="32004" anchor="ctr">
                    <a:solidFill>
                      <a:srgbClr val="FFFFFF"/>
                    </a:solidFill>
                  </a:tcPr>
                </a:tc>
                <a:tc>
                  <a:txBody>
                    <a:bodyPr wrap="square"/>
                    <a:lstStyle/>
                    <a:p>
                      <a:r>
                        <a:rPr sz="902" b="0" i="0">
                          <a:solidFill>
                            <a:srgbClr val="5A6072"/>
                          </a:solidFill>
                          <a:latin typeface="Segoe UI"/>
                        </a:rPr>
                        <a:t>~147</a:t>
                      </a:r>
                    </a:p>
                  </a:txBody>
                  <a:tcPr marL="82296" marR="64008" marT="32004" marB="32004" anchor="ctr">
                    <a:solidFill>
                      <a:srgbClr val="FFFFFF"/>
                    </a:solidFill>
                  </a:tcPr>
                </a:tc>
              </a:tr>
              <a:tr h="236189">
                <a:tc>
                  <a:txBody>
                    <a:bodyPr wrap="square"/>
                    <a:lstStyle/>
                    <a:p>
                      <a:r>
                        <a:rPr sz="902" b="0" i="0">
                          <a:solidFill>
                            <a:srgbClr val="5A6072"/>
                          </a:solidFill>
                          <a:latin typeface="Segoe UI"/>
                        </a:rPr>
                        <a:t>Stored instruction</a:t>
                      </a:r>
                    </a:p>
                  </a:txBody>
                  <a:tcPr marL="82296" marR="64008" marT="32004" marB="32004" anchor="ctr">
                    <a:solidFill>
                      <a:srgbClr val="FFFFFF"/>
                    </a:solidFill>
                  </a:tcPr>
                </a:tc>
                <a:tc>
                  <a:txBody>
                    <a:bodyPr wrap="square"/>
                    <a:lstStyle/>
                    <a:p>
                      <a:r>
                        <a:rPr sz="902" b="0" i="0">
                          <a:solidFill>
                            <a:srgbClr val="5A6072"/>
                          </a:solidFill>
                          <a:latin typeface="Segoe UI"/>
                        </a:rPr>
                        <a:t>16.4M chars (~4.1M tokens)</a:t>
                      </a:r>
                    </a:p>
                  </a:txBody>
                  <a:tcPr marL="82296" marR="64008" marT="32004" marB="32004" anchor="ctr">
                    <a:solidFill>
                      <a:srgbClr val="FFFFFF"/>
                    </a:solidFill>
                  </a:tcPr>
                </a:tc>
                <a:tc>
                  <a:txBody>
                    <a:bodyPr wrap="square"/>
                    <a:lstStyle/>
                    <a:p>
                      <a:r>
                        <a:rPr sz="902" b="0" i="0">
                          <a:solidFill>
                            <a:srgbClr val="5A6072"/>
                          </a:solidFill>
                          <a:latin typeface="Segoe UI"/>
                        </a:rPr>
                        <a:t>~256K chars (~64K tokens)</a:t>
                      </a:r>
                    </a:p>
                  </a:txBody>
                  <a:tcPr marL="82296" marR="64008" marT="32004" marB="32004" anchor="ctr">
                    <a:solidFill>
                      <a:srgbClr val="FFFFFF"/>
                    </a:solidFill>
                  </a:tcPr>
                </a:tc>
              </a:tr>
            </a:tbl>
          </a:graphicData>
        </a:graphic>
      </p:graphicFrame>
      <p:sp>
        <p:nvSpPr>
          <p:cNvPr id="7" name="TextBox 6"/>
          <p:cNvSpPr txBox="1"/>
          <p:nvPr/>
        </p:nvSpPr>
        <p:spPr>
          <a:xfrm>
            <a:off x="566928" y="4141820"/>
            <a:ext cx="5336895" cy="694601"/>
          </a:xfrm>
          <a:prstGeom prst="rect">
            <a:avLst/>
          </a:prstGeom>
          <a:noFill/>
        </p:spPr>
        <p:txBody>
          <a:bodyPr wrap="square" lIns="0" rIns="0" tIns="0" bIns="0">
            <a:spAutoFit/>
          </a:bodyPr>
          <a:lstStyle/>
          <a:p>
            <a:r>
              <a:rPr sz="1106" b="1" i="0">
                <a:solidFill>
                  <a:srgbClr val="15192B"/>
                </a:solidFill>
                <a:latin typeface="Segoe UI"/>
              </a:rPr>
              <a:t>Estimated model spend per course</a:t>
            </a:r>
            <a:r>
              <a:rPr sz="1106" b="0" i="0">
                <a:solidFill>
                  <a:srgbClr val="5A6072"/>
                </a:solidFill>
                <a:latin typeface="Segoe UI"/>
              </a:rPr>
              <a:t>, priced at Anthropic's </a:t>
            </a:r>
            <a:r>
              <a:rPr sz="1106" b="1" i="0">
                <a:solidFill>
                  <a:srgbClr val="15192B"/>
                </a:solidFill>
                <a:latin typeface="Segoe UI"/>
              </a:rPr>
              <a:t>post-promotional</a:t>
            </a:r>
            <a:r>
              <a:rPr sz="1106" b="0" i="0">
                <a:solidFill>
                  <a:srgbClr val="5A6072"/>
                </a:solidFill>
                <a:latin typeface="Segoe UI"/>
              </a:rPr>
              <a:t> rates (Sonnet 5 at $3/$15 per MTok, Haiku 4.5 at $1/$5; cache reads 0.1×, cache writes 1.25×):</a:t>
            </a:r>
          </a:p>
        </p:txBody>
      </p:sp>
      <p:graphicFrame>
        <p:nvGraphicFramePr>
          <p:cNvPr id="8" name="Table 7"/>
          <p:cNvGraphicFramePr>
            <a:graphicFrameLocks noGrp="1"/>
          </p:cNvGraphicFramePr>
          <p:nvPr/>
        </p:nvGraphicFramePr>
        <p:xfrm>
          <a:off x="566928" y="4836421"/>
          <a:ext cx="5336895" cy="1435879"/>
        </p:xfrm>
        <a:graphic>
          <a:graphicData uri="http://schemas.openxmlformats.org/drawingml/2006/table">
            <a:tbl>
              <a:tblPr firstRow="1">
                <a:tableStyleId>{5C22544A-7EE6-4342-B048-85BDC9FD1C3A}</a:tableStyleId>
              </a:tblPr>
              <a:tblGrid>
                <a:gridCol w="2454971"/>
                <a:gridCol w="2881924"/>
              </a:tblGrid>
              <a:tr h="254934">
                <a:tc>
                  <a:txBody>
                    <a:bodyPr wrap="square"/>
                    <a:lstStyle/>
                    <a:p>
                      <a:r>
                        <a:rPr sz="902" b="1">
                          <a:solidFill>
                            <a:srgbClr val="15192B"/>
                          </a:solidFill>
                          <a:latin typeface="Segoe UI"/>
                        </a:rPr>
                        <a:t>Component</a:t>
                      </a:r>
                    </a:p>
                  </a:txBody>
                  <a:tcPr marL="82296" marR="64008" marT="32004" marB="32004" anchor="ctr">
                    <a:solidFill>
                      <a:srgbClr val="F4F5F9"/>
                    </a:solidFill>
                  </a:tcPr>
                </a:tc>
                <a:tc>
                  <a:txBody>
                    <a:bodyPr wrap="square"/>
                    <a:lstStyle/>
                    <a:p>
                      <a:r>
                        <a:rPr sz="902" b="1">
                          <a:solidFill>
                            <a:srgbClr val="15192B"/>
                          </a:solidFill>
                          <a:latin typeface="Segoe UI"/>
                        </a:rPr>
                        <a:t>Estimate</a:t>
                      </a:r>
                    </a:p>
                  </a:txBody>
                  <a:tcPr marL="82296" marR="64008" marT="32004" marB="32004" anchor="ctr">
                    <a:solidFill>
                      <a:srgbClr val="F4F5F9"/>
                    </a:solidFill>
                  </a:tcPr>
                </a:tc>
              </a:tr>
              <a:tr h="236189">
                <a:tc>
                  <a:txBody>
                    <a:bodyPr wrap="square"/>
                    <a:lstStyle/>
                    <a:p>
                      <a:r>
                        <a:rPr sz="902" b="0" i="0">
                          <a:solidFill>
                            <a:srgbClr val="5A6072"/>
                          </a:solidFill>
                          <a:latin typeface="Segoe UI"/>
                        </a:rPr>
                        <a:t>Primary model output — instruction, figure construction code, edges, prerequisites, thinking</a:t>
                      </a:r>
                    </a:p>
                  </a:txBody>
                  <a:tcPr marL="82296" marR="64008" marT="32004" marB="32004" anchor="ctr">
                    <a:solidFill>
                      <a:srgbClr val="FFFFFF"/>
                    </a:solidFill>
                  </a:tcPr>
                </a:tc>
                <a:tc>
                  <a:txBody>
                    <a:bodyPr wrap="square"/>
                    <a:lstStyle/>
                    <a:p>
                      <a:r>
                        <a:rPr sz="902" b="0" i="0">
                          <a:solidFill>
                            <a:srgbClr val="5A6072"/>
                          </a:solidFill>
                          <a:latin typeface="Segoe UI"/>
                        </a:rPr>
                        <a:t>~175K tokens → ~$2.60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uncached</a:t>
                      </a:r>
                    </a:p>
                  </a:txBody>
                  <a:tcPr marL="82296" marR="64008" marT="32004" marB="32004" anchor="ctr">
                    <a:solidFill>
                      <a:srgbClr val="FFFFFF"/>
                    </a:solidFill>
                  </a:tcPr>
                </a:tc>
                <a:tc>
                  <a:txBody>
                    <a:bodyPr wrap="square"/>
                    <a:lstStyle/>
                    <a:p>
                      <a:r>
                        <a:rPr sz="902" b="0" i="0">
                          <a:solidFill>
                            <a:srgbClr val="5A6072"/>
                          </a:solidFill>
                          <a:latin typeface="Segoe UI"/>
                        </a:rPr>
                        <a:t>~400K tokens → ~$1.20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cache reads and writes</a:t>
                      </a:r>
                    </a:p>
                  </a:txBody>
                  <a:tcPr marL="82296" marR="64008" marT="32004" marB="32004" anchor="ctr">
                    <a:solidFill>
                      <a:srgbClr val="FFFFFF"/>
                    </a:solidFill>
                  </a:tcPr>
                </a:tc>
                <a:tc>
                  <a:txBody>
                    <a:bodyPr wrap="square"/>
                    <a:lstStyle/>
                    <a:p>
                      <a:r>
                        <a:rPr sz="902" b="0" i="0">
                          <a:solidFill>
                            <a:srgbClr val="5A6072"/>
                          </a:solidFill>
                          <a:latin typeface="Segoe UI"/>
                        </a:rPr>
                        <a:t>→ ~$0.50</a:t>
                      </a:r>
                    </a:p>
                  </a:txBody>
                  <a:tcPr marL="82296" marR="64008" marT="32004" marB="32004" anchor="ctr">
                    <a:solidFill>
                      <a:srgbClr val="FFFFFF"/>
                    </a:solidFill>
                  </a:tcPr>
                </a:tc>
              </a:tr>
              <a:tr h="236189">
                <a:tc>
                  <a:txBody>
                    <a:bodyPr wrap="square"/>
                    <a:lstStyle/>
                    <a:p>
                      <a:r>
                        <a:rPr sz="902" b="0" i="0">
                          <a:solidFill>
                            <a:srgbClr val="5A6072"/>
                          </a:solidFill>
                          <a:latin typeface="Segoe UI"/>
                        </a:rPr>
                        <a:t>QA model (assessments, figure assertions)</a:t>
                      </a:r>
                    </a:p>
                  </a:txBody>
                  <a:tcPr marL="82296" marR="64008" marT="32004" marB="32004" anchor="ctr">
                    <a:solidFill>
                      <a:srgbClr val="FFFFFF"/>
                    </a:solidFill>
                  </a:tcPr>
                </a:tc>
                <a:tc>
                  <a:txBody>
                    <a:bodyPr wrap="square"/>
                    <a:lstStyle/>
                    <a:p>
                      <a:r>
                        <a:rPr sz="902" b="0" i="0">
                          <a:solidFill>
                            <a:srgbClr val="5A6072"/>
                          </a:solidFill>
                          <a:latin typeface="Segoe UI"/>
                        </a:rPr>
                        <a:t>→ ~$0.30</a:t>
                      </a:r>
                    </a:p>
                  </a:txBody>
                  <a:tcPr marL="82296" marR="64008" marT="32004" marB="32004" anchor="ctr">
                    <a:solidFill>
                      <a:srgbClr val="FFFFFF"/>
                    </a:solidFill>
                  </a:tcPr>
                </a:tc>
              </a:tr>
              <a:tr h="236189">
                <a:tc>
                  <a:txBody>
                    <a:bodyPr wrap="square"/>
                    <a:lstStyle/>
                    <a:p>
                      <a:r>
                        <a:rPr sz="902" b="1" i="0">
                          <a:solidFill>
                            <a:srgbClr val="15192B"/>
                          </a:solidFill>
                          <a:latin typeface="Segoe UI"/>
                        </a:rPr>
                        <a:t>Total</a:t>
                      </a:r>
                    </a:p>
                  </a:txBody>
                  <a:tcPr marL="82296" marR="64008" marT="32004" marB="32004" anchor="ctr">
                    <a:solidFill>
                      <a:srgbClr val="FFFFFF"/>
                    </a:solidFill>
                  </a:tcPr>
                </a:tc>
                <a:tc>
                  <a:txBody>
                    <a:bodyPr wrap="square"/>
                    <a:lstStyle/>
                    <a:p>
                      <a:r>
                        <a:rPr sz="902" b="1" i="0">
                          <a:solidFill>
                            <a:srgbClr val="15192B"/>
                          </a:solidFill>
                          <a:latin typeface="Segoe UI"/>
                        </a:rPr>
                        <a:t>~$4.60</a:t>
                      </a:r>
                    </a:p>
                  </a:txBody>
                  <a:tcPr marL="82296" marR="64008" marT="32004" marB="32004"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Rounded to </a:t>
            </a:r>
            <a:r>
              <a:rPr sz="1350" b="1" i="0">
                <a:solidFill>
                  <a:srgbClr val="15192B"/>
                </a:solidFill>
                <a:latin typeface="Segoe UI"/>
              </a:rPr>
              <a:t>~$5</a:t>
            </a:r>
            <a:r>
              <a:rPr sz="1350" b="0" i="0">
                <a:solidFill>
                  <a:srgbClr val="5A6072"/>
                </a:solidFill>
                <a:latin typeface="Segoe UI"/>
              </a:rPr>
              <a:t> for the slide. Roughly </a:t>
            </a:r>
            <a:r>
              <a:rPr sz="1350" b="1" i="0">
                <a:solidFill>
                  <a:srgbClr val="15192B"/>
                </a:solidFill>
                <a:latin typeface="Segoe UI"/>
              </a:rPr>
              <a:t>$0.15 per concept</a:t>
            </a:r>
            <a:r>
              <a:rPr sz="1350" b="0" i="0">
                <a:solidFill>
                  <a:srgbClr val="5A6072"/>
                </a:solidFill>
                <a:latin typeface="Segoe UI"/>
              </a:rPr>
              <a:t>.</a:t>
            </a:r>
          </a:p>
        </p:txBody>
      </p:sp>
      <p:sp>
        <p:nvSpPr>
          <p:cNvPr id="5" name="TextBox 4"/>
          <p:cNvSpPr txBox="1"/>
          <p:nvPr/>
        </p:nvSpPr>
        <p:spPr>
          <a:xfrm>
            <a:off x="566928" y="1503045"/>
            <a:ext cx="11057839" cy="369189"/>
          </a:xfrm>
          <a:prstGeom prst="rect">
            <a:avLst/>
          </a:prstGeom>
          <a:noFill/>
        </p:spPr>
        <p:txBody>
          <a:bodyPr wrap="square" lIns="0" rIns="0" tIns="0" bIns="0">
            <a:spAutoFit/>
          </a:bodyPr>
          <a:lstStyle/>
          <a:p>
            <a:r>
              <a:rPr sz="1350" b="1" i="0">
                <a:solidFill>
                  <a:srgbClr val="15192B"/>
                </a:solidFill>
                <a:latin typeface="Segoe UI"/>
              </a:rPr>
              <a:t>Caveats to state if challenged:</a:t>
            </a:r>
          </a:p>
        </p:txBody>
      </p:sp>
      <p:sp>
        <p:nvSpPr>
          <p:cNvPr id="6" name="Oval 5"/>
          <p:cNvSpPr/>
          <p:nvPr/>
        </p:nvSpPr>
        <p:spPr>
          <a:xfrm>
            <a:off x="585216" y="195110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72234"/>
            <a:ext cx="10820095" cy="769239"/>
          </a:xfrm>
          <a:prstGeom prst="rect">
            <a:avLst/>
          </a:prstGeom>
          <a:noFill/>
        </p:spPr>
        <p:txBody>
          <a:bodyPr wrap="square" lIns="0" rIns="0" tIns="0" bIns="0">
            <a:spAutoFit/>
          </a:bodyPr>
          <a:lstStyle/>
          <a:p>
            <a:r>
              <a:rPr sz="1350" b="0" i="0">
                <a:solidFill>
                  <a:srgbClr val="5A6072"/>
                </a:solidFill>
                <a:latin typeface="Segoe UI"/>
              </a:rPr>
              <a:t>Generated output exceeds stored output by roughly 2.7× — figure-repair loops, discarded candidates, and adaptive-thinking tokens are all billed but not all stored. The estimate accounts for this; a naïve estimate from stored content alone would be far too low.</a:t>
            </a:r>
          </a:p>
        </p:txBody>
      </p:sp>
      <p:sp>
        <p:nvSpPr>
          <p:cNvPr id="8" name="Oval 7"/>
          <p:cNvSpPr/>
          <p:nvPr/>
        </p:nvSpPr>
        <p:spPr>
          <a:xfrm>
            <a:off x="585216" y="272034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41473"/>
            <a:ext cx="10820095" cy="546354"/>
          </a:xfrm>
          <a:prstGeom prst="rect">
            <a:avLst/>
          </a:prstGeom>
          <a:noFill/>
        </p:spPr>
        <p:txBody>
          <a:bodyPr wrap="square" lIns="0" rIns="0" tIns="0" bIns="0">
            <a:spAutoFit/>
          </a:bodyPr>
          <a:lstStyle/>
          <a:p>
            <a:r>
              <a:rPr sz="1350" b="0" i="0">
                <a:solidFill>
                  <a:srgbClr val="5A6072"/>
                </a:solidFill>
                <a:latin typeface="Segoe UI"/>
              </a:rPr>
              <a:t>Voyage AI embeddings and reranking are </a:t>
            </a:r>
            <a:r>
              <a:rPr sz="1350" b="1" i="0">
                <a:solidFill>
                  <a:srgbClr val="15192B"/>
                </a:solidFill>
                <a:latin typeface="Segoe UI"/>
              </a:rPr>
              <a:t>excluded</a:t>
            </a:r>
            <a:r>
              <a:rPr sz="1350" b="0" i="0">
                <a:solidFill>
                  <a:srgbClr val="5A6072"/>
                </a:solidFill>
                <a:latin typeface="Segoe UI"/>
              </a:rPr>
              <a:t> (they bypass LangChain's callback instrumentation). They are small relative to generation but non-zero.</a:t>
            </a:r>
          </a:p>
        </p:txBody>
      </p:sp>
      <p:sp>
        <p:nvSpPr>
          <p:cNvPr id="10" name="Oval 9"/>
          <p:cNvSpPr/>
          <p:nvPr/>
        </p:nvSpPr>
        <p:spPr>
          <a:xfrm>
            <a:off x="585216" y="326669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187827"/>
            <a:ext cx="10820095" cy="323469"/>
          </a:xfrm>
          <a:prstGeom prst="rect">
            <a:avLst/>
          </a:prstGeom>
          <a:noFill/>
        </p:spPr>
        <p:txBody>
          <a:bodyPr wrap="square" lIns="0" rIns="0" tIns="0" bIns="0">
            <a:spAutoFit/>
          </a:bodyPr>
          <a:lstStyle/>
          <a:p>
            <a:r>
              <a:rPr sz="1350" b="0" i="0">
                <a:solidFill>
                  <a:srgbClr val="5A6072"/>
                </a:solidFill>
                <a:latin typeface="Segoe UI"/>
              </a:rPr>
              <a:t>Infrastructure, Neo4j hosting, and human review time are excluded.</a:t>
            </a:r>
          </a:p>
        </p:txBody>
      </p:sp>
      <p:sp>
        <p:nvSpPr>
          <p:cNvPr id="12" name="Oval 11"/>
          <p:cNvSpPr/>
          <p:nvPr/>
        </p:nvSpPr>
        <p:spPr>
          <a:xfrm>
            <a:off x="585216" y="3590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511296"/>
            <a:ext cx="10820095" cy="546354"/>
          </a:xfrm>
          <a:prstGeom prst="rect">
            <a:avLst/>
          </a:prstGeom>
          <a:noFill/>
        </p:spPr>
        <p:txBody>
          <a:bodyPr wrap="square" lIns="0" rIns="0" tIns="0" bIns="0">
            <a:spAutoFit/>
          </a:bodyPr>
          <a:lstStyle/>
          <a:p>
            <a:r>
              <a:rPr sz="1350" b="0" i="0">
                <a:solidFill>
                  <a:srgbClr val="5A6072"/>
                </a:solidFill>
                <a:latin typeface="Segoe UI"/>
              </a:rPr>
              <a:t>Cost varies with domain size. A 45-concept course costs meaningfully more than a 20-concept one; quote the range ($3–8) rather than the point estimate if pressed on variance.</a:t>
            </a:r>
          </a:p>
        </p:txBody>
      </p:sp>
      <p:sp>
        <p:nvSpPr>
          <p:cNvPr id="14" name="Oval 13"/>
          <p:cNvSpPr/>
          <p:nvPr/>
        </p:nvSpPr>
        <p:spPr>
          <a:xfrm>
            <a:off x="585216" y="413651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057650"/>
            <a:ext cx="10820095" cy="546354"/>
          </a:xfrm>
          <a:prstGeom prst="rect">
            <a:avLst/>
          </a:prstGeom>
          <a:noFill/>
        </p:spPr>
        <p:txBody>
          <a:bodyPr wrap="square" lIns="0" rIns="0" tIns="0" bIns="0">
            <a:spAutoFit/>
          </a:bodyPr>
          <a:lstStyle/>
          <a:p>
            <a:r>
              <a:rPr sz="1350" b="1" i="0">
                <a:solidFill>
                  <a:srgbClr val="15192B"/>
                </a:solidFill>
                <a:latin typeface="Segoe UI"/>
              </a:rPr>
              <a:t>Sonnet 5's introductory rate ($2/$10) expires 2026-08-31.</a:t>
            </a:r>
            <a:r>
              <a:rPr sz="1350" b="0" i="0">
                <a:solidFill>
                  <a:srgbClr val="5A6072"/>
                </a:solidFill>
                <a:latin typeface="Segoe UI"/>
              </a:rPr>
              <a:t> This estimate deliberately uses the higher standard rate so it does not expire with the promo.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