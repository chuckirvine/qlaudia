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Status: v0.2 draft. Retuned for angel investors (individuals and syndicates writing $25K–$250K checks).</a:t>
            </a:r>
          </a:p>
          <a:p>
            <a:r>
              <a:rPr sz="1100"/>
              <a:t>Markdown is the source of record; PowerPoint conversion to follow.</a:t>
            </a:r>
          </a:p>
          <a:p>
            <a:r>
              <a:rPr sz="1100"/>
              <a:t>Convention: each ## heading is one slide. Headline: is the on-slide assertion.</a:t>
            </a:r>
          </a:p>
          <a:p>
            <a:r>
              <a:rPr sz="1100"/>
              <a:t>Body bullets are on-slide text. &gt; Speaker notes: blocks do not appear on the slide.</a:t>
            </a:r>
          </a:p>
          <a:p>
            <a:r>
              <a:rPr sz="1100"/>
              <a:t>⚠️ TODO marks content that needs Charles's input before this goes in front of investors.</a:t>
            </a:r>
          </a:p>
          <a:p>
            <a:r>
              <a:rPr sz="1100"/>
              <a:t>Design target: 13 slides, ~12 minutes, then questions. Angels stop absorbing after about</a:t>
            </a:r>
          </a:p>
          <a:p>
            <a:r>
              <a:rPr sz="1100"/>
              <a:t>a dozen slides. Everything diligence-grade lives in the appendix and gets sent after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U.S. figures, if an American angel wants them (full table in Appendix A8): K–12 public schools ~$1.0T in FY2024, the first year over a trillion, ~$17.6K per pupil. Higher education ~$712B. Corporate training ~$100B. Private tutoring ~$30B and growing double digits.</a:t>
            </a:r>
          </a:p>
          <a:p>
            <a:r>
              <a:rPr sz="1100"/>
              <a:t>Say out loud, before anyone else says it: "No company captures a market this size, and I'm not going to pretend otherwise." Saying it first converts the deck's biggest liability into a credibility marker. Then land the actual point, which is structural, not arithmetic: education is the last enormous market where the core product — a coherent, sequenced body of knowledge taught in the right order — has never been manufacturable. It's hand-built by humans, one course at a time. That's why it costs what it costs. Qlaudia makes the knowledge itself manufacturable.</a:t>
            </a:r>
          </a:p>
          <a:p>
            <a:r>
              <a:rPr sz="1100"/>
              <a:t>Then immediately promise the follow-through: "the Business Model slide shows the specific slice I'm going after first, and what it's worth." An angel who hears a $7.3T number and never hears a reachable number assumes you can't tell the difference. Don't leave that gap open across eight slides.</a:t>
            </a:r>
          </a:p>
          <a:p>
            <a:r>
              <a:rPr sz="1100"/>
              <a:t>Anticipated pushback: "EdTech is a graveyard." Correct — because prior EdTech sold delivery (an LMS, a video player, a quiz engine) into institutions that already had content. Qlaudia sells the content layer itself, which is the expensive part.</a:t>
            </a:r>
          </a:p>
          <a:p>
            <a:r>
              <a:rPr sz="1100"/>
              <a:t>The capital-gap stat — hold this in reserve, do not volunteer it. Digital health VC is on track for ~$28B in 2025. EdTech VC was ~$2.4B in 2024, a decade low, and Q1 2025 fell another 35%. Normalized against sector size, healthcare draws roughly 9× more venture capital per dollar of sector spending than education does — a market three-quarters the size of healthcare attracting one-twelfth the venture dollars.</a:t>
            </a:r>
          </a:p>
          <a:p>
            <a:r>
              <a:rPr sz="1100"/>
              <a:t>This stat cuts both ways and the framing decides which. Volunteered cold it reads as "the market has spoken and it said no." Deployed as the answer to "isn't EdTech a graveyard?" it is devastating: "Yes — and that's why I can build a healthcare-scale company with no competition for capital or talent. The graveyard is full of companies that sold delivery. I sell the content." Say it only after you've named why the prior generation failed.</a:t>
            </a:r>
          </a:p>
          <a:p>
            <a:r>
              <a:rPr sz="1100"/>
              <a:t>Year alignment — be precise if pressed. WHO's latest global health figure is 2022 ($9.8T); healthcare today is likely ~$11T. Against a 2025 education number, the honest ratio is closer to two-thirds than three-quarters. The years are labelled on the slide for exactly this reason — don't let a sharp angel be the one to point it 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taxonomy is the argument. Qlaudia is not a better product inside an existing bucket — it is in a bucket of its own. A better LMS competes with Canvas. A new category competes with nothing.</a:t>
            </a:r>
          </a:p>
          <a:p>
            <a:r>
              <a:rPr sz="1100"/>
              <a:t>The second Non-AI row does more work than it looks. Everyone assumes computer-based is the modern end of this market. It isn't: Khan Academy, Coursera and a printed textbook are made identically — one expert, from scratch, over months — and only the delivery changed. Saying that puts every EdTech company an angel can name on the old side of the line, which is what makes the AI group credible rather than self-serving.</a:t>
            </a:r>
          </a:p>
          <a:p>
            <a:r>
              <a:rPr sz="1100"/>
              <a:t>The chatbot line is the one to slow down on, and the gap is the point. Most students use AI to learn; it is roughly a tenth of one percent of what the world spends on education. Enormous adoption, almost no revenue — because nearly all of it is free or bundled into a consumer subscription. Nobody has worked out how to sell AI-based learning, and the reason is that a conversation is not a product. A course is.</a:t>
            </a:r>
          </a:p>
          <a:p>
            <a:r>
              <a:rPr sz="1100"/>
              <a:t>The chatbot is the foot in the door, and the door is already open. Ask any high-school teacher. Normally a company in this position carries two risks: proving AI can teach, and persuading people to try learning from it. Chatbots have retired both — globally, at scale, for free. You are not creating a behaviour; you are inheriting one. "I don't have to convince anyone to learn from AI. ChatGPT already did that for hundreds of millions of people. What they found out is that it answers questions well and cannot teach a subject. I'm selling the missing half to a market that has already been trained."</a:t>
            </a:r>
          </a:p>
          <a:p>
            <a:r>
              <a:rPr sz="1100"/>
              <a:t>On the ~4.9%. It is rounded so the column totals 100. The sourced figures put EdTech nearer 5.5% and AI nearer 0.1%, so if anyone divides $404B by $7.3T from the Market slide they will get 5.5%. The tidiness is worth more than the decimal, but do not defend 4.9 as precise — the point is only that AI is a rounding error in spend.</a:t>
            </a:r>
          </a:p>
          <a:p>
            <a:r>
              <a:rPr sz="1100"/>
              <a:t>Be generous about LLM-based learning, and mean it. It is real, large and useful, Qlaudia is built on the same technology, and half the room uses it daily. What a chatbot cannot do is know what you already know, what you must learn first, or whether the explanation it just produced was correct — and it re-derives the same lesson for every learner, unverified, every time. That is a different job, not a failure.</a:t>
            </a:r>
          </a:p>
          <a:p>
            <a:r>
              <a:rPr sz="1100"/>
              <a:t>On "most students." Survey figures in the two-thirds range circulate, but they come from stats aggregators rather than a primary source. "Most students" is uncontroversial, needs no citation, and costs nothing rhetorically. Do not quote a percentage here unless you have found the underlying survey — every other number in this deck traces to WHO, Gartner, SIPRI or HolonIQ, and one weak citation is what a sceptical angel will pull on.</a:t>
            </a:r>
          </a:p>
          <a:p>
            <a:r>
              <a:rPr sz="1100"/>
              <a:t>The one-line positioning, if you say nothing else on this slide: "Chatbots answer questions. Qlaudia builds the thing worth asking questions about."</a:t>
            </a:r>
          </a:p>
          <a:p>
            <a:r>
              <a:rPr sz="1100"/>
              <a:t>Why the supplement framing is strategically correct, not just polite. Positioning against the most capitalised companies in the world is a fight you cannot win and do not need. Positioning as the layer they lack makes you complementary — and it is what makes frontier model providers the lead acquirer category on the Returns Capital slide. They own the conversation; they do not own the curriculum.</a:t>
            </a:r>
          </a:p>
          <a:p>
            <a:r>
              <a:rPr sz="1100"/>
              <a:t>On the ~$0. It is a claim about spend on generated, persistent, structured courseware — not a claim that nobody has thought of it. Say "essentially nothing is being spent on this today."</a:t>
            </a:r>
          </a:p>
          <a:p>
            <a:r>
              <a:rPr sz="1100"/>
              <a:t>If you are short on time, linger here and move quickly through the Market slide — those tables are reference material; this is the thesis.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chatbot bullet is the one that matters. Every angel in the room has already used ChatGPT to learn something and has a private opinion about how well it went. Make the distinction concrete: a chatbot is a conversation that evaporates; Qlaudia is a structured, persistent, verifiable body of knowledge that a conversation can stand on.</a:t>
            </a:r>
          </a:p>
          <a:p>
            <a:r>
              <a:rPr sz="1100"/>
              <a:t>Describe the gap; do not attack the tool. LLM-based learning is real and useful, and you are building on the same technology — dismissing it reads as either naive or defensive, and half the room uses it daily. The framing that works is division of labour, not deficiency: "chatbots answer questions; somebody still has to decide what the questions are and in what order." This is the same supplement-not-displace position as the Categories slide, and the two must agree.</a:t>
            </a:r>
          </a:p>
          <a:p>
            <a:r>
              <a:rPr sz="1100"/>
              <a:t>Optional setup for the Founder slide. If you want the founder slide to detonate, plant the fuse here: "the hand-authoring bottleneck isn't new — it's the reason this whole approach stayed impractical for forty years." Then let the Founder slide reveal that you were one of the people who hit that wall and wrote it down.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Keep the word "transitive." It is the difference between a real prerequisite graph and a list of "take A before B," and it is the language of Claim Set 2 in the patent — the Defensibility slide leans on the two claim sets being independently enforceable, so the vocabulary should match.</a:t>
            </a:r>
          </a:p>
          <a:p>
            <a:r>
              <a:rPr sz="1100"/>
              <a:t>Mention that (1) and (2) are separately licensable — a publisher may want only the generation engine; a university may want only the delivery framework. That optionality is deliberate in the patent structure, and for an angel it means more than one way the asset pays off.</a:t>
            </a:r>
          </a:p>
          <a:p>
            <a:r>
              <a:rPr sz="1100"/>
              <a:t>Set up the demo here. "Any subject" is the strongest claim on this slide and the hardest to believe. Promise the evidence rather than arguing for it: "In two slides I'll show you it building a course on raising an angel round." Then stop — let them sit with the claim knowing proof is coming.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structural point to make out loud. CKS's two functions — acquisition and retrieval over a constructed knowledge graph — are the same two things Qlaudia does, and the same two things the patent claims separately. Forty-one years apart, the architecture decomposes identically. That is not a coincidence you have to sell; just show it and let them see it.</a:t>
            </a:r>
          </a:p>
          <a:p>
            <a:r>
              <a:rPr sz="1100"/>
              <a:t>Say aloud, not on the slide — what else CKS got right: retrieval worked by "the top down examination of an appropriately encoded set of concepts according to the logical relations that exist between the concepts" — prerequisite-ordered graph traversal. And it was proposed explicitly as an alternative to printed media, arguing that written prose "imposes unnecessary constraints on the organization of a body of knowledge." Full quotations in Appendix A6.</a:t>
            </a:r>
          </a:p>
          <a:p>
            <a:r>
              <a:rPr sz="1100"/>
              <a:t>Do not claim conceptual primitives. CKS also rested on a small set of conceptual primitives from which all concepts were defined. Qlaudia has no such basis and does not need one — see Appendix A6. Leave it out of the pitch entirely; it invites a question you'd have to answer with "that part isn't built."</a:t>
            </a:r>
          </a:p>
          <a:p>
            <a:r>
              <a:rPr sz="1100"/>
              <a:t>This is the strongest slide in the deck. Consider opening the meeting with it, before the market slide. A founder holding a 41-year-old thesis that describes the product he's now shipping is something no other pitch that month can imitate. It converts the entire "why you / why now / why hasn't this been done" cluster into a single artifact.</a:t>
            </a:r>
          </a:p>
          <a:p>
            <a:r>
              <a:rPr sz="1100"/>
              <a:t>Bring the physical thesis to the meeting. Angels invest in conviction and this is conviction you can hand across a table. With no image on the slide, the bound copy is now the only visual — so don't leave it at home.</a:t>
            </a:r>
          </a:p>
          <a:p>
            <a:r>
              <a:rPr sz="1100"/>
              <a:t>Be precise: CKS did not fail. The thesis was accepted and it earned the MS. The system worked — it acquired concepts, encoded them, and traversed them. What it wasn't was practical: filling the knowledge base required interrogating a human expert one concept at a time, so the cost of a useful knowledge base was prohibitive. Never say "it failed" — it's inaccurate, it implies the thesis was rejected, and it's a weaker claim than the true one.</a:t>
            </a:r>
          </a:p>
          <a:p>
            <a:r>
              <a:rPr sz="1100"/>
              <a:t>The move that makes it land is naming the constraint in your own words. Don't present 1985 as a triumph or as a failure — present it as a correct design waiting on an input that didn't exist yet. "I built this. It worked. It was never practical, because every concept had to come out of a human being one at a time. That constraint is what lifted in the last three years, and I recognized it the week it happened." Naming your own blocking constraint reads as far more credible than visionary framing, and the punchline hits harder.</a:t>
            </a:r>
          </a:p>
          <a:p>
            <a:r>
              <a:rPr sz="1100"/>
              <a:t>Supporting career arc — say briefly, don't slide it: expert systems at Boeing (1985), Lockheed Martin (1986–89), and Nortel (1989–93); then Cadence (finite state machine module shipped into multiple CAD products), Sprint (16 years, applications architect), DST Systems and TreviPay (workflow automation — dependency-graph execution, computing what can run given what's complete, which is transitive prerequisite pathfinding in different clothes). Then Charles Irvine Enterprises LLC and Academy-courses.com from 2017 — all predating the current AI cycle.</a:t>
            </a:r>
          </a:p>
          <a:p>
            <a:r>
              <a:rPr sz="1100"/>
              <a:t>The 2017 date still matters. Angels assume every AI-education pitch was conceived the week ChatGPT shipped. Between a 1985 thesis and a 2017 LLC, you can prove a four-decade throughline. That is the opposite of trend-chasing.</a:t>
            </a:r>
          </a:p>
          <a:p>
            <a:r>
              <a:rPr sz="1100"/>
              <a:t>Anticipated question — "have you run a venture-backed company before?" No. Don't dance. The true answer that lands: a working end-to-end pipeline and a filed non-provisional patent, built solo. Execution evidence is rarer at this stage than a prior exit.</a:t>
            </a:r>
          </a:p>
          <a:p>
            <a:r>
              <a:rPr sz="1100"/>
              <a:t>The age question, which nobody will ask out loud. This slide makes a 1985 start date unavoidable, and some angels carry an unspoken bias. The counter is the slide's own argument: you are not guessing about which AI paradigm is different, because you worked the previous one and documented precisely what it was missing. Depth is the asset. Have a crisp, unbothered answer ready on energy and commitment, and don't let it sound defensive.</a:t>
            </a:r>
          </a:p>
          <a:p>
            <a:r>
              <a:rPr sz="1100"/>
              <a:t>Institution — resolved, no action needed. The thesis is University of Kansas, consistent with LinkedIn. Dr. van de Liefvoort, named on the thesis committee, is today emeritus at UMKC but did not join UMKC until August 1987 — two years after the thesis. If anyone ever cross-references him and raises it, that's the one-sentence answer.</a:t>
            </a:r>
          </a:p>
          <a:p>
            <a:r>
              <a:rPr sz="1100"/>
              <a:t>⚠️ TODO: get a clean, straight scan of the abstract page and of the §1.3 "Approach and Scope" page — the phone photos won't hold up projected.</a:t>
            </a:r>
          </a:p>
          <a:p>
            <a:r>
              <a:rPr sz="1100"/>
              <a:t>⚠️ TODO: advisors, collaborators, or committed early hires — still the one real gap. A solo founder with a named advisor reads materially safer to an angel than a solo founder alone.</a:t>
            </a:r>
          </a:p>
          <a:p>
            <a:r>
              <a:rPr sz="1100"/>
              <a:t>The efficient way to close it: a recognised homeschool community figure — a co-op director, a curriculum reviewer, a well-followed practitioner — taken on as an advisor with a small vesting equity grant. That fills the credibility gap on this slide and creates a committed distribution partner (Appendix A11) with the same person. One conversation solves two of the deck's open problems.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Say it is a recording, in the first sentence. "This is recorded — I'm not going to make you watch eighteen minutes." If they suspect staging you lose more than the demo gains, and the honesty costs nothing. A live run is not worth the risk: eighteen minutes of runtime, a network dependency, and a known truncation bug are three ways to fail in front of the people you are asking for money.</a:t>
            </a:r>
          </a:p>
          <a:p>
            <a:r>
              <a:rPr sz="1100"/>
              <a:t>Why this subject, said out loud: "I picked the one subject everyone in this room already knows cold, so you can judge the output instead of taking my word for it." That is the whole point — on any other topic they would have to trust you.</a:t>
            </a:r>
          </a:p>
          <a:p>
            <a:r>
              <a:rPr sz="1100"/>
              <a:t>Start the recording at the input screen, not at the pipeline. The opening seconds carry the argument: what goes in is a paragraph a person could write in two minutes. Everything after that is machine. If you start mid-pipeline, the audience never learns how little was required, and the effort asymmetry is the point of the whole slide.</a:t>
            </a:r>
          </a:p>
          <a:p>
            <a:r>
              <a:rPr sz="1100"/>
              <a:t>Name the two human checkpoints — they are features, not overhead. The advisor interrogating the description shows the system pushes back on a vague ask rather than generating regardless. The syllabus review shows the author approves the concept list before any content is produced. For an angel whose instinctive worry is "AI slop," the visible answer is that a person signs off on the outline and the machine does the labour. Do not let these read as loading screens; say what each one is as it appears.</a:t>
            </a:r>
          </a:p>
          <a:p>
            <a:r>
              <a:rPr sz="1100"/>
              <a:t>The callback to the Founder slide, if you want it. CKS also worked by interrogating a human — but it interrogated them for the knowledge, one concept at a time, which is what made it impractical. Qlaudia's advisor interrogates you for your intent, which takes two minutes, and the model supplies the knowledge. The dialogue survived; what it asks for is what changed. This is a good line and easy to overplay — use it once, in one sentence, and move on.</a:t>
            </a:r>
          </a:p>
          <a:p>
            <a:r>
              <a:rPr sz="1100"/>
              <a:t>The offer that replaces the live demo — make it before you leave. A recording can be cherry-picked and sophisticated investors know it, so recover the proof afterward: "Name any subject. I'll send you the course tomorrow." Zero risk, more impressive than a live run, and it turns the demo into a reason to talk again — which is exactly what you want from an angel who has not committed.</a:t>
            </a:r>
          </a:p>
          <a:p>
            <a:r>
              <a:rPr sz="1100"/>
              <a:t>⚠️ TODO — read the course before you record it. Pre-generating exists precisely so you can inspect before they do; skipping that step throws away the main advantage of not going live. You do not need to review everything: read the 5–8 concepts that appear on camera, plus anything touching deal terms, dilution, or valuation caps. Roughly twenty minutes. Fix or cut what is wrong — you control the edit.</a:t>
            </a:r>
          </a:p>
          <a:p>
            <a:r>
              <a:rPr sz="1100"/>
              <a:t>Two reasons this matters more here than it would on any other topic: an angel needs one glance at one paragraph to catch an error about angel investing, and a visible mistake does not read as a typo — it contradicts the Pipeline slide's claim of a verified pipeline. A clean demo gains you a little; a caught error costs you a lot.</a:t>
            </a:r>
          </a:p>
          <a:p>
            <a:r>
              <a:rPr sz="1100"/>
              <a:t>Remember they will look again later. The plan is to hand them the course link. In the room nobody inspects. Alone that evening, with time, they will.</a:t>
            </a:r>
          </a:p>
          <a:p>
            <a:r>
              <a:rPr sz="1100"/>
              <a:t>⚠️ TODO: record end to end — from typing the description, through the advisor exchange and the syllabus review, to browsing the finished course. Time-lapse the long stretches; keep the input and the review at real speed, since those are the parts that carry meaning. Keep the raw capture too — the unedited pipeline log is good diligence material.</a:t>
            </a:r>
          </a:p>
          <a:p>
            <a:r>
              <a:rPr sz="1100"/>
              <a:t>⚠️ TODO: still screenshots as a fallback for a room with no video, and for the send-after version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Call straight back to the Founder slide. This slide is far more persuasive as "I named the blocking constraint in 1985 and it was lifted in 2023" than as three generic market curves. The 1985 system had rigorous structure and no affordable acquisition. Today's chatbots have fluent acquisition and no structure. Qlaudia is the first moment both halves exist at once — and you can prove you've been holding one of them for forty years.</a:t>
            </a:r>
          </a:p>
          <a:p>
            <a:r>
              <a:rPr sz="1100"/>
              <a:t>Lead with the learner-behaviour curve, not the technology. The other three are supply-side arguments an angel has heard from every AI pitch this year. This one is demand-side, observable in their own household, and it retires the risk that usually kills education startups: nobody has to be taught to want this. Chatbots did that work already, for free, at a scale no startup could buy. Say it as "the adoption problem is already solved — what's missing is the product."</a:t>
            </a:r>
          </a:p>
          <a:p>
            <a:r>
              <a:rPr sz="1100"/>
              <a:t>Attach the number to the course they just watched. Not an abstract unit cost — that course, the one about raising an angel round: "That cost about five dollars to produce." A figure tied to an artifact in front of them is far harder to wave off than a figure on a slide.</a:t>
            </a:r>
          </a:p>
          <a:p>
            <a:r>
              <a:rPr sz="1100"/>
              <a:t>The $5 figure is the most repeatable line in the deck. "It costs about five dollars to generate what CKS needed a human expert to type in one concept at a time" is what angels say to each other afterward. Deliver it as a fact, not a boast, and let them do the multiplication.</a:t>
            </a:r>
          </a:p>
          <a:p>
            <a:r>
              <a:rPr sz="1100"/>
              <a:t>⚠️ It is currently an ESTIMATE, not a measurement — say so if pressed. It is derived bottom-up from the 64 domains already in the graph (concept counts, corpus size, edge counts) priced at current model rates; the full derivation is in Appendix A10. Cost instrumentation now runs on every generation, so this becomes a measured number on the next domain created. Replace the estimate with the measured figure before the first investor meeting — "we measured it" is a materially stronger answer than "we estimated it," and you're one pipeline run away from being able to say it.</a:t>
            </a:r>
          </a:p>
          <a:p>
            <a:r>
              <a:rPr sz="1100"/>
              <a:t>If asked "how do you know?" — the honest answer is strong: every stored domain's concept count, content volume, and edge count is known, and model pricing is public. The estimate is arithmetic over real artifacts, not a guess. Offer the appendix.</a:t>
            </a:r>
          </a:p>
          <a:p>
            <a:r>
              <a:rPr sz="1100"/>
              <a:t>Do not quote a cost lower than ~$5. Anthropic's Sonnet 5 introductory rate expires 2026-08-31; the $5 figure already assumes the higher post-promo rate, so it stays true after the promo lapses. A number that expires this month is the wrong number for a deck.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This slide now carries the "isn't this just a wrapper?" answer — it used to have its own slide, which mostly narrated footage the demo had already shown. The rebuttal is economic, not technical, which is why it belongs here rather than in a list of engineering features.</a:t>
            </a:r>
          </a:p>
          <a:p>
            <a:r>
              <a:rPr sz="1100"/>
              <a:t>The margin argument is the strongest thing on this slide. Most AI startups are inference pass-throughs: cost of goods scales linearly with usage, gross margin never improves, and the model provider captures the upside. Qlaudia inverts that — generation cost is incurred once per concept and amortised across every learner who ever studies it, so cost per learner falls toward zero while COGS stays flat. The asset appreciates. That is a structural answer, not a claim about product quality, which is what makes it hard to argue with.</a:t>
            </a:r>
          </a:p>
          <a:p>
            <a:r>
              <a:rPr sz="1100"/>
              <a:t>Mine-once is also why verification is possible at all. You cannot verify an explanation that does not exist yet. The figure pipeline runs generated code, checks it against assertions, and repairs on failure — a loop far too slow for a live chat turn. Doing the work once, offline, with a repair budget is what makes checking affordable. A chatbot cannot do this because the architecture forecloses it, not because the model is weaker.</a:t>
            </a:r>
          </a:p>
          <a:p>
            <a:r>
              <a:rPr sz="1100"/>
              <a:t>Two consequences worth having ready: a stored concept is corrected once and every future learner gets the fix, where a chatbot's mistake recurs forever because there is no artifact to correct; and importance ranking and prerequisite pathfinding are algorithms over a persisted graph — there is nothing to run them on if content is generated per question.</a:t>
            </a:r>
          </a:p>
          <a:p>
            <a:r>
              <a:rPr sz="1100"/>
              <a:t>The line that lands with a non-technical angel: "When Qlaudia draws a diagram, it doesn't sketch what a diagram usually looks like — it computes the actual figure and then checks it."</a:t>
            </a:r>
          </a:p>
          <a:p>
            <a:r>
              <a:rPr sz="1100"/>
              <a:t>Where content quality belongs: as a sales argument, not a disclaimer. Sceptical buyers in the beachhead are where verified figures win business. Deploy it there, or when an angel raises it — not as a pre-emptive defence of a doubt half the room did not have.</a:t>
            </a:r>
          </a:p>
          <a:p>
            <a:r>
              <a:rPr sz="1100"/>
              <a:t>Full technical detail is in Appendix A2 for anyone who asks — don't preempt it on the slide.</a:t>
            </a:r>
          </a:p>
          <a:p>
            <a:r>
              <a:rPr sz="1100"/>
              <a:t>Say "filed, not granted" before anyone asks. Angels are less patent-sophisticated than VCs on average, which cuts both ways: some over-value a filing, and the ones who know better will test whether you're overselling it. Being precise unprompted wins both rooms.</a:t>
            </a:r>
          </a:p>
          <a:p>
            <a:r>
              <a:rPr sz="1100"/>
              <a:t>⚠️ TODO: settle the exact wording if asked about the outstanding IDS and inventor declaration.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Lead with the supply-side insight, because it is the part nobody else can copy. Every content marketplace fails on supply: experts will not write courses, because writing one costs months. Qlaudia removes that cost — the course already exists, and the ask is a few hours of review. That is the difference between "no" and "yes" from a busy expert, and it is downstream of the generation engine rather than a business-model trick.</a:t>
            </a:r>
          </a:p>
          <a:p>
            <a:r>
              <a:rPr sz="1100"/>
              <a:t>On the 80%, and why it is permanent for the first cohort. Where the creator brings the audience, platform take is normally low — Substack and Gumroad sit near 10% — so 20% to us is roughly market, not generous. What matters more is the word for life. Cutting a creator's revenue share later is one of the most reliably damaging things a platform can do, and in a small community where SMEs talk to each other one aggrieved founding sponsor poisons recruiting for a year. So we never cut it: founding sponsors are grandfathered permanently and later cohorts join at a standard rate. Nobody ever loses anything, the early sponsors hold something genuinely valuable that they will talk about, and it costs almost nothing because the founding cohort is small by definition. "Founding sponsors keep 80% for life" also recruits far better than "80% for now."</a:t>
            </a:r>
          </a:p>
          <a:p>
            <a:r>
              <a:rPr sz="1100"/>
              <a:t>Say the margin thing before they ask it. Twenty percent does not cover overhead at low volume, and pretending otherwise invites a question you would lose. Say it deliberately instead: "We are not trying to make money on the first cohort. We are trying to find out whether this works." Margin comes from later cohorts, from volume, and from the expansion lines.</a:t>
            </a:r>
          </a:p>
          <a:p>
            <a:r>
              <a:rPr sz="1100"/>
              <a:t>⚠️ TODO: specify 80% of gross or of net after payment processing (Stripe takes ~3%). It must be unambiguous before anyone signs.</a:t>
            </a:r>
          </a:p>
          <a:p>
            <a:r>
              <a:rPr sz="1100"/>
              <a:t>On the expansion line — one line, and no more. Institutional licensing, enterprise seats and engine licensing are real, and they are inventoried in A9. But "lots of revenue options" is what founders say when they have not picked one, and angels hear it as unfocused. Naming a single motion is the signal. Keep the alternatives to the one line on the slide, have the detail ready if someone asks "is this the whole business?", and let them do their real work on the Returns Capital slide, where multiple revenue lines are part of why an acquirer pays.</a:t>
            </a:r>
          </a:p>
          <a:p>
            <a:r>
              <a:rPr sz="1100"/>
              <a:t>Why an SME says yes, in their words: a published course under their own name, their audience served, a credential, and income — for an evening's work. Nobody else in education can make that offer.</a:t>
            </a:r>
          </a:p>
          <a:p>
            <a:r>
              <a:rPr sz="1100"/>
              <a:t>It solves the distribution problem structurally, not by effort. The forum experiment showed Charles cannot post as a vendor without being removed. An SME promoting their own school is a member with standing. We are not buying attention; we are giving someone a reason to speak.</a:t>
            </a:r>
          </a:p>
          <a:p>
            <a:r>
              <a:rPr sz="1100"/>
              <a:t>On recruiting the un-famous, deliberately. An established authority has downside and no upside — they will not put their name on generated material. A teacher early or mid-career has the opposite calculus: a published course is a credential, visibility, and possibly income. They are also far easier to reach. The tension to be honest about is that a teacher with no reputation also has a small audience, so the profile worth hunting is a teacher who already has an audience — the teacher-creators on YouTube, TikTok and Instagram. Smaller pool, much higher payoff per recruit.</a:t>
            </a:r>
          </a:p>
          <a:p>
            <a:r>
              <a:rPr sz="1100"/>
              <a:t>Sequencing on payments — say this before you are asked. Purchasing is roughly two weeks of engineering and it is deliberately not first. Launch the first schools free, measure whether an SME's audience actually shows up — the genuinely unproven part — and build checkout once there is something to convert. Sponsors are paid an honorarium for the review work in the meantime.</a:t>
            </a:r>
          </a:p>
          <a:p>
            <a:r>
              <a:rPr sz="1100"/>
              <a:t>Keep the honorarium and the revenue share distinct. Paying someone to promote buys an advertisement, and their audience can smell it. Paying for the editorial work of reviewing a course is honest compensation for real hours and leaves the endorsement intact. The revenue share is what makes them a partner once there is revenue to share.</a:t>
            </a:r>
          </a:p>
          <a:p>
            <a:r>
              <a:rPr sz="1100"/>
              <a:t>Be precise about what a few schools tests. Three schools tests the mechanism — can we recruit, will they promote, does an audience arrive, will it pay. It does not test the hit; hits are rare and three shots will not produce one. The milestone this round buys is "the mechanism works and people pay." Lift-off is the round after. An angel will respect that distinction and discount the alternative.</a:t>
            </a:r>
          </a:p>
          <a:p>
            <a:r>
              <a:rPr sz="1100"/>
              <a:t>The portfolio logic, if they ask why this rather than one vertical. We are not betting on a subject, we are betting on a mechanism and letting subjects compete. Arrhythmia is a school. 7–12 maths is a school. The one that takes off tells us where to point everything else — and we find out from the market rather than from a slide.</a:t>
            </a:r>
          </a:p>
          <a:p>
            <a:r>
              <a:rPr sz="1100"/>
              <a:t>This resolves the demo question too. Any subject can be a school, which is what the generality demo was showing. There is no longer a gap between what you demonstrated and what you sell.</a:t>
            </a:r>
          </a:p>
          <a:p>
            <a:r>
              <a:rPr sz="1100"/>
              <a:t>⚠️ TODO: which schools go first, and the named SMEs to approach.</a:t>
            </a:r>
          </a:p>
          <a:p>
            <a:r>
              <a:rPr sz="1100"/>
              <a:t>⚠️ TODO: the bottom-up number — schools × audience × conversion × price.</a:t>
            </a:r>
          </a:p>
          <a:p>
            <a:r>
              <a:rPr sz="1100"/>
              <a:t>⚠️ TODO: a review workflow that makes "blessing" meaningful. An SME who skims and signs is exposed if the course is wrong, and one public instance makes recruiting much harder. Being able to describe the workflow is itself a recruiting asset.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Lead with what's built, then volunteer what isn't. The build numbers are real artifacts in the production graph — verifiable in a single query — produced by one person. That is execution evidence, and it is the strongest thing on the slide.</a:t>
            </a:r>
          </a:p>
          <a:p>
            <a:r>
              <a:rPr sz="1100"/>
              <a:t>The single best data point you have is one person. Five arrhythmia courses, 224 concepts, every one completed, in sequence. That is not browsing — that is someone using Qlaudia as their actual learning path through a hard clinical subject, and analytics show roughly 23 hours of engagement behind it. One user like that is worth more than a thousand visitors, and an angel knows it. Name him, describe what he did, and stop.</a:t>
            </a:r>
          </a:p>
          <a:p>
            <a:r>
              <a:rPr sz="1100"/>
              <a:t>Say the quiz number before they find it. Nobody in production has answered a single assessment question — competency is 0% across every user. Progress is self-marked "got it," not demonstrated mastery. Volunteer this: it is a product-surfacing problem, it is fixable, and it is exactly the kind of thing that destroys credibility if they discover it after you have described assessments as a differentiator on the Pipeline slide.</a:t>
            </a:r>
          </a:p>
          <a:p>
            <a:r>
              <a:rPr sz="1100"/>
              <a:t>The forum experiment is the evidence for the whole business model — tell it as a story. One post to an arrhythmia forum, about Charles's own condition, linking a school he had built for himself. It produced the site's best traffic and its only power user. Every other forum post he tried was removed by moderators as advertising. The lesson is that moderators judge standing, not content — same offer, member versus stranger, opposite outcome. That is exactly why the model is "an SME publishes their own school," not "we post in forums." An angel who knows online communities will ask about moderation the moment forums come up; having already run the experiment and designed around the result is a far better answer than a plan that has never met a moderator.</a:t>
            </a:r>
          </a:p>
          <a:p>
            <a:r>
              <a:rPr sz="1100"/>
              <a:t>Be equally straight about the funnel. 86 visitors produced 15 accounts, and most engaged sessions come from two locations — Charles and the one power user. The honest reading is that the product works on the people who reach it, and almost nobody reaches it. That is a conversion problem, not a proof problem, and it is what the round addresses.</a:t>
            </a:r>
          </a:p>
          <a:p>
            <a:r>
              <a:rPr sz="1100"/>
              <a:t>The reframe that works: the risk retired here is technical. The pipeline works end to end, the content is verifiable, the patent is filed, and real users complete real courses. What is unproven is distribution — which is exactly what this round buys.</a:t>
            </a:r>
          </a:p>
          <a:p>
            <a:r>
              <a:rPr sz="1100"/>
              <a:t>⚠️ TODO: refresh these figures the week of the pitch; they move. scripts/list_user_enrollments.py --prod produces the usage half.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Open with the asymmetry, in these words: "Most people at this stage are asking you to fund a build. I've already built it. This round funds getting it in front of people, and the infrastructure to handle them when they arrive." Most angel deals carry both build risk and market risk; you are asking them to carry one. Say so — it is the single strongest framing available to you and it belongs here, not buried.</a:t>
            </a:r>
          </a:p>
          <a:p>
            <a:r>
              <a:rPr sz="1100"/>
              <a:t>Say "feature-complete, hardening needed for scale," never "complete." The product works, has never met load, and runs on free tiers. The precise version is credible and justifies line item 2; the simple version invites someone to go find the exception — and they will.</a:t>
            </a:r>
          </a:p>
          <a:p>
            <a:r>
              <a:rPr sz="1100"/>
              <a:t>Rate limiting is a financial control, not a performance one. Each generated course costs about $5 in model calls. Exposed without hard limits, that is a direct attack surface on your bank account. Saying this demonstrates you understand your own unit economics as a liability, not only as a selling point.</a:t>
            </a:r>
          </a:p>
          <a:p>
            <a:r>
              <a:rPr sz="1100"/>
              <a:t>Why revenue starts when it starts. Sponsors have to be recruited, their courses generated and reviewed, and their audiences given time to arrive before there is anything to convert. That is a sequence, not a delay — and it is a better answer than a traffic projection. Where a school is aimed at homeschool families, the February-to-August curriculum buying season applies and the 2026 cycle has already closed; say that only for the schools it is true of, not as the frame for the whole round.</a:t>
            </a:r>
          </a:p>
          <a:p>
            <a:r>
              <a:rPr sz="1100"/>
              <a:t>Bucket 2 is deliberately sequenced, and saying so is a strength. Purchasing is about two weeks of work and it is not first, because the unproven thing is whether an SME's audience arrives — not whether Stripe works. Launch free, measure, then build checkout against real demand. Spending eighty hours on a till for a shop nobody visits is the classic pre-revenue mistake, and being explicit that you have avoided it reads as discipline.</a:t>
            </a:r>
          </a:p>
          <a:p>
            <a:r>
              <a:rPr sz="1100"/>
              <a:t>On paying sponsors before there is revenue. An honorarium for the review work is compensation for real hours and leaves the endorsement clean; paying for promotion buys an advertisement, and audiences can tell. Keep them distinct, and make the revenue share the thing that matters once revenue exists.</a:t>
            </a:r>
          </a:p>
          <a:p>
            <a:r>
              <a:rPr sz="1100"/>
              <a:t>Angels care about one thing on this slide: what is measurably true afterwards that isn't true today. Name that milestone, then tie all three buckets to it.</a:t>
            </a:r>
          </a:p>
          <a:p>
            <a:r>
              <a:rPr sz="1100"/>
              <a:t>The total on this slide must equal the raise on slide 13. That is the whole reason the three buckets are stated in dollars rather than two in dollars and one in months — an angel should be able to add them up in their head and land on your ask. If the numbers don't reconcile, the obvious question is where the remainder goes, and it implies the round size was chosen before the plan. Decide what the work costs, sum it, and let that be the ask — never the reverse.</a:t>
            </a:r>
          </a:p>
          <a:p>
            <a:r>
              <a:rPr sz="1100"/>
              <a:t>⚠️ TODO: the numbers. Three bucket amounts, the total, and the months of runway that total represents — the total drops straight into slide 13, so settle this slide first.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This slide is the biggest structural difference between an angel deck and a VC deck. A VC deck says "raising a seed round" and negotiates terms over subsequent weeks. An angel is often deciding in the room, and can't decide without knowing the instrument, the cap, and the minimum check. Leaving terms off the slide forces every interested angel to ask — and some won't.</a:t>
            </a:r>
          </a:p>
          <a:p>
            <a:r>
              <a:rPr sz="1100"/>
              <a:t>Naming a minimum check also does quiet qualification work: it tells a $10K angel they're looking at a syndicate, not a solo allocation, without an awkward conversation.</a:t>
            </a:r>
          </a:p>
          <a:p>
            <a:r>
              <a:rPr sz="1100"/>
              <a:t>What each term means — you will be asked, and hesitating here reads badly.</a:t>
            </a:r>
          </a:p>
          <a:p>
            <a:r>
              <a:rPr sz="1100"/>
              <a:t>- SAFE — Simple Agreement for Future Equity. The investor pays now and receives shares later, when a priced round happens. Not a loan: no interest, no maturity date, nothing that can be called. It lets you take money without agreeing a valuation today. Y Combinator publishes the standard document free; using it unmodified keeps legal costs near zero and means no angel needs a lawyer to read novel language.</a:t>
            </a:r>
          </a:p>
          <a:p>
            <a:r>
              <a:rPr sz="1100"/>
              <a:t>- Valuation cap — the highest company valuation their money will convert at. They get the cap price or the actual round price, whichever is better for them. If you later raise at $12M and their cap was $4M, their money buys shares as though the company were worth $4M — roughly three times what a new investor gets for the same cheque. That advantage is their compensation for going first.</a:t>
            </a:r>
          </a:p>
          <a:p>
            <a:r>
              <a:rPr sz="1100"/>
              <a:t>- Post-money — means ownership is calculable immediately: cheque ÷ cap. $50k at a $4M cap is 1.25%, full stop. Be clear-eyed that with post-money SAFEs each additional SAFE dilutes you, not the earlier holders.</a:t>
            </a:r>
          </a:p>
          <a:p>
            <a:r>
              <a:rPr sz="1100"/>
              <a:t>- Minimum cheque — the smallest allocation you will accept. It also does quiet qualification work: it tells a $10k angel they are looking at a syndicate rather than a direct allocation, without an awkward conversation.</a:t>
            </a:r>
          </a:p>
          <a:p>
            <a:r>
              <a:rPr sz="1100"/>
              <a:t>- Committed to date — money already in or verbally committed, founder capital included. Angels move in herds; a round that is partly filled is materially easier to fill.</a:t>
            </a:r>
          </a:p>
          <a:p>
            <a:r>
              <a:rPr sz="1100"/>
              <a:t>- Pro-rata — the right, not the obligation, to invest again in the next round to keep their percentage. Angels value this highly, because their returns depend on concentrating into the few winners. It costs you nothing today but consumes allocation later, which is why the usual compromise is to grant it only above a minimum cheque size.</a:t>
            </a:r>
          </a:p>
          <a:p>
            <a:r>
              <a:rPr sz="1100"/>
              <a:t>Do the ownership arithmetic for them, on the slide. A sophisticated angel will work out that a $50k cheque at a $4M cap is 1.25%; many will not bother, and some will get it wrong. Stating it signals you have thought about their side of the table.</a:t>
            </a:r>
          </a:p>
          <a:p>
            <a:r>
              <a:rPr sz="1100"/>
              <a:t>Keep term-sheet detail off the slide. Discount rates, MFN clauses and conversion mechanics belong in the SAFE document. Putting them here makes the round look like a negotiation rather than an invitation.</a:t>
            </a:r>
          </a:p>
          <a:p>
            <a:r>
              <a:rPr sz="1100"/>
              <a:t>⚠️ TODO: Charles — a standard post-money SAFE is the lowest-friction instrument for a round of this shape, but the cap is a real decision. Worth a conversation before the first meeting, since it is hard to revise downward once quoted.</a:t>
            </a:r>
          </a:p>
          <a:p>
            <a:r>
              <a:rPr sz="1100"/>
              <a:t>⚠️ TODO: decide whether pro-rata is offered, and above what cheque size. Under the post-money SAFE it is not automatic — it requires a separate side letter, so offering it is a deliberate act.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This slide does not exist in a typical VC deck, and it must exist here. A VC's returns come from portfolio construction and they'll model exits themselves. An angel is writing a personal check with no fund structure behind it and is asking, consciously or not, "how does this become money again?" Answering it unprompted is a mark of respect for their position.</a:t>
            </a:r>
          </a:p>
          <a:p>
            <a:r>
              <a:rPr sz="1100"/>
              <a:t>Don't overreach on numbers — naming plausible acquirer categories and why each is structurally motivated is more credible than a fabricated multiple.</a:t>
            </a:r>
          </a:p>
          <a:p>
            <a:r>
              <a:rPr sz="1100"/>
              <a:t>Note the publishers are simultaneously the competition named on the Market slide and the most motivated acquirers. That's a strength; say so.</a:t>
            </a:r>
          </a:p>
          <a:p>
            <a:r>
              <a:rPr sz="1100"/>
              <a:t>Closing beat, after the last slide. End on the demo rather than on the ask — hand them the link to the course they watched being built, and make the offer: "Name any subject and I'll send you that course tomorrow." It leaves them with something of their own rather than a request, and it gives you a reason to be back in their inbox within 24 hours without chasing.</a:t>
            </a:r>
          </a:p>
          <a:p>
            <a:r>
              <a:rPr sz="1100"/>
              <a:t>The frontier-lab argument, made properly. Three reinforcing reasons, in order of strength:</a:t>
            </a:r>
          </a:p>
          <a:p>
            <a:r>
              <a:rPr sz="1100"/>
              <a:t>1. Cost asymmetry. Our ~$5 per course is what a lab charges for inference. Their internal cost to run the identical pipeline is a fraction of that. Every unit-economic constraint we operate under disappears for them — the same asset throws off far better margins in their hands than in ours. That is the textbook definition of an acquirer who can pay more for a business than it is worth standalone.</a:t>
            </a:r>
          </a:p>
          <a:p>
            <a:r>
              <a:rPr sz="1100"/>
              <a:t>2. Vertical integration. Today we are their customer. Acquiring converts a customer's margin into their own product line.</a:t>
            </a:r>
          </a:p>
          <a:p>
            <a:r>
              <a:rPr sz="1100"/>
              <a:t>3. They already have the gap. Every frontier lab is pushing into education and every one of them ships a fluent tutor with no curriculum, no mastery model, and no prerequisite structure — precisely the deficiency on the Problem slide. We are the missing layer, already built.</a:t>
            </a:r>
          </a:p>
          <a:p>
            <a:r>
              <a:rPr sz="1100"/>
              <a:t>⚠️ Raising this invites the hardest question in the deck — have the answer ready before you say it. "If it's such a natural extension, why won't Anthropic just build it themselves?" Answer in three parts, briefly:</a:t>
            </a:r>
          </a:p>
          <a:p>
            <a:r>
              <a:rPr sz="1100"/>
              <a:t>- The patent. Filed non-provisional, two independent claim sets covering generation and delivery separately. This is exactly the scenario the filing exists for, and it converts "build it" into "license or acquire it."</a:t>
            </a:r>
          </a:p>
          <a:p>
            <a:r>
              <a:rPr sz="1100"/>
              <a:t>- Labs build horizontally. They ship platforms and general capability; verticals are where they acquire rather than build. A curriculum graph with domain-specific verification is not on a frontier lab's roadmap.</a:t>
            </a:r>
          </a:p>
          <a:p>
            <a:r>
              <a:rPr sz="1100"/>
              <a:t>- The hard part isn't generation. It's the verified-figure pipeline, the separate-QA architecture, and the accumulated cross-linked graph — years of specific engineering that doesn't fall out of a better base model.</a:t>
            </a:r>
          </a:p>
          <a:p>
            <a:r>
              <a:rPr sz="1100"/>
              <a:t>Do not raise the frontier-lab category unless you can deliver that rebuttal cleanly. Unanswered, "why won't the labs just do this?" is the objection most likely to kill an angel's interest — it makes the whole company sound like a feature. Answered well, it does the opposite: it says the most sophisticated buyers in technology are structurally motivated to want you.</a:t>
            </a:r>
          </a:p>
          <a:p>
            <a:r>
              <a:rPr sz="1100"/>
              <a:t>This makes the Defensibility slide load-bearing. If the exit story leans on frontier labs, the patent stops being a nice-to-have and becomes the thing standing between you and being built around. Expect follow-up questions on claim scope.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92B"/>
        </a:solidFill>
        <a:effectLst/>
      </p:bgPr>
    </p:bg>
    <p:spTree>
      <p:nvGrpSpPr>
        <p:cNvPr id="1" name=""/>
        <p:cNvGrpSpPr/>
        <p:nvPr/>
      </p:nvGrpSpPr>
      <p:grpSpPr/>
      <p:sp>
        <p:nvSpPr>
          <p:cNvPr id="2" name="TextBox 1"/>
          <p:cNvSpPr txBox="1"/>
          <p:nvPr/>
        </p:nvSpPr>
        <p:spPr>
          <a:xfrm>
            <a:off x="841247" y="2148840"/>
            <a:ext cx="9960559" cy="2011680"/>
          </a:xfrm>
          <a:prstGeom prst="rect">
            <a:avLst/>
          </a:prstGeom>
          <a:noFill/>
        </p:spPr>
        <p:txBody>
          <a:bodyPr wrap="square" lIns="0" rIns="0" tIns="0" bIns="0">
            <a:spAutoFit/>
          </a:bodyPr>
          <a:lstStyle/>
          <a:p>
            <a:r>
              <a:rPr sz="6000" b="1">
                <a:solidFill>
                  <a:srgbClr val="FFFFFF"/>
                </a:solidFill>
                <a:latin typeface="Segoe UI"/>
              </a:rPr>
              <a:t>Qlaudia</a:t>
            </a:r>
          </a:p>
        </p:txBody>
      </p:sp>
      <p:sp>
        <p:nvSpPr>
          <p:cNvPr id="3" name="Rectangle 2"/>
          <p:cNvSpPr/>
          <p:nvPr/>
        </p:nvSpPr>
        <p:spPr>
          <a:xfrm>
            <a:off x="841247" y="3246120"/>
            <a:ext cx="1463040" cy="32004"/>
          </a:xfrm>
          <a:prstGeom prst="rect">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3520440"/>
            <a:ext cx="9960559" cy="822960"/>
          </a:xfrm>
          <a:prstGeom prst="rect">
            <a:avLst/>
          </a:prstGeom>
          <a:noFill/>
        </p:spPr>
        <p:txBody>
          <a:bodyPr wrap="square" lIns="0" rIns="0" tIns="0" bIns="0">
            <a:spAutoFit/>
          </a:bodyPr>
          <a:lstStyle/>
          <a:p>
            <a:r>
              <a:rPr sz="2200">
                <a:solidFill>
                  <a:srgbClr val="9AA1B8"/>
                </a:solidFill>
                <a:latin typeface="Segoe UI"/>
              </a:rPr>
              <a:t>Angel Investor Pitch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2   </a:t>
            </a:r>
            <a:r>
              <a:rPr sz="2500" b="1">
                <a:solidFill>
                  <a:srgbClr val="15192B"/>
                </a:solidFill>
                <a:latin typeface="Segoe UI"/>
              </a:rPr>
              <a:t>Education Is the Largest Untransformed Market on Earth</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661416"/>
          </a:xfrm>
          <a:prstGeom prst="rect">
            <a:avLst/>
          </a:prstGeom>
          <a:noFill/>
        </p:spPr>
        <p:txBody>
          <a:bodyPr wrap="square" lIns="0" rIns="0" tIns="0" bIns="0">
            <a:spAutoFit/>
          </a:bodyPr>
          <a:lstStyle/>
          <a:p>
            <a:r>
              <a:rPr sz="1700" b="1" i="0">
                <a:solidFill>
                  <a:srgbClr val="15192B"/>
                </a:solidFill>
                <a:latin typeface="Segoe UI"/>
              </a:rPr>
              <a:t>$7.3 trillion is spent teaching people every year. It is the last great industry whose product is still made entirely by hand.</a:t>
            </a:r>
          </a:p>
        </p:txBody>
      </p:sp>
      <p:sp>
        <p:nvSpPr>
          <p:cNvPr id="5" name="TextBox 4"/>
          <p:cNvSpPr txBox="1"/>
          <p:nvPr/>
        </p:nvSpPr>
        <p:spPr>
          <a:xfrm>
            <a:off x="566928" y="1996440"/>
            <a:ext cx="5336895" cy="316382"/>
          </a:xfrm>
          <a:prstGeom prst="rect">
            <a:avLst/>
          </a:prstGeom>
          <a:noFill/>
        </p:spPr>
        <p:txBody>
          <a:bodyPr wrap="square" lIns="0" rIns="0" tIns="0" bIns="0">
            <a:spAutoFit/>
          </a:bodyPr>
          <a:lstStyle/>
          <a:p>
            <a:r>
              <a:rPr sz="852" b="1">
                <a:solidFill>
                  <a:srgbClr val="4A3AFF"/>
                </a:solidFill>
                <a:latin typeface="Segoe UI"/>
              </a:rPr>
              <a:t>EDUCATION IS THE SECOND-LARGEST SECTOR OF HUMAN ACTIVITY ON EARTH</a:t>
            </a:r>
          </a:p>
        </p:txBody>
      </p:sp>
      <p:graphicFrame>
        <p:nvGraphicFramePr>
          <p:cNvPr id="6" name="Table 5"/>
          <p:cNvGraphicFramePr>
            <a:graphicFrameLocks noGrp="1"/>
          </p:cNvGraphicFramePr>
          <p:nvPr/>
        </p:nvGraphicFramePr>
        <p:xfrm>
          <a:off x="566928" y="2312822"/>
          <a:ext cx="5336894" cy="1199690"/>
        </p:xfrm>
        <a:graphic>
          <a:graphicData uri="http://schemas.openxmlformats.org/drawingml/2006/table">
            <a:tbl>
              <a:tblPr firstRow="1">
                <a:tableStyleId>{5C22544A-7EE6-4342-B048-85BDC9FD1C3A}</a:tableStyleId>
              </a:tblPr>
              <a:tblGrid>
                <a:gridCol w="2134758"/>
                <a:gridCol w="1601068"/>
                <a:gridCol w="1601068"/>
              </a:tblGrid>
              <a:tr h="254934">
                <a:tc>
                  <a:txBody>
                    <a:bodyPr wrap="square"/>
                    <a:lstStyle/>
                    <a:p>
                      <a:r>
                        <a:rPr sz="902" b="1">
                          <a:solidFill>
                            <a:srgbClr val="15192B"/>
                          </a:solidFill>
                          <a:latin typeface="Segoe UI"/>
                        </a:rPr>
                        <a:t>Sector</a:t>
                      </a:r>
                    </a:p>
                  </a:txBody>
                  <a:tcPr marL="82296" marR="64008" marT="32004" marB="32004" anchor="ctr">
                    <a:solidFill>
                      <a:srgbClr val="F4F5F9"/>
                    </a:solidFill>
                  </a:tcPr>
                </a:tc>
                <a:tc>
                  <a:txBody>
                    <a:bodyPr wrap="square"/>
                    <a:lstStyle/>
                    <a:p>
                      <a:r>
                        <a:rPr sz="902" b="1">
                          <a:solidFill>
                            <a:srgbClr val="15192B"/>
                          </a:solidFill>
                          <a:latin typeface="Segoe UI"/>
                        </a:rPr>
                        <a:t>Annual global spend</a:t>
                      </a:r>
                    </a:p>
                  </a:txBody>
                  <a:tcPr marL="82296" marR="64008" marT="32004" marB="32004" anchor="ctr">
                    <a:solidFill>
                      <a:srgbClr val="F4F5F9"/>
                    </a:solidFill>
                  </a:tcPr>
                </a:tc>
                <a:tc>
                  <a:txBody>
                    <a:bodyPr wrap="square"/>
                    <a:lstStyle/>
                    <a:p>
                      <a:r>
                        <a:rPr sz="902" b="1">
                          <a:solidFill>
                            <a:srgbClr val="15192B"/>
                          </a:solidFill>
                          <a:latin typeface="Segoe UI"/>
                        </a:rPr>
                        <a:t>Source</a:t>
                      </a:r>
                    </a:p>
                  </a:txBody>
                  <a:tcPr marL="82296" marR="64008" marT="32004" marB="32004" anchor="ctr">
                    <a:solidFill>
                      <a:srgbClr val="F4F5F9"/>
                    </a:solidFill>
                  </a:tcPr>
                </a:tc>
              </a:tr>
              <a:tr h="236189">
                <a:tc>
                  <a:txBody>
                    <a:bodyPr wrap="square"/>
                    <a:lstStyle/>
                    <a:p>
                      <a:r>
                        <a:rPr sz="902" b="0" i="0">
                          <a:solidFill>
                            <a:srgbClr val="5A6072"/>
                          </a:solidFill>
                          <a:latin typeface="Segoe UI"/>
                        </a:rPr>
                        <a:t>Healthcare</a:t>
                      </a:r>
                    </a:p>
                  </a:txBody>
                  <a:tcPr marL="82296" marR="64008" marT="32004" marB="32004" anchor="ctr">
                    <a:solidFill>
                      <a:srgbClr val="FFFFFF"/>
                    </a:solidFill>
                  </a:tcPr>
                </a:tc>
                <a:tc>
                  <a:txBody>
                    <a:bodyPr wrap="square"/>
                    <a:lstStyle/>
                    <a:p>
                      <a:r>
                        <a:rPr sz="902" b="0" i="0">
                          <a:solidFill>
                            <a:srgbClr val="5A6072"/>
                          </a:solidFill>
                          <a:latin typeface="Segoe UI"/>
                        </a:rPr>
                        <a:t>$9.8T </a:t>
                      </a:r>
                      <a:r>
                        <a:rPr sz="902" b="0" i="1">
                          <a:solidFill>
                            <a:srgbClr val="5A6072"/>
                          </a:solidFill>
                          <a:latin typeface="Segoe UI"/>
                        </a:rPr>
                        <a:t>(2022)</a:t>
                      </a:r>
                    </a:p>
                  </a:txBody>
                  <a:tcPr marL="82296" marR="64008" marT="32004" marB="32004" anchor="ctr">
                    <a:solidFill>
                      <a:srgbClr val="FFFFFF"/>
                    </a:solidFill>
                  </a:tcPr>
                </a:tc>
                <a:tc>
                  <a:txBody>
                    <a:bodyPr wrap="square"/>
                    <a:lstStyle/>
                    <a:p>
                      <a:r>
                        <a:rPr sz="902" b="0" i="0">
                          <a:solidFill>
                            <a:srgbClr val="5A6072"/>
                          </a:solidFill>
                          <a:latin typeface="Segoe UI"/>
                        </a:rPr>
                        <a:t>WHO — 9.9% of global GDP</a:t>
                      </a:r>
                    </a:p>
                  </a:txBody>
                  <a:tcPr marL="82296" marR="64008" marT="32004" marB="32004" anchor="ctr">
                    <a:solidFill>
                      <a:srgbClr val="FFFFFF"/>
                    </a:solidFill>
                  </a:tcPr>
                </a:tc>
              </a:tr>
              <a:tr h="236189">
                <a:tc>
                  <a:txBody>
                    <a:bodyPr wrap="square"/>
                    <a:lstStyle/>
                    <a:p>
                      <a:r>
                        <a:rPr sz="902" b="1" i="0">
                          <a:solidFill>
                            <a:srgbClr val="15192B"/>
                          </a:solidFill>
                          <a:latin typeface="Segoe UI"/>
                        </a:rPr>
                        <a:t>Education &amp; training</a:t>
                      </a:r>
                    </a:p>
                  </a:txBody>
                  <a:tcPr marL="82296" marR="64008" marT="32004" marB="32004" anchor="ctr">
                    <a:solidFill>
                      <a:srgbClr val="FFFFFF"/>
                    </a:solidFill>
                  </a:tcPr>
                </a:tc>
                <a:tc>
                  <a:txBody>
                    <a:bodyPr wrap="square"/>
                    <a:lstStyle/>
                    <a:p>
                      <a:r>
                        <a:rPr sz="902" b="1" i="0">
                          <a:solidFill>
                            <a:srgbClr val="15192B"/>
                          </a:solidFill>
                          <a:latin typeface="Segoe UI"/>
                        </a:rPr>
                        <a:t>$7.3T</a:t>
                      </a:r>
                      <a:r>
                        <a:rPr sz="902" b="0" i="0">
                          <a:solidFill>
                            <a:srgbClr val="5A6072"/>
                          </a:solidFill>
                          <a:latin typeface="Segoe UI"/>
                        </a:rPr>
                        <a:t> </a:t>
                      </a:r>
                      <a:r>
                        <a:rPr sz="902" b="0" i="1">
                          <a:solidFill>
                            <a:srgbClr val="5A6072"/>
                          </a:solidFill>
                          <a:latin typeface="Segoe UI"/>
                        </a:rPr>
                        <a:t>(2025)</a:t>
                      </a:r>
                    </a:p>
                  </a:txBody>
                  <a:tcPr marL="82296" marR="64008" marT="32004" marB="32004" anchor="ctr">
                    <a:solidFill>
                      <a:srgbClr val="FFFFFF"/>
                    </a:solidFill>
                  </a:tcPr>
                </a:tc>
                <a:tc>
                  <a:txBody>
                    <a:bodyPr wrap="square"/>
                    <a:lstStyle/>
                    <a:p>
                      <a:r>
                        <a:rPr sz="902" b="0" i="0">
                          <a:solidFill>
                            <a:srgbClr val="5A6072"/>
                          </a:solidFill>
                          <a:latin typeface="Segoe UI"/>
                        </a:rPr>
                        <a:t>HolonIQ</a:t>
                      </a:r>
                    </a:p>
                  </a:txBody>
                  <a:tcPr marL="82296" marR="64008" marT="32004" marB="32004" anchor="ctr">
                    <a:solidFill>
                      <a:srgbClr val="FFFFFF"/>
                    </a:solidFill>
                  </a:tcPr>
                </a:tc>
              </a:tr>
              <a:tr h="236189">
                <a:tc>
                  <a:txBody>
                    <a:bodyPr wrap="square"/>
                    <a:lstStyle/>
                    <a:p>
                      <a:r>
                        <a:rPr sz="902" b="0" i="0">
                          <a:solidFill>
                            <a:srgbClr val="5A6072"/>
                          </a:solidFill>
                          <a:latin typeface="Segoe UI"/>
                        </a:rPr>
                        <a:t>All IT spending worldwide</a:t>
                      </a:r>
                    </a:p>
                  </a:txBody>
                  <a:tcPr marL="82296" marR="64008" marT="32004" marB="32004" anchor="ctr">
                    <a:solidFill>
                      <a:srgbClr val="FFFFFF"/>
                    </a:solidFill>
                  </a:tcPr>
                </a:tc>
                <a:tc>
                  <a:txBody>
                    <a:bodyPr wrap="square"/>
                    <a:lstStyle/>
                    <a:p>
                      <a:r>
                        <a:rPr sz="902" b="0" i="0">
                          <a:solidFill>
                            <a:srgbClr val="5A6072"/>
                          </a:solidFill>
                          <a:latin typeface="Segoe UI"/>
                        </a:rPr>
                        <a:t>$5.43T </a:t>
                      </a:r>
                      <a:r>
                        <a:rPr sz="902" b="0" i="1">
                          <a:solidFill>
                            <a:srgbClr val="5A6072"/>
                          </a:solidFill>
                          <a:latin typeface="Segoe UI"/>
                        </a:rPr>
                        <a:t>(2025)</a:t>
                      </a:r>
                    </a:p>
                  </a:txBody>
                  <a:tcPr marL="82296" marR="64008" marT="32004" marB="32004" anchor="ctr">
                    <a:solidFill>
                      <a:srgbClr val="FFFFFF"/>
                    </a:solidFill>
                  </a:tcPr>
                </a:tc>
                <a:tc>
                  <a:txBody>
                    <a:bodyPr wrap="square"/>
                    <a:lstStyle/>
                    <a:p>
                      <a:r>
                        <a:rPr sz="902" b="0" i="0">
                          <a:solidFill>
                            <a:srgbClr val="5A6072"/>
                          </a:solidFill>
                          <a:latin typeface="Segoe UI"/>
                        </a:rPr>
                        <a:t>Gartner</a:t>
                      </a:r>
                    </a:p>
                  </a:txBody>
                  <a:tcPr marL="82296" marR="64008" marT="32004" marB="32004" anchor="ctr">
                    <a:solidFill>
                      <a:srgbClr val="FFFFFF"/>
                    </a:solidFill>
                  </a:tcPr>
                </a:tc>
              </a:tr>
              <a:tr h="236189">
                <a:tc>
                  <a:txBody>
                    <a:bodyPr wrap="square"/>
                    <a:lstStyle/>
                    <a:p>
                      <a:r>
                        <a:rPr sz="902" b="0" i="0">
                          <a:solidFill>
                            <a:srgbClr val="5A6072"/>
                          </a:solidFill>
                          <a:latin typeface="Segoe UI"/>
                        </a:rPr>
                        <a:t>All military spending worldwide</a:t>
                      </a:r>
                    </a:p>
                  </a:txBody>
                  <a:tcPr marL="82296" marR="64008" marT="32004" marB="32004" anchor="ctr">
                    <a:solidFill>
                      <a:srgbClr val="FFFFFF"/>
                    </a:solidFill>
                  </a:tcPr>
                </a:tc>
                <a:tc>
                  <a:txBody>
                    <a:bodyPr wrap="square"/>
                    <a:lstStyle/>
                    <a:p>
                      <a:r>
                        <a:rPr sz="902" b="0" i="0">
                          <a:solidFill>
                            <a:srgbClr val="5A6072"/>
                          </a:solidFill>
                          <a:latin typeface="Segoe UI"/>
                        </a:rPr>
                        <a:t>$2.72T </a:t>
                      </a:r>
                      <a:r>
                        <a:rPr sz="902" b="0" i="1">
                          <a:solidFill>
                            <a:srgbClr val="5A6072"/>
                          </a:solidFill>
                          <a:latin typeface="Segoe UI"/>
                        </a:rPr>
                        <a:t>(2024)</a:t>
                      </a:r>
                    </a:p>
                  </a:txBody>
                  <a:tcPr marL="82296" marR="64008" marT="32004" marB="32004" anchor="ctr">
                    <a:solidFill>
                      <a:srgbClr val="FFFFFF"/>
                    </a:solidFill>
                  </a:tcPr>
                </a:tc>
                <a:tc>
                  <a:txBody>
                    <a:bodyPr wrap="square"/>
                    <a:lstStyle/>
                    <a:p>
                      <a:r>
                        <a:rPr sz="902" b="0" i="0">
                          <a:solidFill>
                            <a:srgbClr val="5A6072"/>
                          </a:solidFill>
                          <a:latin typeface="Segoe UI"/>
                        </a:rPr>
                        <a:t>SIPRI</a:t>
                      </a:r>
                    </a:p>
                  </a:txBody>
                  <a:tcPr marL="82296" marR="64008" marT="32004" marB="32004" anchor="ctr">
                    <a:solidFill>
                      <a:srgbClr val="FFFFFF"/>
                    </a:solidFill>
                  </a:tcPr>
                </a:tc>
              </a:tr>
            </a:tbl>
          </a:graphicData>
        </a:graphic>
      </p:graphicFrame>
      <p:sp>
        <p:nvSpPr>
          <p:cNvPr id="7" name="TextBox 6"/>
          <p:cNvSpPr txBox="1"/>
          <p:nvPr/>
        </p:nvSpPr>
        <p:spPr>
          <a:xfrm>
            <a:off x="566928" y="3695395"/>
            <a:ext cx="5336895" cy="511835"/>
          </a:xfrm>
          <a:prstGeom prst="rect">
            <a:avLst/>
          </a:prstGeom>
          <a:noFill/>
        </p:spPr>
        <p:txBody>
          <a:bodyPr wrap="square" lIns="0" rIns="0" tIns="0" bIns="0">
            <a:spAutoFit/>
          </a:bodyPr>
          <a:lstStyle/>
          <a:p>
            <a:r>
              <a:rPr sz="1106" b="1" i="0">
                <a:solidFill>
                  <a:srgbClr val="15192B"/>
                </a:solidFill>
                <a:latin typeface="Segoe UI"/>
              </a:rPr>
              <a:t>Larger than the entire global IT industry. Roughly 2.7× the world's combined military spending.</a:t>
            </a:r>
          </a:p>
        </p:txBody>
      </p:sp>
      <p:sp>
        <p:nvSpPr>
          <p:cNvPr id="8" name="TextBox 7"/>
          <p:cNvSpPr txBox="1"/>
          <p:nvPr/>
        </p:nvSpPr>
        <p:spPr>
          <a:xfrm>
            <a:off x="566928" y="4207230"/>
            <a:ext cx="5336895" cy="316382"/>
          </a:xfrm>
          <a:prstGeom prst="rect">
            <a:avLst/>
          </a:prstGeom>
          <a:noFill/>
        </p:spPr>
        <p:txBody>
          <a:bodyPr wrap="square" lIns="0" rIns="0" tIns="0" bIns="0">
            <a:spAutoFit/>
          </a:bodyPr>
          <a:lstStyle/>
          <a:p>
            <a:r>
              <a:rPr sz="852" b="1">
                <a:solidFill>
                  <a:srgbClr val="4A3AFF"/>
                </a:solidFill>
                <a:latin typeface="Segoe UI"/>
              </a:rPr>
              <a:t>THE WHOLE OF EDUCATION AND TRAINING — GLOBAL ANNUAL EXPENDITURE</a:t>
            </a:r>
          </a:p>
        </p:txBody>
      </p:sp>
      <p:graphicFrame>
        <p:nvGraphicFramePr>
          <p:cNvPr id="9" name="Table 8"/>
          <p:cNvGraphicFramePr>
            <a:graphicFrameLocks noGrp="1"/>
          </p:cNvGraphicFramePr>
          <p:nvPr/>
        </p:nvGraphicFramePr>
        <p:xfrm>
          <a:off x="566928" y="4523613"/>
          <a:ext cx="5336894" cy="1672068"/>
        </p:xfrm>
        <a:graphic>
          <a:graphicData uri="http://schemas.openxmlformats.org/drawingml/2006/table">
            <a:tbl>
              <a:tblPr firstRow="1">
                <a:tableStyleId>{5C22544A-7EE6-4342-B048-85BDC9FD1C3A}</a:tableStyleId>
              </a:tblPr>
              <a:tblGrid>
                <a:gridCol w="2134758"/>
                <a:gridCol w="1601068"/>
                <a:gridCol w="1601068"/>
              </a:tblGrid>
              <a:tr h="254934">
                <a:tc>
                  <a:txBody>
                    <a:bodyPr wrap="square"/>
                    <a:lstStyle/>
                    <a:p>
                      <a:r>
                        <a:rPr sz="902" b="1">
                          <a:solidFill>
                            <a:srgbClr val="15192B"/>
                          </a:solidFill>
                          <a:latin typeface="Segoe UI"/>
                        </a:rPr>
                        <a:t>Segment</a:t>
                      </a:r>
                    </a:p>
                  </a:txBody>
                  <a:tcPr marL="82296" marR="64008" marT="32004" marB="32004" anchor="ctr">
                    <a:solidFill>
                      <a:srgbClr val="F4F5F9"/>
                    </a:solidFill>
                  </a:tcPr>
                </a:tc>
                <a:tc>
                  <a:txBody>
                    <a:bodyPr wrap="square"/>
                    <a:lstStyle/>
                    <a:p>
                      <a:r>
                        <a:rPr sz="902" b="1">
                          <a:solidFill>
                            <a:srgbClr val="15192B"/>
                          </a:solidFill>
                          <a:latin typeface="Segoe UI"/>
                        </a:rPr>
                        <a:t>Annual spend</a:t>
                      </a:r>
                    </a:p>
                  </a:txBody>
                  <a:tcPr marL="82296" marR="64008" marT="32004" marB="32004" anchor="ctr">
                    <a:solidFill>
                      <a:srgbClr val="F4F5F9"/>
                    </a:solidFill>
                  </a:tcPr>
                </a:tc>
                <a:tc>
                  <a:txBody>
                    <a:bodyPr wrap="square"/>
                    <a:lstStyle/>
                    <a:p>
                      <a:r>
                        <a:rPr sz="902" b="1">
                          <a:solidFill>
                            <a:srgbClr val="15192B"/>
                          </a:solidFill>
                          <a:latin typeface="Segoe UI"/>
                        </a:rPr>
                        <a:t>Notes</a:t>
                      </a:r>
                    </a:p>
                  </a:txBody>
                  <a:tcPr marL="82296" marR="64008" marT="32004" marB="32004" anchor="ctr">
                    <a:solidFill>
                      <a:srgbClr val="F4F5F9"/>
                    </a:solidFill>
                  </a:tcPr>
                </a:tc>
              </a:tr>
              <a:tr h="236189">
                <a:tc>
                  <a:txBody>
                    <a:bodyPr wrap="square"/>
                    <a:lstStyle/>
                    <a:p>
                      <a:r>
                        <a:rPr sz="902" b="1" i="0">
                          <a:solidFill>
                            <a:srgbClr val="15192B"/>
                          </a:solidFill>
                          <a:latin typeface="Segoe UI"/>
                        </a:rPr>
                        <a:t>Global education &amp; training, all segments</a:t>
                      </a:r>
                    </a:p>
                  </a:txBody>
                  <a:tcPr marL="82296" marR="64008" marT="32004" marB="32004" anchor="ctr">
                    <a:solidFill>
                      <a:srgbClr val="FFFFFF"/>
                    </a:solidFill>
                  </a:tcPr>
                </a:tc>
                <a:tc>
                  <a:txBody>
                    <a:bodyPr wrap="square"/>
                    <a:lstStyle/>
                    <a:p>
                      <a:r>
                        <a:rPr sz="902" b="1" i="0">
                          <a:solidFill>
                            <a:srgbClr val="15192B"/>
                          </a:solidFill>
                          <a:latin typeface="Segoe UI"/>
                        </a:rPr>
                        <a:t>~$7.3T (2025) → ~$10T (2030)</a:t>
                      </a:r>
                    </a:p>
                  </a:txBody>
                  <a:tcPr marL="82296" marR="64008" marT="32004" marB="32004" anchor="ctr">
                    <a:solidFill>
                      <a:srgbClr val="FFFFFF"/>
                    </a:solidFill>
                  </a:tcPr>
                </a:tc>
                <a:tc>
                  <a:txBody>
                    <a:bodyPr wrap="square"/>
                    <a:lstStyle/>
                    <a:p>
                      <a:r>
                        <a:rPr sz="902" b="0" i="0">
                          <a:solidFill>
                            <a:srgbClr val="5A6072"/>
                          </a:solidFill>
                          <a:latin typeface="Segoe UI"/>
                        </a:rPr>
                        <a:t>HolonIQ; 4.4% CAGR</a:t>
                      </a:r>
                    </a:p>
                  </a:txBody>
                  <a:tcPr marL="82296" marR="64008" marT="32004" marB="32004" anchor="ctr">
                    <a:solidFill>
                      <a:srgbClr val="FFFFFF"/>
                    </a:solidFill>
                  </a:tcPr>
                </a:tc>
              </a:tr>
              <a:tr h="236189">
                <a:tc>
                  <a:txBody>
                    <a:bodyPr wrap="square"/>
                    <a:lstStyle/>
                    <a:p>
                      <a:r>
                        <a:rPr sz="902" b="0" i="0">
                          <a:solidFill>
                            <a:srgbClr val="5A6072"/>
                          </a:solidFill>
                          <a:latin typeface="Segoe UI"/>
                        </a:rPr>
                        <a:t>K–12 / primary &amp; secondary (global)</a:t>
                      </a:r>
                    </a:p>
                  </a:txBody>
                  <a:tcPr marL="82296" marR="64008" marT="32004" marB="32004" anchor="ctr">
                    <a:solidFill>
                      <a:srgbClr val="FFFFFF"/>
                    </a:solidFill>
                  </a:tcPr>
                </a:tc>
                <a:tc>
                  <a:txBody>
                    <a:bodyPr wrap="square"/>
                    <a:lstStyle/>
                    <a:p>
                      <a:r>
                        <a:rPr sz="902" b="0" i="0">
                          <a:solidFill>
                            <a:srgbClr val="5A6072"/>
                          </a:solidFill>
                          <a:latin typeface="Segoe UI"/>
                        </a:rPr>
                        <a:t>~$2.5T</a:t>
                      </a:r>
                    </a:p>
                  </a:txBody>
                  <a:tcPr marL="82296" marR="64008" marT="32004" marB="32004" anchor="ctr">
                    <a:solidFill>
                      <a:srgbClr val="FFFFFF"/>
                    </a:solidFill>
                  </a:tcPr>
                </a:tc>
                <a:tc>
                  <a:txBody>
                    <a:bodyPr wrap="square"/>
                    <a:lstStyle/>
                    <a:p>
                      <a:r>
                        <a:rPr sz="902" b="0" i="0">
                          <a:solidFill>
                            <a:srgbClr val="5A6072"/>
                          </a:solidFill>
                          <a:latin typeface="Segoe UI"/>
                        </a:rPr>
                        <a:t>Largest single block by headcount</a:t>
                      </a:r>
                    </a:p>
                  </a:txBody>
                  <a:tcPr marL="82296" marR="64008" marT="32004" marB="32004" anchor="ctr">
                    <a:solidFill>
                      <a:srgbClr val="FFFFFF"/>
                    </a:solidFill>
                  </a:tcPr>
                </a:tc>
              </a:tr>
              <a:tr h="236189">
                <a:tc>
                  <a:txBody>
                    <a:bodyPr wrap="square"/>
                    <a:lstStyle/>
                    <a:p>
                      <a:r>
                        <a:rPr sz="902" b="0" i="0">
                          <a:solidFill>
                            <a:srgbClr val="5A6072"/>
                          </a:solidFill>
                          <a:latin typeface="Segoe UI"/>
                        </a:rPr>
                        <a:t>Higher education (global)</a:t>
                      </a:r>
                    </a:p>
                  </a:txBody>
                  <a:tcPr marL="82296" marR="64008" marT="32004" marB="32004" anchor="ctr">
                    <a:solidFill>
                      <a:srgbClr val="FFFFFF"/>
                    </a:solidFill>
                  </a:tcPr>
                </a:tc>
                <a:tc>
                  <a:txBody>
                    <a:bodyPr wrap="square"/>
                    <a:lstStyle/>
                    <a:p>
                      <a:r>
                        <a:rPr sz="902" b="0" i="0">
                          <a:solidFill>
                            <a:srgbClr val="5A6072"/>
                          </a:solidFill>
                          <a:latin typeface="Segoe UI"/>
                        </a:rPr>
                        <a:t>~$2.2T</a:t>
                      </a:r>
                    </a:p>
                  </a:txBody>
                  <a:tcPr marL="82296" marR="64008" marT="32004" marB="32004" anchor="ctr">
                    <a:solidFill>
                      <a:srgbClr val="FFFFFF"/>
                    </a:solidFill>
                  </a:tcPr>
                </a:tc>
                <a:tc>
                  <a:txBody>
                    <a:bodyPr wrap="square"/>
                    <a:lstStyle/>
                    <a:p/>
                  </a:txBody>
                  <a:tcPr marL="82296" marR="64008" marT="32004" marB="32004" anchor="ctr">
                    <a:solidFill>
                      <a:srgbClr val="FFFFFF"/>
                    </a:solidFill>
                  </a:tcPr>
                </a:tc>
              </a:tr>
              <a:tr h="236189">
                <a:tc>
                  <a:txBody>
                    <a:bodyPr wrap="square"/>
                    <a:lstStyle/>
                    <a:p>
                      <a:r>
                        <a:rPr sz="902" b="0" i="0">
                          <a:solidFill>
                            <a:srgbClr val="5A6072"/>
                          </a:solidFill>
                          <a:latin typeface="Segoe UI"/>
                        </a:rPr>
                        <a:t>Workforce, corporate &amp; vocational training</a:t>
                      </a:r>
                    </a:p>
                  </a:txBody>
                  <a:tcPr marL="82296" marR="64008" marT="32004" marB="32004" anchor="ctr">
                    <a:solidFill>
                      <a:srgbClr val="FFFFFF"/>
                    </a:solidFill>
                  </a:tcPr>
                </a:tc>
                <a:tc>
                  <a:txBody>
                    <a:bodyPr wrap="square"/>
                    <a:lstStyle/>
                    <a:p>
                      <a:r>
                        <a:rPr sz="902" b="0" i="0">
                          <a:solidFill>
                            <a:srgbClr val="5A6072"/>
                          </a:solidFill>
                          <a:latin typeface="Segoe UI"/>
                        </a:rPr>
                        <a:t>~$400B+</a:t>
                      </a:r>
                    </a:p>
                  </a:txBody>
                  <a:tcPr marL="82296" marR="64008" marT="32004" marB="32004" anchor="ctr">
                    <a:solidFill>
                      <a:srgbClr val="FFFFFF"/>
                    </a:solidFill>
                  </a:tcPr>
                </a:tc>
                <a:tc>
                  <a:txBody>
                    <a:bodyPr wrap="square"/>
                    <a:lstStyle/>
                    <a:p>
                      <a:r>
                        <a:rPr sz="902" b="0" i="0">
                          <a:solidFill>
                            <a:srgbClr val="5A6072"/>
                          </a:solidFill>
                          <a:latin typeface="Segoe UI"/>
                        </a:rPr>
                        <a:t>Fastest-growing segment</a:t>
                      </a:r>
                    </a:p>
                  </a:txBody>
                  <a:tcPr marL="82296" marR="64008" marT="32004" marB="32004" anchor="ctr">
                    <a:solidFill>
                      <a:srgbClr val="FFFFFF"/>
                    </a:solidFill>
                  </a:tcPr>
                </a:tc>
              </a:tr>
              <a:tr h="236189">
                <a:tc>
                  <a:txBody>
                    <a:bodyPr wrap="square"/>
                    <a:lstStyle/>
                    <a:p>
                      <a:r>
                        <a:rPr sz="902" b="0" i="0">
                          <a:solidFill>
                            <a:srgbClr val="5A6072"/>
                          </a:solidFill>
                          <a:latin typeface="Segoe UI"/>
                        </a:rPr>
                        <a:t>Early childhood</a:t>
                      </a:r>
                    </a:p>
                  </a:txBody>
                  <a:tcPr marL="82296" marR="64008" marT="32004" marB="32004" anchor="ctr">
                    <a:solidFill>
                      <a:srgbClr val="FFFFFF"/>
                    </a:solidFill>
                  </a:tcPr>
                </a:tc>
                <a:tc>
                  <a:txBody>
                    <a:bodyPr wrap="square"/>
                    <a:lstStyle/>
                    <a:p>
                      <a:r>
                        <a:rPr sz="902" b="0" i="0">
                          <a:solidFill>
                            <a:srgbClr val="5A6072"/>
                          </a:solidFill>
                          <a:latin typeface="Segoe UI"/>
                        </a:rPr>
                        <a:t>~$400B+</a:t>
                      </a:r>
                    </a:p>
                  </a:txBody>
                  <a:tcPr marL="82296" marR="64008" marT="32004" marB="32004" anchor="ctr">
                    <a:solidFill>
                      <a:srgbClr val="FFFFFF"/>
                    </a:solidFill>
                  </a:tcPr>
                </a:tc>
                <a:tc>
                  <a:txBody>
                    <a:bodyPr wrap="square"/>
                    <a:lstStyle/>
                    <a:p>
                      <a:r>
                        <a:rPr sz="902" b="0" i="0">
                          <a:solidFill>
                            <a:srgbClr val="5A6072"/>
                          </a:solidFill>
                          <a:latin typeface="Segoe UI"/>
                        </a:rPr>
                        <a:t>Fastest-growing segment</a:t>
                      </a:r>
                    </a:p>
                  </a:txBody>
                  <a:tcPr marL="82296" marR="64008" marT="32004" marB="32004" anchor="ctr">
                    <a:solidFill>
                      <a:srgbClr val="FFFFFF"/>
                    </a:solidFill>
                  </a:tcPr>
                </a:tc>
              </a:tr>
              <a:tr h="236189">
                <a:tc>
                  <a:txBody>
                    <a:bodyPr wrap="square"/>
                    <a:lstStyle/>
                    <a:p>
                      <a:r>
                        <a:rPr sz="902" b="1" i="0">
                          <a:solidFill>
                            <a:srgbClr val="15192B"/>
                          </a:solidFill>
                          <a:latin typeface="Segoe UI"/>
                        </a:rPr>
                        <a:t>Global EdTech — the computer-based slice</a:t>
                      </a:r>
                    </a:p>
                  </a:txBody>
                  <a:tcPr marL="82296" marR="64008" marT="32004" marB="32004" anchor="ctr">
                    <a:solidFill>
                      <a:srgbClr val="FFFFFF"/>
                    </a:solidFill>
                  </a:tcPr>
                </a:tc>
                <a:tc>
                  <a:txBody>
                    <a:bodyPr wrap="square"/>
                    <a:lstStyle/>
                    <a:p>
                      <a:r>
                        <a:rPr sz="902" b="1" i="0">
                          <a:solidFill>
                            <a:srgbClr val="15192B"/>
                          </a:solidFill>
                          <a:latin typeface="Segoe UI"/>
                        </a:rPr>
                        <a:t>~$404B (2025)</a:t>
                      </a:r>
                    </a:p>
                  </a:txBody>
                  <a:tcPr marL="82296" marR="64008" marT="32004" marB="32004" anchor="ctr">
                    <a:solidFill>
                      <a:srgbClr val="FFFFFF"/>
                    </a:solidFill>
                  </a:tcPr>
                </a:tc>
                <a:tc>
                  <a:txBody>
                    <a:bodyPr wrap="square"/>
                    <a:lstStyle/>
                    <a:p>
                      <a:r>
                        <a:rPr sz="902" b="0" i="0">
                          <a:solidFill>
                            <a:srgbClr val="5A6072"/>
                          </a:solidFill>
                          <a:latin typeface="Segoe UI"/>
                        </a:rPr>
                        <a:t>~5.5% of total spend, and still hand-authored</a:t>
                      </a:r>
                    </a:p>
                  </a:txBody>
                  <a:tcPr marL="82296" marR="64008" marT="32004" marB="32004" anchor="ctr">
                    <a:solidFill>
                      <a:srgbClr val="FFFFFF"/>
                    </a:solidFill>
                  </a:tcPr>
                </a:tc>
              </a:tr>
            </a:tbl>
          </a:graphicData>
        </a:graphic>
      </p:graphicFrame>
      <p:sp>
        <p:nvSpPr>
          <p:cNvPr id="10" name="TextBox 9"/>
          <p:cNvSpPr txBox="1"/>
          <p:nvPr/>
        </p:nvSpPr>
        <p:spPr>
          <a:xfrm>
            <a:off x="6287871" y="1996440"/>
            <a:ext cx="5336895" cy="316382"/>
          </a:xfrm>
          <a:prstGeom prst="rect">
            <a:avLst/>
          </a:prstGeom>
          <a:noFill/>
        </p:spPr>
        <p:txBody>
          <a:bodyPr wrap="square" lIns="0" rIns="0" tIns="0" bIns="0">
            <a:spAutoFit/>
          </a:bodyPr>
          <a:lstStyle/>
          <a:p>
            <a:r>
              <a:rPr sz="852" b="1">
                <a:solidFill>
                  <a:srgbClr val="4A3AFF"/>
                </a:solidFill>
                <a:latin typeface="Segoe UI"/>
              </a:rPr>
              <a:t>ADJACENT SPEND THAT IS REALLY EDUCATION SPEND</a:t>
            </a:r>
          </a:p>
        </p:txBody>
      </p:sp>
      <p:sp>
        <p:nvSpPr>
          <p:cNvPr id="11" name="Oval 10"/>
          <p:cNvSpPr/>
          <p:nvPr/>
        </p:nvSpPr>
        <p:spPr>
          <a:xfrm>
            <a:off x="6306159" y="237749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5615" y="2312822"/>
            <a:ext cx="5099151" cy="283349"/>
          </a:xfrm>
          <a:prstGeom prst="rect">
            <a:avLst/>
          </a:prstGeom>
          <a:noFill/>
        </p:spPr>
        <p:txBody>
          <a:bodyPr wrap="square" lIns="0" rIns="0" tIns="0" bIns="0">
            <a:spAutoFit/>
          </a:bodyPr>
          <a:lstStyle/>
          <a:p>
            <a:r>
              <a:rPr sz="1106" b="1" i="0">
                <a:solidFill>
                  <a:srgbClr val="15192B"/>
                </a:solidFill>
                <a:latin typeface="Segoe UI"/>
              </a:rPr>
              <a:t>Corporate training</a:t>
            </a:r>
            <a:r>
              <a:rPr sz="1106" b="0" i="0">
                <a:solidFill>
                  <a:srgbClr val="5A6072"/>
                </a:solidFill>
                <a:latin typeface="Segoe UI"/>
              </a:rPr>
              <a:t> — ~$427B global</a:t>
            </a:r>
          </a:p>
        </p:txBody>
      </p:sp>
      <p:sp>
        <p:nvSpPr>
          <p:cNvPr id="13" name="Oval 12"/>
          <p:cNvSpPr/>
          <p:nvPr/>
        </p:nvSpPr>
        <p:spPr>
          <a:xfrm>
            <a:off x="6306159" y="266084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25615" y="2596172"/>
            <a:ext cx="5099151" cy="283349"/>
          </a:xfrm>
          <a:prstGeom prst="rect">
            <a:avLst/>
          </a:prstGeom>
          <a:noFill/>
        </p:spPr>
        <p:txBody>
          <a:bodyPr wrap="square" lIns="0" rIns="0" tIns="0" bIns="0">
            <a:spAutoFit/>
          </a:bodyPr>
          <a:lstStyle/>
          <a:p>
            <a:r>
              <a:rPr sz="1106" b="1" i="0">
                <a:solidFill>
                  <a:srgbClr val="15192B"/>
                </a:solidFill>
                <a:latin typeface="Segoe UI"/>
              </a:rPr>
              <a:t>Private tutoring</a:t>
            </a:r>
            <a:r>
              <a:rPr sz="1106" b="0" i="0">
                <a:solidFill>
                  <a:srgbClr val="5A6072"/>
                </a:solidFill>
                <a:latin typeface="Segoe UI"/>
              </a:rPr>
              <a:t> — ~$134B global</a:t>
            </a:r>
          </a:p>
        </p:txBody>
      </p:sp>
      <p:sp>
        <p:nvSpPr>
          <p:cNvPr id="15" name="Oval 14"/>
          <p:cNvSpPr/>
          <p:nvPr/>
        </p:nvSpPr>
        <p:spPr>
          <a:xfrm>
            <a:off x="6306159" y="2944192"/>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5615" y="2879521"/>
            <a:ext cx="5099151" cy="283349"/>
          </a:xfrm>
          <a:prstGeom prst="rect">
            <a:avLst/>
          </a:prstGeom>
          <a:noFill/>
        </p:spPr>
        <p:txBody>
          <a:bodyPr wrap="square" lIns="0" rIns="0" tIns="0" bIns="0">
            <a:spAutoFit/>
          </a:bodyPr>
          <a:lstStyle/>
          <a:p>
            <a:r>
              <a:rPr sz="1106" b="1" i="0">
                <a:solidFill>
                  <a:srgbClr val="15192B"/>
                </a:solidFill>
                <a:latin typeface="Segoe UI"/>
              </a:rPr>
              <a:t>Language learning</a:t>
            </a:r>
            <a:r>
              <a:rPr sz="1106" b="0" i="0">
                <a:solidFill>
                  <a:srgbClr val="5A6072"/>
                </a:solidFill>
                <a:latin typeface="Segoe UI"/>
              </a:rPr>
              <a:t> — ~$85B global</a:t>
            </a:r>
          </a:p>
        </p:txBody>
      </p:sp>
      <p:sp>
        <p:nvSpPr>
          <p:cNvPr id="17" name="Oval 16"/>
          <p:cNvSpPr/>
          <p:nvPr/>
        </p:nvSpPr>
        <p:spPr>
          <a:xfrm>
            <a:off x="6306159" y="3227542"/>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25615" y="3162871"/>
            <a:ext cx="5099151" cy="283349"/>
          </a:xfrm>
          <a:prstGeom prst="rect">
            <a:avLst/>
          </a:prstGeom>
          <a:noFill/>
        </p:spPr>
        <p:txBody>
          <a:bodyPr wrap="square" lIns="0" rIns="0" tIns="0" bIns="0">
            <a:spAutoFit/>
          </a:bodyPr>
          <a:lstStyle/>
          <a:p>
            <a:r>
              <a:rPr sz="1106" b="1" i="0">
                <a:solidFill>
                  <a:srgbClr val="15192B"/>
                </a:solidFill>
                <a:latin typeface="Segoe UI"/>
              </a:rPr>
              <a:t>Test prep &amp; admissions</a:t>
            </a:r>
            <a:r>
              <a:rPr sz="1106" b="0" i="0">
                <a:solidFill>
                  <a:srgbClr val="5A6072"/>
                </a:solidFill>
                <a:latin typeface="Segoe UI"/>
              </a:rPr>
              <a:t> — SAT, ACT, GRE, MCAT, LSAT</a:t>
            </a:r>
          </a:p>
        </p:txBody>
      </p:sp>
      <p:sp>
        <p:nvSpPr>
          <p:cNvPr id="19" name="Oval 18"/>
          <p:cNvSpPr/>
          <p:nvPr/>
        </p:nvSpPr>
        <p:spPr>
          <a:xfrm>
            <a:off x="6306159" y="3510892"/>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25615" y="3446221"/>
            <a:ext cx="5099151" cy="466115"/>
          </a:xfrm>
          <a:prstGeom prst="rect">
            <a:avLst/>
          </a:prstGeom>
          <a:noFill/>
        </p:spPr>
        <p:txBody>
          <a:bodyPr wrap="square" lIns="0" rIns="0" tIns="0" bIns="0">
            <a:spAutoFit/>
          </a:bodyPr>
          <a:lstStyle/>
          <a:p>
            <a:r>
              <a:rPr sz="1106" b="1" i="0">
                <a:solidFill>
                  <a:srgbClr val="15192B"/>
                </a:solidFill>
                <a:latin typeface="Segoe UI"/>
              </a:rPr>
              <a:t>Professional licensure &amp; continuing education</a:t>
            </a:r>
            <a:r>
              <a:rPr sz="1106" b="0" i="0">
                <a:solidFill>
                  <a:srgbClr val="5A6072"/>
                </a:solidFill>
                <a:latin typeface="Segoe UI"/>
              </a:rPr>
              <a:t> — CME, CLE, CPE, bar, nursing, trades</a:t>
            </a:r>
          </a:p>
        </p:txBody>
      </p:sp>
      <p:sp>
        <p:nvSpPr>
          <p:cNvPr id="21" name="Oval 20"/>
          <p:cNvSpPr/>
          <p:nvPr/>
        </p:nvSpPr>
        <p:spPr>
          <a:xfrm>
            <a:off x="6306159" y="3977007"/>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25615" y="3912336"/>
            <a:ext cx="5099151" cy="283349"/>
          </a:xfrm>
          <a:prstGeom prst="rect">
            <a:avLst/>
          </a:prstGeom>
          <a:noFill/>
        </p:spPr>
        <p:txBody>
          <a:bodyPr wrap="square" lIns="0" rIns="0" tIns="0" bIns="0">
            <a:spAutoFit/>
          </a:bodyPr>
          <a:lstStyle/>
          <a:p>
            <a:r>
              <a:rPr sz="1106" b="1" i="0">
                <a:solidFill>
                  <a:srgbClr val="15192B"/>
                </a:solidFill>
                <a:latin typeface="Segoe UI"/>
              </a:rPr>
              <a:t>IT &amp; technical certification</a:t>
            </a:r>
            <a:r>
              <a:rPr sz="1106" b="0" i="0">
                <a:solidFill>
                  <a:srgbClr val="5A6072"/>
                </a:solidFill>
                <a:latin typeface="Segoe UI"/>
              </a:rPr>
              <a:t> — AWS, Azure, Cisco, CompTIA</a:t>
            </a:r>
          </a:p>
        </p:txBody>
      </p:sp>
      <p:sp>
        <p:nvSpPr>
          <p:cNvPr id="23" name="Oval 22"/>
          <p:cNvSpPr/>
          <p:nvPr/>
        </p:nvSpPr>
        <p:spPr>
          <a:xfrm>
            <a:off x="6306159" y="4260357"/>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25615" y="4195686"/>
            <a:ext cx="5099151" cy="283349"/>
          </a:xfrm>
          <a:prstGeom prst="rect">
            <a:avLst/>
          </a:prstGeom>
          <a:noFill/>
        </p:spPr>
        <p:txBody>
          <a:bodyPr wrap="square" lIns="0" rIns="0" tIns="0" bIns="0">
            <a:spAutoFit/>
          </a:bodyPr>
          <a:lstStyle/>
          <a:p>
            <a:r>
              <a:rPr sz="1106" b="1" i="0">
                <a:solidFill>
                  <a:srgbClr val="15192B"/>
                </a:solidFill>
                <a:latin typeface="Segoe UI"/>
              </a:rPr>
              <a:t>Homeschooling, microschools &amp; pods</a:t>
            </a:r>
          </a:p>
        </p:txBody>
      </p:sp>
      <p:sp>
        <p:nvSpPr>
          <p:cNvPr id="25" name="Oval 24"/>
          <p:cNvSpPr/>
          <p:nvPr/>
        </p:nvSpPr>
        <p:spPr>
          <a:xfrm>
            <a:off x="6306159" y="454370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25615" y="4479036"/>
            <a:ext cx="5099151" cy="283349"/>
          </a:xfrm>
          <a:prstGeom prst="rect">
            <a:avLst/>
          </a:prstGeom>
          <a:noFill/>
        </p:spPr>
        <p:txBody>
          <a:bodyPr wrap="square" lIns="0" rIns="0" tIns="0" bIns="0">
            <a:spAutoFit/>
          </a:bodyPr>
          <a:lstStyle/>
          <a:p>
            <a:r>
              <a:rPr sz="1106" b="1" i="0">
                <a:solidFill>
                  <a:srgbClr val="15192B"/>
                </a:solidFill>
                <a:latin typeface="Segoe UI"/>
              </a:rPr>
              <a:t>Compliance &amp; regulatory training</a:t>
            </a:r>
          </a:p>
        </p:txBody>
      </p:sp>
      <p:sp>
        <p:nvSpPr>
          <p:cNvPr id="27" name="Oval 26"/>
          <p:cNvSpPr/>
          <p:nvPr/>
        </p:nvSpPr>
        <p:spPr>
          <a:xfrm>
            <a:off x="6306159" y="482705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5615" y="4762385"/>
            <a:ext cx="5099151" cy="283349"/>
          </a:xfrm>
          <a:prstGeom prst="rect">
            <a:avLst/>
          </a:prstGeom>
          <a:noFill/>
        </p:spPr>
        <p:txBody>
          <a:bodyPr wrap="square" lIns="0" rIns="0" tIns="0" bIns="0">
            <a:spAutoFit/>
          </a:bodyPr>
          <a:lstStyle/>
          <a:p>
            <a:r>
              <a:rPr sz="1106" b="1" i="0">
                <a:solidFill>
                  <a:srgbClr val="15192B"/>
                </a:solidFill>
                <a:latin typeface="Segoe UI"/>
              </a:rPr>
              <a:t>Military, government &amp; NGO training</a:t>
            </a:r>
          </a:p>
        </p:txBody>
      </p:sp>
      <p:sp>
        <p:nvSpPr>
          <p:cNvPr id="29" name="Oval 28"/>
          <p:cNvSpPr/>
          <p:nvPr/>
        </p:nvSpPr>
        <p:spPr>
          <a:xfrm>
            <a:off x="6306159" y="511040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25615" y="5045735"/>
            <a:ext cx="5099151" cy="283349"/>
          </a:xfrm>
          <a:prstGeom prst="rect">
            <a:avLst/>
          </a:prstGeom>
          <a:noFill/>
        </p:spPr>
        <p:txBody>
          <a:bodyPr wrap="square" lIns="0" rIns="0" tIns="0" bIns="0">
            <a:spAutoFit/>
          </a:bodyPr>
          <a:lstStyle/>
          <a:p>
            <a:r>
              <a:rPr sz="1106" b="1" i="0">
                <a:solidFill>
                  <a:srgbClr val="15192B"/>
                </a:solidFill>
                <a:latin typeface="Segoe UI"/>
              </a:rPr>
              <a:t>Self-directed learning, bootcamps &amp; courseware publishing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3   </a:t>
            </a:r>
            <a:r>
              <a:rPr sz="2500" b="1">
                <a:solidFill>
                  <a:srgbClr val="15192B"/>
                </a:solidFill>
                <a:latin typeface="Segoe UI"/>
              </a:rPr>
              <a:t>Educational Spend and the Emerging Alternative</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661416"/>
          </a:xfrm>
          <a:prstGeom prst="rect">
            <a:avLst/>
          </a:prstGeom>
          <a:noFill/>
        </p:spPr>
        <p:txBody>
          <a:bodyPr wrap="square" lIns="0" rIns="0" tIns="0" bIns="0">
            <a:spAutoFit/>
          </a:bodyPr>
          <a:lstStyle/>
          <a:p>
            <a:r>
              <a:rPr sz="1700" b="1" i="0">
                <a:solidFill>
                  <a:srgbClr val="15192B"/>
                </a:solidFill>
                <a:latin typeface="Segoe UI"/>
              </a:rPr>
              <a:t>Of the $7.3 trillion, ~95% is traditional and hand-made. AI has arrived in education as conversation. It has not yet arrived as curriculum.</a:t>
            </a:r>
          </a:p>
        </p:txBody>
      </p:sp>
      <p:sp>
        <p:nvSpPr>
          <p:cNvPr id="5" name="TextBox 4"/>
          <p:cNvSpPr txBox="1"/>
          <p:nvPr/>
        </p:nvSpPr>
        <p:spPr>
          <a:xfrm>
            <a:off x="566928" y="1996440"/>
            <a:ext cx="11057839" cy="369189"/>
          </a:xfrm>
          <a:prstGeom prst="rect">
            <a:avLst/>
          </a:prstGeom>
          <a:noFill/>
        </p:spPr>
        <p:txBody>
          <a:bodyPr wrap="square" lIns="0" rIns="0" tIns="0" bIns="0">
            <a:spAutoFit/>
          </a:bodyPr>
          <a:lstStyle/>
          <a:p>
            <a:r>
              <a:rPr sz="1350" b="1" i="0">
                <a:solidFill>
                  <a:srgbClr val="15192B"/>
                </a:solidFill>
                <a:latin typeface="Segoe UI"/>
              </a:rPr>
              <a:t>Non-AI</a:t>
            </a:r>
          </a:p>
        </p:txBody>
      </p:sp>
      <p:sp>
        <p:nvSpPr>
          <p:cNvPr id="6" name="TextBox 5"/>
          <p:cNvSpPr txBox="1"/>
          <p:nvPr/>
        </p:nvSpPr>
        <p:spPr>
          <a:xfrm>
            <a:off x="566928" y="2365629"/>
            <a:ext cx="11057839" cy="323469"/>
          </a:xfrm>
          <a:prstGeom prst="rect">
            <a:avLst/>
          </a:prstGeom>
          <a:noFill/>
        </p:spPr>
        <p:txBody>
          <a:bodyPr wrap="square" lIns="0" rIns="0" tIns="0" bIns="0">
            <a:spAutoFit/>
          </a:bodyPr>
          <a:lstStyle/>
          <a:p>
            <a:r>
              <a:rPr sz="1350" b="0" i="0">
                <a:solidFill>
                  <a:srgbClr val="5A6072"/>
                </a:solidFill>
                <a:latin typeface="Segoe UI"/>
              </a:rPr>
              <a:t>1. </a:t>
            </a:r>
            <a:r>
              <a:rPr sz="1350" b="1" i="0">
                <a:solidFill>
                  <a:srgbClr val="15192B"/>
                </a:solidFill>
                <a:latin typeface="Segoe UI"/>
              </a:rPr>
              <a:t>~95%</a:t>
            </a:r>
            <a:r>
              <a:rPr sz="1350" b="0" i="0">
                <a:solidFill>
                  <a:srgbClr val="5A6072"/>
                </a:solidFill>
                <a:latin typeface="Segoe UI"/>
              </a:rPr>
              <a:t> — traditional: people, buildings, and paper</a:t>
            </a:r>
          </a:p>
        </p:txBody>
      </p:sp>
      <p:sp>
        <p:nvSpPr>
          <p:cNvPr id="7" name="TextBox 6"/>
          <p:cNvSpPr txBox="1"/>
          <p:nvPr/>
        </p:nvSpPr>
        <p:spPr>
          <a:xfrm>
            <a:off x="566928" y="2689098"/>
            <a:ext cx="11057839" cy="323469"/>
          </a:xfrm>
          <a:prstGeom prst="rect">
            <a:avLst/>
          </a:prstGeom>
          <a:noFill/>
        </p:spPr>
        <p:txBody>
          <a:bodyPr wrap="square" lIns="0" rIns="0" tIns="0" bIns="0">
            <a:spAutoFit/>
          </a:bodyPr>
          <a:lstStyle/>
          <a:p>
            <a:r>
              <a:rPr sz="1350" b="0" i="0">
                <a:solidFill>
                  <a:srgbClr val="5A6072"/>
                </a:solidFill>
                <a:latin typeface="Segoe UI"/>
              </a:rPr>
              <a:t>2. </a:t>
            </a:r>
            <a:r>
              <a:rPr sz="1350" b="1" i="0">
                <a:solidFill>
                  <a:srgbClr val="15192B"/>
                </a:solidFill>
                <a:latin typeface="Segoe UI"/>
              </a:rPr>
              <a:t>~4.9%</a:t>
            </a:r>
            <a:r>
              <a:rPr sz="1350" b="0" i="0">
                <a:solidFill>
                  <a:srgbClr val="5A6072"/>
                </a:solidFill>
                <a:latin typeface="Segoe UI"/>
              </a:rPr>
              <a:t> — computer/digital based: Khan Academy, Coursera, an LMS. </a:t>
            </a:r>
            <a:r>
              <a:rPr sz="1350" b="0" i="1">
                <a:solidFill>
                  <a:srgbClr val="5A6072"/>
                </a:solidFill>
                <a:latin typeface="Segoe UI"/>
              </a:rPr>
              <a:t>Still authored by hand, one course at a time</a:t>
            </a:r>
          </a:p>
        </p:txBody>
      </p:sp>
      <p:sp>
        <p:nvSpPr>
          <p:cNvPr id="8" name="TextBox 7"/>
          <p:cNvSpPr txBox="1"/>
          <p:nvPr/>
        </p:nvSpPr>
        <p:spPr>
          <a:xfrm>
            <a:off x="566928" y="3012567"/>
            <a:ext cx="11057839" cy="369189"/>
          </a:xfrm>
          <a:prstGeom prst="rect">
            <a:avLst/>
          </a:prstGeom>
          <a:noFill/>
        </p:spPr>
        <p:txBody>
          <a:bodyPr wrap="square" lIns="0" rIns="0" tIns="0" bIns="0">
            <a:spAutoFit/>
          </a:bodyPr>
          <a:lstStyle/>
          <a:p>
            <a:r>
              <a:rPr sz="1350" b="1" i="0">
                <a:solidFill>
                  <a:srgbClr val="15192B"/>
                </a:solidFill>
                <a:latin typeface="Segoe UI"/>
              </a:rPr>
              <a:t>AI</a:t>
            </a:r>
          </a:p>
        </p:txBody>
      </p:sp>
      <p:sp>
        <p:nvSpPr>
          <p:cNvPr id="9" name="TextBox 8"/>
          <p:cNvSpPr txBox="1"/>
          <p:nvPr/>
        </p:nvSpPr>
        <p:spPr>
          <a:xfrm>
            <a:off x="566928" y="3381756"/>
            <a:ext cx="11057839" cy="323469"/>
          </a:xfrm>
          <a:prstGeom prst="rect">
            <a:avLst/>
          </a:prstGeom>
          <a:noFill/>
        </p:spPr>
        <p:txBody>
          <a:bodyPr wrap="square" lIns="0" rIns="0" tIns="0" bIns="0">
            <a:spAutoFit/>
          </a:bodyPr>
          <a:lstStyle/>
          <a:p>
            <a:r>
              <a:rPr sz="1350" b="0" i="0">
                <a:solidFill>
                  <a:srgbClr val="5A6072"/>
                </a:solidFill>
                <a:latin typeface="Segoe UI"/>
              </a:rPr>
              <a:t>1. </a:t>
            </a:r>
            <a:r>
              <a:rPr sz="1350" b="1" i="0">
                <a:solidFill>
                  <a:srgbClr val="15192B"/>
                </a:solidFill>
                <a:latin typeface="Segoe UI"/>
              </a:rPr>
              <a:t>~0.1%</a:t>
            </a:r>
            <a:r>
              <a:rPr sz="1350" b="0" i="0">
                <a:solidFill>
                  <a:srgbClr val="5A6072"/>
                </a:solidFill>
                <a:latin typeface="Segoe UI"/>
              </a:rPr>
              <a:t> ChatBot AI, conversational — most students use it, almost nobody pays for it</a:t>
            </a:r>
          </a:p>
        </p:txBody>
      </p:sp>
      <p:sp>
        <p:nvSpPr>
          <p:cNvPr id="10" name="TextBox 9"/>
          <p:cNvSpPr txBox="1"/>
          <p:nvPr/>
        </p:nvSpPr>
        <p:spPr>
          <a:xfrm>
            <a:off x="566928" y="3705225"/>
            <a:ext cx="11057839" cy="323469"/>
          </a:xfrm>
          <a:prstGeom prst="rect">
            <a:avLst/>
          </a:prstGeom>
          <a:noFill/>
        </p:spPr>
        <p:txBody>
          <a:bodyPr wrap="square" lIns="0" rIns="0" tIns="0" bIns="0">
            <a:spAutoFit/>
          </a:bodyPr>
          <a:lstStyle/>
          <a:p>
            <a:r>
              <a:rPr sz="1350" b="0" i="0">
                <a:solidFill>
                  <a:srgbClr val="5A6072"/>
                </a:solidFill>
                <a:latin typeface="Segoe UI"/>
              </a:rPr>
              <a:t>2. </a:t>
            </a:r>
            <a:r>
              <a:rPr sz="1350" b="1" i="0">
                <a:solidFill>
                  <a:srgbClr val="15192B"/>
                </a:solidFill>
                <a:latin typeface="Segoe UI"/>
              </a:rPr>
              <a:t>~$0</a:t>
            </a:r>
            <a:r>
              <a:rPr sz="1350" b="0" i="0">
                <a:solidFill>
                  <a:srgbClr val="5A6072"/>
                </a:solidFill>
                <a:latin typeface="Segoe UI"/>
              </a:rPr>
              <a:t> — AI generated and enabled </a:t>
            </a:r>
            <a:r>
              <a:rPr sz="1350" b="0" i="1">
                <a:solidFill>
                  <a:srgbClr val="5A6072"/>
                </a:solidFill>
                <a:latin typeface="Segoe UI"/>
              </a:rPr>
              <a:t>courseware</a:t>
            </a:r>
            <a:r>
              <a:rPr sz="1350" b="0" i="0">
                <a:solidFill>
                  <a:srgbClr val="5A6072"/>
                </a:solidFill>
                <a:latin typeface="Segoe UI"/>
              </a:rPr>
              <a:t>: manufactured, prerequisite-structured, verified, persistent</a:t>
            </a:r>
          </a:p>
        </p:txBody>
      </p:sp>
      <p:sp>
        <p:nvSpPr>
          <p:cNvPr id="11" name="TextBox 10"/>
          <p:cNvSpPr txBox="1"/>
          <p:nvPr/>
        </p:nvSpPr>
        <p:spPr>
          <a:xfrm>
            <a:off x="566928" y="4028694"/>
            <a:ext cx="11057839" cy="369189"/>
          </a:xfrm>
          <a:prstGeom prst="rect">
            <a:avLst/>
          </a:prstGeom>
          <a:noFill/>
        </p:spPr>
        <p:txBody>
          <a:bodyPr wrap="square" lIns="0" rIns="0" tIns="0" bIns="0">
            <a:spAutoFit/>
          </a:bodyPr>
          <a:lstStyle/>
          <a:p>
            <a:r>
              <a:rPr sz="1350" b="1" i="0">
                <a:solidFill>
                  <a:srgbClr val="15192B"/>
                </a:solidFill>
                <a:latin typeface="Segoe UI"/>
              </a:rPr>
              <a:t>We don't displace the chatbot. We give it something to teach from.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4   </a:t>
            </a:r>
            <a:r>
              <a:rPr sz="2500" b="1">
                <a:solidFill>
                  <a:srgbClr val="15192B"/>
                </a:solidFill>
                <a:latin typeface="Segoe UI"/>
              </a:rPr>
              <a:t>The Problem</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661416"/>
          </a:xfrm>
          <a:prstGeom prst="rect">
            <a:avLst/>
          </a:prstGeom>
          <a:noFill/>
        </p:spPr>
        <p:txBody>
          <a:bodyPr wrap="square" lIns="0" rIns="0" tIns="0" bIns="0">
            <a:spAutoFit/>
          </a:bodyPr>
          <a:lstStyle/>
          <a:p>
            <a:r>
              <a:rPr sz="1700" b="1" i="0">
                <a:solidFill>
                  <a:srgbClr val="15192B"/>
                </a:solidFill>
                <a:latin typeface="Segoe UI"/>
              </a:rPr>
              <a:t>Every course is written from scratch by one expert. That's why education doesn't scale, doesn't adapt, and doesn't transfer.</a:t>
            </a:r>
          </a:p>
        </p:txBody>
      </p:sp>
      <p:sp>
        <p:nvSpPr>
          <p:cNvPr id="5" name="Oval 4"/>
          <p:cNvSpPr/>
          <p:nvPr/>
        </p:nvSpPr>
        <p:spPr>
          <a:xfrm>
            <a:off x="585216" y="2075307"/>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96440"/>
            <a:ext cx="10820095" cy="546354"/>
          </a:xfrm>
          <a:prstGeom prst="rect">
            <a:avLst/>
          </a:prstGeom>
          <a:noFill/>
        </p:spPr>
        <p:txBody>
          <a:bodyPr wrap="square" lIns="0" rIns="0" tIns="0" bIns="0">
            <a:spAutoFit/>
          </a:bodyPr>
          <a:lstStyle/>
          <a:p>
            <a:r>
              <a:rPr sz="1350" b="1" i="0">
                <a:solidFill>
                  <a:srgbClr val="15192B"/>
                </a:solidFill>
                <a:latin typeface="Segoe UI"/>
              </a:rPr>
              <a:t>Content is hand-built.</a:t>
            </a:r>
            <a:r>
              <a:rPr sz="1350" b="0" i="0">
                <a:solidFill>
                  <a:srgbClr val="5A6072"/>
                </a:solidFill>
                <a:latin typeface="Segoe UI"/>
              </a:rPr>
              <a:t> A single university course takes an expert months. A curriculum takes years. Cost scales linearly with subjects covered.</a:t>
            </a:r>
          </a:p>
        </p:txBody>
      </p:sp>
      <p:sp>
        <p:nvSpPr>
          <p:cNvPr id="7" name="Oval 6"/>
          <p:cNvSpPr/>
          <p:nvPr/>
        </p:nvSpPr>
        <p:spPr>
          <a:xfrm>
            <a:off x="585216" y="2621661"/>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542794"/>
            <a:ext cx="10820095" cy="546354"/>
          </a:xfrm>
          <a:prstGeom prst="rect">
            <a:avLst/>
          </a:prstGeom>
          <a:noFill/>
        </p:spPr>
        <p:txBody>
          <a:bodyPr wrap="square" lIns="0" rIns="0" tIns="0" bIns="0">
            <a:spAutoFit/>
          </a:bodyPr>
          <a:lstStyle/>
          <a:p>
            <a:r>
              <a:rPr sz="1350" b="1" i="0">
                <a:solidFill>
                  <a:srgbClr val="15192B"/>
                </a:solidFill>
                <a:latin typeface="Segoe UI"/>
              </a:rPr>
              <a:t>Structure is implicit.</a:t>
            </a:r>
            <a:r>
              <a:rPr sz="1350" b="0" i="0">
                <a:solidFill>
                  <a:srgbClr val="5A6072"/>
                </a:solidFill>
                <a:latin typeface="Segoe UI"/>
              </a:rPr>
              <a:t> Prerequisites live in a professor's head or a syllabus footnote — not in a machine-readable form anything can reason over.</a:t>
            </a:r>
          </a:p>
        </p:txBody>
      </p:sp>
      <p:sp>
        <p:nvSpPr>
          <p:cNvPr id="9" name="Oval 8"/>
          <p:cNvSpPr/>
          <p:nvPr/>
        </p:nvSpPr>
        <p:spPr>
          <a:xfrm>
            <a:off x="585216" y="3168015"/>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3089148"/>
            <a:ext cx="10820095" cy="546354"/>
          </a:xfrm>
          <a:prstGeom prst="rect">
            <a:avLst/>
          </a:prstGeom>
          <a:noFill/>
        </p:spPr>
        <p:txBody>
          <a:bodyPr wrap="square" lIns="0" rIns="0" tIns="0" bIns="0">
            <a:spAutoFit/>
          </a:bodyPr>
          <a:lstStyle/>
          <a:p>
            <a:r>
              <a:rPr sz="1350" b="1" i="0">
                <a:solidFill>
                  <a:srgbClr val="15192B"/>
                </a:solidFill>
                <a:latin typeface="Segoe UI"/>
              </a:rPr>
              <a:t>Sequencing is one-size-fits-all.</a:t>
            </a:r>
            <a:r>
              <a:rPr sz="1350" b="0" i="0">
                <a:solidFill>
                  <a:srgbClr val="5A6072"/>
                </a:solidFill>
                <a:latin typeface="Segoe UI"/>
              </a:rPr>
              <a:t> Everyone walks the same path at the same pace regardless of what they already know.</a:t>
            </a:r>
          </a:p>
        </p:txBody>
      </p:sp>
      <p:sp>
        <p:nvSpPr>
          <p:cNvPr id="11" name="Oval 10"/>
          <p:cNvSpPr/>
          <p:nvPr/>
        </p:nvSpPr>
        <p:spPr>
          <a:xfrm>
            <a:off x="585216" y="3714369"/>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3635502"/>
            <a:ext cx="10820095" cy="769239"/>
          </a:xfrm>
          <a:prstGeom prst="rect">
            <a:avLst/>
          </a:prstGeom>
          <a:noFill/>
        </p:spPr>
        <p:txBody>
          <a:bodyPr wrap="square" lIns="0" rIns="0" tIns="0" bIns="0">
            <a:spAutoFit/>
          </a:bodyPr>
          <a:lstStyle/>
          <a:p>
            <a:r>
              <a:rPr sz="1350" b="1" i="0">
                <a:solidFill>
                  <a:srgbClr val="15192B"/>
                </a:solidFill>
                <a:latin typeface="Segoe UI"/>
              </a:rPr>
              <a:t>A chatbot solves a different problem.</a:t>
            </a:r>
            <a:r>
              <a:rPr sz="1350" b="0" i="0">
                <a:solidFill>
                  <a:srgbClr val="5A6072"/>
                </a:solidFill>
                <a:latin typeface="Segoe UI"/>
              </a:rPr>
              <a:t> An LLM answers any question fluently — but it has no model of </a:t>
            </a:r>
            <a:r>
              <a:rPr sz="1350" b="0" i="1">
                <a:solidFill>
                  <a:srgbClr val="5A6072"/>
                </a:solidFill>
                <a:latin typeface="Segoe UI"/>
              </a:rPr>
              <a:t>what you know</a:t>
            </a:r>
            <a:r>
              <a:rPr sz="1350" b="0" i="0">
                <a:solidFill>
                  <a:srgbClr val="5A6072"/>
                </a:solidFill>
                <a:latin typeface="Segoe UI"/>
              </a:rPr>
              <a:t>, </a:t>
            </a:r>
            <a:r>
              <a:rPr sz="1350" b="0" i="1">
                <a:solidFill>
                  <a:srgbClr val="5A6072"/>
                </a:solidFill>
                <a:latin typeface="Segoe UI"/>
              </a:rPr>
              <a:t>what you must learn first</a:t>
            </a:r>
            <a:r>
              <a:rPr sz="1350" b="0" i="0">
                <a:solidFill>
                  <a:srgbClr val="5A6072"/>
                </a:solidFill>
                <a:latin typeface="Segoe UI"/>
              </a:rPr>
              <a:t>, or </a:t>
            </a:r>
            <a:r>
              <a:rPr sz="1350" b="0" i="1">
                <a:solidFill>
                  <a:srgbClr val="5A6072"/>
                </a:solidFill>
                <a:latin typeface="Segoe UI"/>
              </a:rPr>
              <a:t>whether the explanation it just gave was correct</a:t>
            </a:r>
            <a:r>
              <a:rPr sz="1350" b="0" i="0">
                <a:solidFill>
                  <a:srgbClr val="5A6072"/>
                </a:solidFill>
                <a:latin typeface="Segoe UI"/>
              </a:rPr>
              <a:t>. It tutors without a curriculum.</a:t>
            </a:r>
          </a:p>
        </p:txBody>
      </p:sp>
      <p:sp>
        <p:nvSpPr>
          <p:cNvPr id="13" name="Oval 12"/>
          <p:cNvSpPr/>
          <p:nvPr/>
        </p:nvSpPr>
        <p:spPr>
          <a:xfrm>
            <a:off x="585216" y="4483608"/>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404741"/>
            <a:ext cx="10820095" cy="546354"/>
          </a:xfrm>
          <a:prstGeom prst="rect">
            <a:avLst/>
          </a:prstGeom>
          <a:noFill/>
        </p:spPr>
        <p:txBody>
          <a:bodyPr wrap="square" lIns="0" rIns="0" tIns="0" bIns="0">
            <a:spAutoFit/>
          </a:bodyPr>
          <a:lstStyle/>
          <a:p>
            <a:r>
              <a:rPr sz="1350" b="1" i="0">
                <a:solidFill>
                  <a:srgbClr val="15192B"/>
                </a:solidFill>
                <a:latin typeface="Segoe UI"/>
              </a:rPr>
              <a:t>And it re-derives the same lesson for every learner.</a:t>
            </a:r>
            <a:r>
              <a:rPr sz="1350" b="0" i="0">
                <a:solidFill>
                  <a:srgbClr val="5A6072"/>
                </a:solidFill>
                <a:latin typeface="Segoe UI"/>
              </a:rPr>
              <a:t> A chatbot regenerates algebra from scratch for each student, each time — unverified, slightly different, and paid for again on every ask.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5   </a:t>
            </a:r>
            <a:r>
              <a:rPr sz="2500" b="1">
                <a:solidFill>
                  <a:srgbClr val="15192B"/>
                </a:solidFill>
                <a:latin typeface="Segoe UI"/>
              </a:rPr>
              <a:t>The Solution</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661416"/>
          </a:xfrm>
          <a:prstGeom prst="rect">
            <a:avLst/>
          </a:prstGeom>
          <a:noFill/>
        </p:spPr>
        <p:txBody>
          <a:bodyPr wrap="square" lIns="0" rIns="0" tIns="0" bIns="0">
            <a:spAutoFit/>
          </a:bodyPr>
          <a:lstStyle/>
          <a:p>
            <a:r>
              <a:rPr sz="1700" b="1" i="0">
                <a:solidFill>
                  <a:srgbClr val="15192B"/>
                </a:solidFill>
                <a:latin typeface="Segoe UI"/>
              </a:rPr>
              <a:t>Qlaudia generates a complete, prerequisite-structured knowledge graph for any subject — in minutes, not months — and teaches from it adaptively.</a:t>
            </a:r>
          </a:p>
        </p:txBody>
      </p:sp>
      <p:sp>
        <p:nvSpPr>
          <p:cNvPr id="5" name="TextBox 4"/>
          <p:cNvSpPr txBox="1"/>
          <p:nvPr/>
        </p:nvSpPr>
        <p:spPr>
          <a:xfrm>
            <a:off x="566928" y="1996440"/>
            <a:ext cx="11057839" cy="369189"/>
          </a:xfrm>
          <a:prstGeom prst="rect">
            <a:avLst/>
          </a:prstGeom>
          <a:noFill/>
        </p:spPr>
        <p:txBody>
          <a:bodyPr wrap="square" lIns="0" rIns="0" tIns="0" bIns="0">
            <a:spAutoFit/>
          </a:bodyPr>
          <a:lstStyle/>
          <a:p>
            <a:r>
              <a:rPr sz="1350" b="1" i="0">
                <a:solidFill>
                  <a:srgbClr val="15192B"/>
                </a:solidFill>
                <a:latin typeface="Segoe UI"/>
              </a:rPr>
              <a:t>Two inventions, independently valuable:</a:t>
            </a:r>
          </a:p>
        </p:txBody>
      </p:sp>
      <p:sp>
        <p:nvSpPr>
          <p:cNvPr id="6" name="TextBox 5"/>
          <p:cNvSpPr txBox="1"/>
          <p:nvPr/>
        </p:nvSpPr>
        <p:spPr>
          <a:xfrm>
            <a:off x="566928" y="2365629"/>
            <a:ext cx="11057839" cy="769239"/>
          </a:xfrm>
          <a:prstGeom prst="rect">
            <a:avLst/>
          </a:prstGeom>
          <a:noFill/>
        </p:spPr>
        <p:txBody>
          <a:bodyPr wrap="square" lIns="0" rIns="0" tIns="0" bIns="0">
            <a:spAutoFit/>
          </a:bodyPr>
          <a:lstStyle/>
          <a:p>
            <a:r>
              <a:rPr sz="1350" b="0" i="0">
                <a:solidFill>
                  <a:srgbClr val="5A6072"/>
                </a:solidFill>
                <a:latin typeface="Segoe UI"/>
              </a:rPr>
              <a:t>1. </a:t>
            </a:r>
            <a:r>
              <a:rPr sz="1350" b="1" i="0">
                <a:solidFill>
                  <a:srgbClr val="15192B"/>
                </a:solidFill>
                <a:latin typeface="Segoe UI"/>
              </a:rPr>
              <a:t>Knowledge base generation.</a:t>
            </a:r>
            <a:r>
              <a:rPr sz="1350" b="0" i="0">
                <a:solidFill>
                  <a:srgbClr val="5A6072"/>
                </a:solidFill>
                <a:latin typeface="Segoe UI"/>
              </a:rPr>
              <a:t> Point Qlaudia at a subject. It produces a graph of concepts, each with written instruction, computed figures, worked examples, and assessments — plus the typed relationships and prerequisite edges that connect them.</a:t>
            </a:r>
          </a:p>
        </p:txBody>
      </p:sp>
      <p:sp>
        <p:nvSpPr>
          <p:cNvPr id="7" name="TextBox 6"/>
          <p:cNvSpPr txBox="1"/>
          <p:nvPr/>
        </p:nvSpPr>
        <p:spPr>
          <a:xfrm>
            <a:off x="566928" y="3134868"/>
            <a:ext cx="11057839" cy="769239"/>
          </a:xfrm>
          <a:prstGeom prst="rect">
            <a:avLst/>
          </a:prstGeom>
          <a:noFill/>
        </p:spPr>
        <p:txBody>
          <a:bodyPr wrap="square" lIns="0" rIns="0" tIns="0" bIns="0">
            <a:spAutoFit/>
          </a:bodyPr>
          <a:lstStyle/>
          <a:p>
            <a:r>
              <a:rPr sz="1350" b="0" i="0">
                <a:solidFill>
                  <a:srgbClr val="5A6072"/>
                </a:solidFill>
                <a:latin typeface="Segoe UI"/>
              </a:rPr>
              <a:t>2. </a:t>
            </a:r>
            <a:r>
              <a:rPr sz="1350" b="1" i="0">
                <a:solidFill>
                  <a:srgbClr val="15192B"/>
                </a:solidFill>
                <a:latin typeface="Segoe UI"/>
              </a:rPr>
              <a:t>Intelligent and adaptive delivery.</a:t>
            </a:r>
            <a:r>
              <a:rPr sz="1350" b="0" i="0">
                <a:solidFill>
                  <a:srgbClr val="5A6072"/>
                </a:solidFill>
                <a:latin typeface="Segoe UI"/>
              </a:rPr>
              <a:t> Because the structure exists, delivery can use it — readiness computed across </a:t>
            </a:r>
            <a:r>
              <a:rPr sz="1350" b="0" i="1">
                <a:solidFill>
                  <a:srgbClr val="5A6072"/>
                </a:solidFill>
                <a:latin typeface="Segoe UI"/>
              </a:rPr>
              <a:t>transitive</a:t>
            </a:r>
            <a:r>
              <a:rPr sz="1350" b="0" i="0">
                <a:solidFill>
                  <a:srgbClr val="5A6072"/>
                </a:solidFill>
                <a:latin typeface="Segoe UI"/>
              </a:rPr>
              <a:t> prerequisites against measured mastery, multiple live learning paths, and goal-directed sequencing. Set a goal concept; the system works backward through everything required to reach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6   </a:t>
            </a:r>
            <a:r>
              <a:rPr sz="2500" b="1">
                <a:solidFill>
                  <a:srgbClr val="15192B"/>
                </a:solidFill>
                <a:latin typeface="Segoe UI"/>
              </a:rPr>
              <a:t>Founder: I Designed This System in 1985</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661416"/>
          </a:xfrm>
          <a:prstGeom prst="rect">
            <a:avLst/>
          </a:prstGeom>
          <a:noFill/>
        </p:spPr>
        <p:txBody>
          <a:bodyPr wrap="square" lIns="0" rIns="0" tIns="0" bIns="0">
            <a:spAutoFit/>
          </a:bodyPr>
          <a:lstStyle/>
          <a:p>
            <a:r>
              <a:rPr sz="1700" b="1" i="0">
                <a:solidFill>
                  <a:srgbClr val="15192B"/>
                </a:solidFill>
                <a:latin typeface="Segoe UI"/>
              </a:rPr>
              <a:t>My master's thesis described Qlaudia. I earned my master's degree in CS. But the ideas could not have been put into practice — until now.</a:t>
            </a:r>
          </a:p>
        </p:txBody>
      </p:sp>
      <p:sp>
        <p:nvSpPr>
          <p:cNvPr id="5" name="TextBox 4"/>
          <p:cNvSpPr txBox="1"/>
          <p:nvPr/>
        </p:nvSpPr>
        <p:spPr>
          <a:xfrm>
            <a:off x="566928" y="1996440"/>
            <a:ext cx="11057839" cy="592074"/>
          </a:xfrm>
          <a:prstGeom prst="rect">
            <a:avLst/>
          </a:prstGeom>
          <a:noFill/>
        </p:spPr>
        <p:txBody>
          <a:bodyPr wrap="square" lIns="0" rIns="0" tIns="0" bIns="0">
            <a:spAutoFit/>
          </a:bodyPr>
          <a:lstStyle/>
          <a:p>
            <a:r>
              <a:rPr sz="1350" b="1" i="0">
                <a:solidFill>
                  <a:srgbClr val="15192B"/>
                </a:solidFill>
                <a:latin typeface="Segoe UI"/>
              </a:rPr>
              <a:t>1985 — the Conceptual Knowledge System (CKS)</a:t>
            </a:r>
            <a:r>
              <a:rPr sz="1350" b="0" i="0">
                <a:solidFill>
                  <a:srgbClr val="5A6072"/>
                </a:solidFill>
                <a:latin typeface="Segoe UI"/>
              </a:rPr>
              <a:t>, master's thesis, University of Kansas. A knowledge graph, built once and then used for two things:</a:t>
            </a:r>
          </a:p>
        </p:txBody>
      </p:sp>
      <p:sp>
        <p:nvSpPr>
          <p:cNvPr id="6" name="Rectangle 5"/>
          <p:cNvSpPr/>
          <p:nvPr/>
        </p:nvSpPr>
        <p:spPr>
          <a:xfrm>
            <a:off x="566928" y="2615946"/>
            <a:ext cx="50292" cy="484124"/>
          </a:xfrm>
          <a:prstGeom prst="rect">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2588514"/>
            <a:ext cx="10746943" cy="575564"/>
          </a:xfrm>
          <a:prstGeom prst="rect">
            <a:avLst/>
          </a:prstGeom>
          <a:noFill/>
        </p:spPr>
        <p:txBody>
          <a:bodyPr wrap="square" lIns="0" rIns="0" tIns="0" bIns="0">
            <a:spAutoFit/>
          </a:bodyPr>
          <a:lstStyle/>
          <a:p>
            <a:r>
              <a:rPr sz="1300" b="0" i="1">
                <a:solidFill>
                  <a:srgbClr val="5A6072"/>
                </a:solidFill>
                <a:latin typeface="Segoe UI"/>
              </a:rPr>
              <a:t>"…the program has two intended functions: as an interactive knowledge acquisition facility and, secondly, as an information retrieval facility."</a:t>
            </a:r>
          </a:p>
        </p:txBody>
      </p:sp>
      <p:sp>
        <p:nvSpPr>
          <p:cNvPr id="8" name="TextBox 7"/>
          <p:cNvSpPr txBox="1"/>
          <p:nvPr/>
        </p:nvSpPr>
        <p:spPr>
          <a:xfrm>
            <a:off x="566928" y="3164078"/>
            <a:ext cx="11057839" cy="592074"/>
          </a:xfrm>
          <a:prstGeom prst="rect">
            <a:avLst/>
          </a:prstGeom>
          <a:noFill/>
        </p:spPr>
        <p:txBody>
          <a:bodyPr wrap="square" lIns="0" rIns="0" tIns="0" bIns="0">
            <a:spAutoFit/>
          </a:bodyPr>
          <a:lstStyle/>
          <a:p>
            <a:r>
              <a:rPr sz="1350" b="1" i="0">
                <a:solidFill>
                  <a:srgbClr val="15192B"/>
                </a:solidFill>
                <a:latin typeface="Segoe UI"/>
              </a:rPr>
              <a:t>Acquisition and delivery, over a constructed graph.</a:t>
            </a:r>
            <a:r>
              <a:rPr sz="1350" b="0" i="0">
                <a:solidFill>
                  <a:srgbClr val="5A6072"/>
                </a:solidFill>
                <a:latin typeface="Segoe UI"/>
              </a:rPr>
              <a:t> Those are Qlaudia's two inventions, and the patent's two claim sets.</a:t>
            </a:r>
          </a:p>
        </p:txBody>
      </p:sp>
      <p:sp>
        <p:nvSpPr>
          <p:cNvPr id="9" name="TextBox 8"/>
          <p:cNvSpPr txBox="1"/>
          <p:nvPr/>
        </p:nvSpPr>
        <p:spPr>
          <a:xfrm>
            <a:off x="566928" y="3756152"/>
            <a:ext cx="11057839" cy="369189"/>
          </a:xfrm>
          <a:prstGeom prst="rect">
            <a:avLst/>
          </a:prstGeom>
          <a:noFill/>
        </p:spPr>
        <p:txBody>
          <a:bodyPr wrap="square" lIns="0" rIns="0" tIns="0" bIns="0">
            <a:spAutoFit/>
          </a:bodyPr>
          <a:lstStyle/>
          <a:p>
            <a:r>
              <a:rPr sz="1350" b="1" i="0">
                <a:solidFill>
                  <a:srgbClr val="15192B"/>
                </a:solidFill>
                <a:latin typeface="Segoe UI"/>
              </a:rPr>
              <a:t>How acquisition worked — and why it wasn't practical:</a:t>
            </a:r>
          </a:p>
        </p:txBody>
      </p:sp>
      <p:sp>
        <p:nvSpPr>
          <p:cNvPr id="10" name="Rectangle 9"/>
          <p:cNvSpPr/>
          <p:nvPr/>
        </p:nvSpPr>
        <p:spPr>
          <a:xfrm>
            <a:off x="566928" y="4152773"/>
            <a:ext cx="50292" cy="484124"/>
          </a:xfrm>
          <a:prstGeom prst="rect">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4125340"/>
            <a:ext cx="10746943" cy="575564"/>
          </a:xfrm>
          <a:prstGeom prst="rect">
            <a:avLst/>
          </a:prstGeom>
          <a:noFill/>
        </p:spPr>
        <p:txBody>
          <a:bodyPr wrap="square" lIns="0" rIns="0" tIns="0" bIns="0">
            <a:spAutoFit/>
          </a:bodyPr>
          <a:lstStyle/>
          <a:p>
            <a:r>
              <a:rPr sz="1300" b="0" i="1">
                <a:solidFill>
                  <a:srgbClr val="5A6072"/>
                </a:solidFill>
                <a:latin typeface="Segoe UI"/>
              </a:rPr>
              <a:t>"While engaged in interactive dialog with a user, CKS's acquisition facility attempts to acquire the concepts which constitute the user's knowledge."</a:t>
            </a:r>
          </a:p>
        </p:txBody>
      </p:sp>
      <p:sp>
        <p:nvSpPr>
          <p:cNvPr id="12" name="TextBox 11"/>
          <p:cNvSpPr txBox="1"/>
          <p:nvPr/>
        </p:nvSpPr>
        <p:spPr>
          <a:xfrm>
            <a:off x="566928" y="4700904"/>
            <a:ext cx="11057839" cy="592074"/>
          </a:xfrm>
          <a:prstGeom prst="rect">
            <a:avLst/>
          </a:prstGeom>
          <a:noFill/>
        </p:spPr>
        <p:txBody>
          <a:bodyPr wrap="square" lIns="0" rIns="0" tIns="0" bIns="0">
            <a:spAutoFit/>
          </a:bodyPr>
          <a:lstStyle/>
          <a:p>
            <a:r>
              <a:rPr sz="1350" b="0" i="0">
                <a:solidFill>
                  <a:srgbClr val="5A6072"/>
                </a:solidFill>
                <a:latin typeface="Segoe UI"/>
              </a:rPr>
              <a:t>Every concept had to be extracted from a human being, one at a time. </a:t>
            </a:r>
            <a:r>
              <a:rPr sz="1350" b="1" i="0">
                <a:solidFill>
                  <a:srgbClr val="15192B"/>
                </a:solidFill>
                <a:latin typeface="Segoe UI"/>
              </a:rPr>
              <a:t>The graph was never the hard part. Filling it was.</a:t>
            </a:r>
          </a:p>
        </p:txBody>
      </p:sp>
      <p:sp>
        <p:nvSpPr>
          <p:cNvPr id="13" name="TextBox 12"/>
          <p:cNvSpPr txBox="1"/>
          <p:nvPr/>
        </p:nvSpPr>
        <p:spPr>
          <a:xfrm>
            <a:off x="566928" y="5292978"/>
            <a:ext cx="11057839" cy="369189"/>
          </a:xfrm>
          <a:prstGeom prst="rect">
            <a:avLst/>
          </a:prstGeom>
          <a:noFill/>
        </p:spPr>
        <p:txBody>
          <a:bodyPr wrap="square" lIns="0" rIns="0" tIns="0" bIns="0">
            <a:spAutoFit/>
          </a:bodyPr>
          <a:lstStyle/>
          <a:p>
            <a:r>
              <a:rPr sz="1350" b="1" i="0">
                <a:solidFill>
                  <a:srgbClr val="15192B"/>
                </a:solidFill>
                <a:latin typeface="Segoe UI"/>
              </a:rPr>
              <a:t>2026 — LLMs are the acquisition facility.</a:t>
            </a:r>
            <a:r>
              <a:rPr sz="1350" b="0" i="0">
                <a:solidFill>
                  <a:srgbClr val="5A6072"/>
                </a:solidFill>
                <a:latin typeface="Segoe UI"/>
              </a:rPr>
              <a:t> Same architecture. The missing half arrived.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7   </a:t>
            </a:r>
            <a:r>
              <a:rPr sz="2500" b="1">
                <a:solidFill>
                  <a:srgbClr val="15192B"/>
                </a:solidFill>
                <a:latin typeface="Segoe UI"/>
              </a:rPr>
              <a:t>Watch It Build a Course</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661416"/>
          </a:xfrm>
          <a:prstGeom prst="rect">
            <a:avLst/>
          </a:prstGeom>
          <a:noFill/>
        </p:spPr>
        <p:txBody>
          <a:bodyPr wrap="square" lIns="0" rIns="0" tIns="0" bIns="0">
            <a:spAutoFit/>
          </a:bodyPr>
          <a:lstStyle/>
          <a:p>
            <a:r>
              <a:rPr sz="1700" b="1" i="0">
                <a:solidFill>
                  <a:srgbClr val="15192B"/>
                </a:solidFill>
                <a:latin typeface="Segoe UI"/>
              </a:rPr>
              <a:t>Here is Qlaudia building a complete course on raising an angel round — the one subject in the world you can grade on sight.</a:t>
            </a:r>
          </a:p>
        </p:txBody>
      </p:sp>
      <p:sp>
        <p:nvSpPr>
          <p:cNvPr id="5" name="Rounded Rectangle 4"/>
          <p:cNvSpPr/>
          <p:nvPr/>
        </p:nvSpPr>
        <p:spPr>
          <a:xfrm>
            <a:off x="566928" y="1996440"/>
            <a:ext cx="11057839" cy="1234440"/>
          </a:xfrm>
          <a:prstGeom prst="roundRect">
            <a:avLst/>
          </a:prstGeom>
          <a:solidFill>
            <a:srgbClr val="F4F5F9"/>
          </a:solidFill>
          <a:ln w="15875">
            <a:solidFill>
              <a:srgbClr val="4A3AF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950" b="1">
                <a:solidFill>
                  <a:srgbClr val="4A3AFF"/>
                </a:solidFill>
                <a:latin typeface="Segoe UI"/>
              </a:rPr>
              <a:t>VIDEO PLACEHOLDER</a:t>
            </a:r>
          </a:p>
          <a:p>
            <a:pPr algn="ctr">
              <a:spcBef>
                <a:spcPts val="400"/>
              </a:spcBef>
            </a:pPr>
            <a:r>
              <a:rPr sz="1200" b="0" i="0">
                <a:solidFill>
                  <a:srgbClr val="5A6072"/>
                </a:solidFill>
                <a:latin typeface="Segoe UI"/>
              </a:rPr>
              <a:t>recorded end-to-end run, time-lapsed to ~90 seconds</a:t>
            </a:r>
          </a:p>
        </p:txBody>
      </p:sp>
      <p:sp>
        <p:nvSpPr>
          <p:cNvPr id="6" name="Oval 5"/>
          <p:cNvSpPr/>
          <p:nvPr/>
        </p:nvSpPr>
        <p:spPr>
          <a:xfrm>
            <a:off x="585216" y="3492627"/>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3413760"/>
            <a:ext cx="10820095" cy="323469"/>
          </a:xfrm>
          <a:prstGeom prst="rect">
            <a:avLst/>
          </a:prstGeom>
          <a:noFill/>
        </p:spPr>
        <p:txBody>
          <a:bodyPr wrap="square" lIns="0" rIns="0" tIns="0" bIns="0">
            <a:spAutoFit/>
          </a:bodyPr>
          <a:lstStyle/>
          <a:p>
            <a:r>
              <a:rPr sz="1350" b="1" i="0">
                <a:solidFill>
                  <a:srgbClr val="15192B"/>
                </a:solidFill>
                <a:latin typeface="Segoe UI"/>
              </a:rPr>
              <a:t>The ask</a:t>
            </a:r>
            <a:r>
              <a:rPr sz="1350" b="0" i="0">
                <a:solidFill>
                  <a:srgbClr val="5A6072"/>
                </a:solidFill>
                <a:latin typeface="Segoe UI"/>
              </a:rPr>
              <a:t> — a plain-language description of the course you want. That is the entire input</a:t>
            </a:r>
          </a:p>
        </p:txBody>
      </p:sp>
      <p:sp>
        <p:nvSpPr>
          <p:cNvPr id="8" name="Oval 7"/>
          <p:cNvSpPr/>
          <p:nvPr/>
        </p:nvSpPr>
        <p:spPr>
          <a:xfrm>
            <a:off x="585216" y="3816095"/>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3737229"/>
            <a:ext cx="10820095" cy="546354"/>
          </a:xfrm>
          <a:prstGeom prst="rect">
            <a:avLst/>
          </a:prstGeom>
          <a:noFill/>
        </p:spPr>
        <p:txBody>
          <a:bodyPr wrap="square" lIns="0" rIns="0" tIns="0" bIns="0">
            <a:spAutoFit/>
          </a:bodyPr>
          <a:lstStyle/>
          <a:p>
            <a:r>
              <a:rPr sz="1350" b="1" i="0">
                <a:solidFill>
                  <a:srgbClr val="15192B"/>
                </a:solidFill>
                <a:latin typeface="Segoe UI"/>
              </a:rPr>
              <a:t>The advisor</a:t>
            </a:r>
            <a:r>
              <a:rPr sz="1350" b="0" i="0">
                <a:solidFill>
                  <a:srgbClr val="5A6072"/>
                </a:solidFill>
                <a:latin typeface="Segoe UI"/>
              </a:rPr>
              <a:t> — the model interrogates that description and turns it into a structured brief: audience, coverage, outcome, tone</a:t>
            </a:r>
          </a:p>
        </p:txBody>
      </p:sp>
      <p:sp>
        <p:nvSpPr>
          <p:cNvPr id="10" name="Oval 9"/>
          <p:cNvSpPr/>
          <p:nvPr/>
        </p:nvSpPr>
        <p:spPr>
          <a:xfrm>
            <a:off x="585216" y="4362450"/>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4283583"/>
            <a:ext cx="10820095" cy="323469"/>
          </a:xfrm>
          <a:prstGeom prst="rect">
            <a:avLst/>
          </a:prstGeom>
          <a:noFill/>
        </p:spPr>
        <p:txBody>
          <a:bodyPr wrap="square" lIns="0" rIns="0" tIns="0" bIns="0">
            <a:spAutoFit/>
          </a:bodyPr>
          <a:lstStyle/>
          <a:p>
            <a:r>
              <a:rPr sz="1350" b="1" i="0">
                <a:solidFill>
                  <a:srgbClr val="15192B"/>
                </a:solidFill>
                <a:latin typeface="Segoe UI"/>
              </a:rPr>
              <a:t>The syllabus</a:t>
            </a:r>
            <a:r>
              <a:rPr sz="1350" b="0" i="0">
                <a:solidFill>
                  <a:srgbClr val="5A6072"/>
                </a:solidFill>
                <a:latin typeface="Segoe UI"/>
              </a:rPr>
              <a:t> — proposed concepts, reviewed and edited by the author </a:t>
            </a:r>
            <a:r>
              <a:rPr sz="1350" b="0" i="1">
                <a:solidFill>
                  <a:srgbClr val="5A6072"/>
                </a:solidFill>
                <a:latin typeface="Segoe UI"/>
              </a:rPr>
              <a:t>before</a:t>
            </a:r>
            <a:r>
              <a:rPr sz="1350" b="0" i="0">
                <a:solidFill>
                  <a:srgbClr val="5A6072"/>
                </a:solidFill>
                <a:latin typeface="Segoe UI"/>
              </a:rPr>
              <a:t> a word is written</a:t>
            </a:r>
          </a:p>
        </p:txBody>
      </p:sp>
      <p:sp>
        <p:nvSpPr>
          <p:cNvPr id="12" name="Oval 11"/>
          <p:cNvSpPr/>
          <p:nvPr/>
        </p:nvSpPr>
        <p:spPr>
          <a:xfrm>
            <a:off x="585216" y="4685919"/>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4607052"/>
            <a:ext cx="10820095" cy="323469"/>
          </a:xfrm>
          <a:prstGeom prst="rect">
            <a:avLst/>
          </a:prstGeom>
          <a:noFill/>
        </p:spPr>
        <p:txBody>
          <a:bodyPr wrap="square" lIns="0" rIns="0" tIns="0" bIns="0">
            <a:spAutoFit/>
          </a:bodyPr>
          <a:lstStyle/>
          <a:p>
            <a:r>
              <a:rPr sz="1350" b="1" i="0">
                <a:solidFill>
                  <a:srgbClr val="15192B"/>
                </a:solidFill>
                <a:latin typeface="Segoe UI"/>
              </a:rPr>
              <a:t>The pipeline</a:t>
            </a:r>
            <a:r>
              <a:rPr sz="1350" b="0" i="0">
                <a:solidFill>
                  <a:srgbClr val="5A6072"/>
                </a:solidFill>
                <a:latin typeface="Segoe UI"/>
              </a:rPr>
              <a:t> — instruction, computed figures, assessments, typed relationships, prerequisite graph</a:t>
            </a:r>
          </a:p>
        </p:txBody>
      </p:sp>
      <p:sp>
        <p:nvSpPr>
          <p:cNvPr id="14" name="Oval 13"/>
          <p:cNvSpPr/>
          <p:nvPr/>
        </p:nvSpPr>
        <p:spPr>
          <a:xfrm>
            <a:off x="585216" y="5009387"/>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4930521"/>
            <a:ext cx="10820095" cy="323469"/>
          </a:xfrm>
          <a:prstGeom prst="rect">
            <a:avLst/>
          </a:prstGeom>
          <a:noFill/>
        </p:spPr>
        <p:txBody>
          <a:bodyPr wrap="square" lIns="0" rIns="0" tIns="0" bIns="0">
            <a:spAutoFit/>
          </a:bodyPr>
          <a:lstStyle/>
          <a:p>
            <a:r>
              <a:rPr sz="1350" b="1" i="0">
                <a:solidFill>
                  <a:srgbClr val="15192B"/>
                </a:solidFill>
                <a:latin typeface="Segoe UI"/>
              </a:rPr>
              <a:t>The finished course</a:t>
            </a:r>
            <a:r>
              <a:rPr sz="1350" b="0" i="0">
                <a:solidFill>
                  <a:srgbClr val="5A6072"/>
                </a:solidFill>
                <a:latin typeface="Segoe UI"/>
              </a:rPr>
              <a:t> — and the prerequisite graph showing what must be understood before what</a:t>
            </a:r>
          </a:p>
        </p:txBody>
      </p:sp>
      <p:sp>
        <p:nvSpPr>
          <p:cNvPr id="16" name="TextBox 15"/>
          <p:cNvSpPr txBox="1"/>
          <p:nvPr/>
        </p:nvSpPr>
        <p:spPr>
          <a:xfrm>
            <a:off x="566928" y="5253989"/>
            <a:ext cx="11057839" cy="369189"/>
          </a:xfrm>
          <a:prstGeom prst="rect">
            <a:avLst/>
          </a:prstGeom>
          <a:noFill/>
        </p:spPr>
        <p:txBody>
          <a:bodyPr wrap="square" lIns="0" rIns="0" tIns="0" bIns="0">
            <a:spAutoFit/>
          </a:bodyPr>
          <a:lstStyle/>
          <a:p>
            <a:r>
              <a:rPr sz="1350" b="1" i="0">
                <a:solidFill>
                  <a:srgbClr val="15192B"/>
                </a:solidFill>
                <a:latin typeface="Segoe UI"/>
              </a:rPr>
              <a:t>A paragraph in. A complete course out, in about 18 minutes, unattended.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8   </a:t>
            </a:r>
            <a:r>
              <a:rPr sz="2500" b="1">
                <a:solidFill>
                  <a:srgbClr val="15192B"/>
                </a:solidFill>
                <a:latin typeface="Segoe UI"/>
              </a:rPr>
              <a:t>Why Now</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376428"/>
          </a:xfrm>
          <a:prstGeom prst="rect">
            <a:avLst/>
          </a:prstGeom>
          <a:noFill/>
        </p:spPr>
        <p:txBody>
          <a:bodyPr wrap="square" lIns="0" rIns="0" tIns="0" bIns="0">
            <a:spAutoFit/>
          </a:bodyPr>
          <a:lstStyle/>
          <a:p>
            <a:r>
              <a:rPr sz="1700" b="1" i="0">
                <a:solidFill>
                  <a:srgbClr val="15192B"/>
                </a:solidFill>
                <a:latin typeface="Segoe UI"/>
              </a:rPr>
              <a:t>Four curves crossed in the last 24 months — and one of them is the learners themselves.</a:t>
            </a:r>
          </a:p>
        </p:txBody>
      </p:sp>
      <p:sp>
        <p:nvSpPr>
          <p:cNvPr id="5" name="Oval 4"/>
          <p:cNvSpPr/>
          <p:nvPr/>
        </p:nvSpPr>
        <p:spPr>
          <a:xfrm>
            <a:off x="585216" y="1790318"/>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711452"/>
            <a:ext cx="10820095" cy="546354"/>
          </a:xfrm>
          <a:prstGeom prst="rect">
            <a:avLst/>
          </a:prstGeom>
          <a:noFill/>
        </p:spPr>
        <p:txBody>
          <a:bodyPr wrap="square" lIns="0" rIns="0" tIns="0" bIns="0">
            <a:spAutoFit/>
          </a:bodyPr>
          <a:lstStyle/>
          <a:p>
            <a:r>
              <a:rPr sz="1350" b="1" i="0">
                <a:solidFill>
                  <a:srgbClr val="15192B"/>
                </a:solidFill>
                <a:latin typeface="Segoe UI"/>
              </a:rPr>
              <a:t>Learner behaviour has already changed</a:t>
            </a:r>
            <a:r>
              <a:rPr sz="1350" b="0" i="0">
                <a:solidFill>
                  <a:srgbClr val="5A6072"/>
                </a:solidFill>
                <a:latin typeface="Segoe UI"/>
              </a:rPr>
              <a:t> — hundreds of millions of people now routinely learn from AI. Ask any high-school teacher. Nobody has to be persuaded to try this</a:t>
            </a:r>
          </a:p>
        </p:txBody>
      </p:sp>
      <p:sp>
        <p:nvSpPr>
          <p:cNvPr id="7" name="Oval 6"/>
          <p:cNvSpPr/>
          <p:nvPr/>
        </p:nvSpPr>
        <p:spPr>
          <a:xfrm>
            <a:off x="585216" y="233667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257806"/>
            <a:ext cx="10820095" cy="546354"/>
          </a:xfrm>
          <a:prstGeom prst="rect">
            <a:avLst/>
          </a:prstGeom>
          <a:noFill/>
        </p:spPr>
        <p:txBody>
          <a:bodyPr wrap="square" lIns="0" rIns="0" tIns="0" bIns="0">
            <a:spAutoFit/>
          </a:bodyPr>
          <a:lstStyle/>
          <a:p>
            <a:r>
              <a:rPr sz="1350" b="1" i="0">
                <a:solidFill>
                  <a:srgbClr val="15192B"/>
                </a:solidFill>
                <a:latin typeface="Segoe UI"/>
              </a:rPr>
              <a:t>Model capability</a:t>
            </a:r>
            <a:r>
              <a:rPr sz="1350" b="0" i="0">
                <a:solidFill>
                  <a:srgbClr val="5A6072"/>
                </a:solidFill>
                <a:latin typeface="Segoe UI"/>
              </a:rPr>
              <a:t> — frontier models can now hold a full subject's structure coherently, not just answer local questions</a:t>
            </a:r>
          </a:p>
        </p:txBody>
      </p:sp>
      <p:sp>
        <p:nvSpPr>
          <p:cNvPr id="9" name="Oval 8"/>
          <p:cNvSpPr/>
          <p:nvPr/>
        </p:nvSpPr>
        <p:spPr>
          <a:xfrm>
            <a:off x="585216" y="2883027"/>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804160"/>
            <a:ext cx="10820095" cy="546354"/>
          </a:xfrm>
          <a:prstGeom prst="rect">
            <a:avLst/>
          </a:prstGeom>
          <a:noFill/>
        </p:spPr>
        <p:txBody>
          <a:bodyPr wrap="square" lIns="0" rIns="0" tIns="0" bIns="0">
            <a:spAutoFit/>
          </a:bodyPr>
          <a:lstStyle/>
          <a:p>
            <a:r>
              <a:rPr sz="1350" b="1" i="0">
                <a:solidFill>
                  <a:srgbClr val="15192B"/>
                </a:solidFill>
                <a:latin typeface="Segoe UI"/>
              </a:rPr>
              <a:t>Inference cost</a:t>
            </a:r>
            <a:r>
              <a:rPr sz="1350" b="0" i="0">
                <a:solidFill>
                  <a:srgbClr val="5A6072"/>
                </a:solidFill>
                <a:latin typeface="Segoe UI"/>
              </a:rPr>
              <a:t> — generating a complete course now costs </a:t>
            </a:r>
            <a:r>
              <a:rPr sz="1350" b="1" i="0">
                <a:solidFill>
                  <a:srgbClr val="15192B"/>
                </a:solidFill>
                <a:latin typeface="Segoe UI"/>
              </a:rPr>
              <a:t>roughly $5</a:t>
            </a:r>
            <a:r>
              <a:rPr sz="1350" b="0" i="0">
                <a:solidFill>
                  <a:srgbClr val="5A6072"/>
                </a:solidFill>
                <a:latin typeface="Segoe UI"/>
              </a:rPr>
              <a:t> in model calls. A subject-matter expert writing the same thing takes months</a:t>
            </a:r>
          </a:p>
        </p:txBody>
      </p:sp>
      <p:sp>
        <p:nvSpPr>
          <p:cNvPr id="11" name="Oval 10"/>
          <p:cNvSpPr/>
          <p:nvPr/>
        </p:nvSpPr>
        <p:spPr>
          <a:xfrm>
            <a:off x="585216" y="3429381"/>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3350514"/>
            <a:ext cx="10820095" cy="546354"/>
          </a:xfrm>
          <a:prstGeom prst="rect">
            <a:avLst/>
          </a:prstGeom>
          <a:noFill/>
        </p:spPr>
        <p:txBody>
          <a:bodyPr wrap="square" lIns="0" rIns="0" tIns="0" bIns="0">
            <a:spAutoFit/>
          </a:bodyPr>
          <a:lstStyle/>
          <a:p>
            <a:r>
              <a:rPr sz="1350" b="1" i="0">
                <a:solidFill>
                  <a:srgbClr val="15192B"/>
                </a:solidFill>
                <a:latin typeface="Segoe UI"/>
              </a:rPr>
              <a:t>Institutional readiness</a:t>
            </a:r>
            <a:r>
              <a:rPr sz="1350" b="0" i="0">
                <a:solidFill>
                  <a:srgbClr val="5A6072"/>
                </a:solidFill>
                <a:latin typeface="Segoe UI"/>
              </a:rPr>
              <a:t> — post-2020, schools, universities, and employers have the infrastructure and the permission for computer-based learning — the rails are already laid</a:t>
            </a:r>
          </a:p>
        </p:txBody>
      </p:sp>
      <p:sp>
        <p:nvSpPr>
          <p:cNvPr id="13" name="Rectangle 12"/>
          <p:cNvSpPr/>
          <p:nvPr/>
        </p:nvSpPr>
        <p:spPr>
          <a:xfrm>
            <a:off x="566928" y="3924300"/>
            <a:ext cx="50292" cy="484124"/>
          </a:xfrm>
          <a:prstGeom prst="rect">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896868"/>
            <a:ext cx="10746943" cy="575564"/>
          </a:xfrm>
          <a:prstGeom prst="rect">
            <a:avLst/>
          </a:prstGeom>
          <a:noFill/>
        </p:spPr>
        <p:txBody>
          <a:bodyPr wrap="square" lIns="0" rIns="0" tIns="0" bIns="0">
            <a:spAutoFit/>
          </a:bodyPr>
          <a:lstStyle/>
          <a:p>
            <a:r>
              <a:rPr sz="1300" b="1" i="1">
                <a:solidFill>
                  <a:srgbClr val="5A6072"/>
                </a:solidFill>
                <a:latin typeface="Segoe UI"/>
              </a:rPr>
              <a:t>~$5 and about 15 minutes</a:t>
            </a:r>
            <a:r>
              <a:rPr sz="1300" b="0" i="1">
                <a:solidFill>
                  <a:srgbClr val="5A6072"/>
                </a:solidFill>
                <a:latin typeface="Segoe UI"/>
              </a:rPr>
              <a:t> to generate a ~34-concept course with written instruction, computed figures, ~107 assessment questions, and a full prerequisite graph.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9   </a:t>
            </a:r>
            <a:r>
              <a:rPr sz="2500" b="1">
                <a:solidFill>
                  <a:srgbClr val="15192B"/>
                </a:solidFill>
                <a:latin typeface="Segoe UI"/>
              </a:rPr>
              <a:t>Defensibility</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376428"/>
          </a:xfrm>
          <a:prstGeom prst="rect">
            <a:avLst/>
          </a:prstGeom>
          <a:noFill/>
        </p:spPr>
        <p:txBody>
          <a:bodyPr wrap="square" lIns="0" rIns="0" tIns="0" bIns="0">
            <a:spAutoFit/>
          </a:bodyPr>
          <a:lstStyle/>
          <a:p>
            <a:r>
              <a:rPr sz="1700" b="1" i="0">
                <a:solidFill>
                  <a:srgbClr val="15192B"/>
                </a:solidFill>
                <a:latin typeface="Segoe UI"/>
              </a:rPr>
              <a:t>A filed patent, plus a content asset that compounds.</a:t>
            </a:r>
          </a:p>
        </p:txBody>
      </p:sp>
      <p:sp>
        <p:nvSpPr>
          <p:cNvPr id="5" name="Oval 4"/>
          <p:cNvSpPr/>
          <p:nvPr/>
        </p:nvSpPr>
        <p:spPr>
          <a:xfrm>
            <a:off x="585216" y="1790318"/>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711452"/>
            <a:ext cx="10820095" cy="323469"/>
          </a:xfrm>
          <a:prstGeom prst="rect">
            <a:avLst/>
          </a:prstGeom>
          <a:noFill/>
        </p:spPr>
        <p:txBody>
          <a:bodyPr wrap="square" lIns="0" rIns="0" tIns="0" bIns="0">
            <a:spAutoFit/>
          </a:bodyPr>
          <a:lstStyle/>
          <a:p>
            <a:r>
              <a:rPr sz="1350" b="1" i="0">
                <a:solidFill>
                  <a:srgbClr val="15192B"/>
                </a:solidFill>
                <a:latin typeface="Segoe UI"/>
              </a:rPr>
              <a:t>Non-provisional patent application filed</a:t>
            </a:r>
            <a:r>
              <a:rPr sz="1350" b="0" i="0">
                <a:solidFill>
                  <a:srgbClr val="5A6072"/>
                </a:solidFill>
                <a:latin typeface="Segoe UI"/>
              </a:rPr>
              <a:t> — App. No. 19/756,145, filed 2026-07-28</a:t>
            </a:r>
          </a:p>
        </p:txBody>
      </p:sp>
      <p:sp>
        <p:nvSpPr>
          <p:cNvPr id="7" name="Oval 6"/>
          <p:cNvSpPr/>
          <p:nvPr/>
        </p:nvSpPr>
        <p:spPr>
          <a:xfrm>
            <a:off x="585216" y="2113788"/>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34921"/>
            <a:ext cx="10820095" cy="323469"/>
          </a:xfrm>
          <a:prstGeom prst="rect">
            <a:avLst/>
          </a:prstGeom>
          <a:noFill/>
        </p:spPr>
        <p:txBody>
          <a:bodyPr wrap="square" lIns="0" rIns="0" tIns="0" bIns="0">
            <a:spAutoFit/>
          </a:bodyPr>
          <a:lstStyle/>
          <a:p>
            <a:r>
              <a:rPr sz="1350" b="1" i="0">
                <a:solidFill>
                  <a:srgbClr val="15192B"/>
                </a:solidFill>
                <a:latin typeface="Segoe UI"/>
              </a:rPr>
              <a:t>Two independent claim sets</a:t>
            </a:r>
            <a:r>
              <a:rPr sz="1350" b="0" i="0">
                <a:solidFill>
                  <a:srgbClr val="5A6072"/>
                </a:solidFill>
                <a:latin typeface="Segoe UI"/>
              </a:rPr>
              <a:t> — generation and delivery can be enforced and licensed separately</a:t>
            </a:r>
          </a:p>
        </p:txBody>
      </p:sp>
      <p:sp>
        <p:nvSpPr>
          <p:cNvPr id="9" name="Oval 8"/>
          <p:cNvSpPr/>
          <p:nvPr/>
        </p:nvSpPr>
        <p:spPr>
          <a:xfrm>
            <a:off x="585216" y="2437257"/>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58390"/>
            <a:ext cx="10820095" cy="546354"/>
          </a:xfrm>
          <a:prstGeom prst="rect">
            <a:avLst/>
          </a:prstGeom>
          <a:noFill/>
        </p:spPr>
        <p:txBody>
          <a:bodyPr wrap="square" lIns="0" rIns="0" tIns="0" bIns="0">
            <a:spAutoFit/>
          </a:bodyPr>
          <a:lstStyle/>
          <a:p>
            <a:r>
              <a:rPr sz="1350" b="1" i="0">
                <a:solidFill>
                  <a:srgbClr val="15192B"/>
                </a:solidFill>
                <a:latin typeface="Segoe UI"/>
              </a:rPr>
              <a:t>Inference is paid once per concept, not once per learner</a:t>
            </a:r>
            <a:r>
              <a:rPr sz="1350" b="0" i="0">
                <a:solidFill>
                  <a:srgbClr val="5A6072"/>
                </a:solidFill>
                <a:latin typeface="Segoe UI"/>
              </a:rPr>
              <a:t> — cost per learner falls toward zero as usage grows, while cost of goods stays flat</a:t>
            </a:r>
          </a:p>
        </p:txBody>
      </p:sp>
      <p:sp>
        <p:nvSpPr>
          <p:cNvPr id="11" name="Oval 10"/>
          <p:cNvSpPr/>
          <p:nvPr/>
        </p:nvSpPr>
        <p:spPr>
          <a:xfrm>
            <a:off x="585216" y="2983611"/>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904744"/>
            <a:ext cx="10820095" cy="546354"/>
          </a:xfrm>
          <a:prstGeom prst="rect">
            <a:avLst/>
          </a:prstGeom>
          <a:noFill/>
        </p:spPr>
        <p:txBody>
          <a:bodyPr wrap="square" lIns="0" rIns="0" tIns="0" bIns="0">
            <a:spAutoFit/>
          </a:bodyPr>
          <a:lstStyle/>
          <a:p>
            <a:r>
              <a:rPr sz="1350" b="1" i="0">
                <a:solidFill>
                  <a:srgbClr val="15192B"/>
                </a:solidFill>
                <a:latin typeface="Segoe UI"/>
              </a:rPr>
              <a:t>An appreciating asset</a:t>
            </a:r>
            <a:r>
              <a:rPr sz="1350" b="0" i="0">
                <a:solidFill>
                  <a:srgbClr val="5A6072"/>
                </a:solidFill>
                <a:latin typeface="Segoe UI"/>
              </a:rPr>
              <a:t> — the graph is generated once and served indefinitely. Every domain adds to a reusable, cross-linked corpus</a:t>
            </a:r>
          </a:p>
        </p:txBody>
      </p:sp>
      <p:sp>
        <p:nvSpPr>
          <p:cNvPr id="13" name="Oval 12"/>
          <p:cNvSpPr/>
          <p:nvPr/>
        </p:nvSpPr>
        <p:spPr>
          <a:xfrm>
            <a:off x="585216" y="3529965"/>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451098"/>
            <a:ext cx="10820095" cy="769239"/>
          </a:xfrm>
          <a:prstGeom prst="rect">
            <a:avLst/>
          </a:prstGeom>
          <a:noFill/>
        </p:spPr>
        <p:txBody>
          <a:bodyPr wrap="square" lIns="0" rIns="0" tIns="0" bIns="0">
            <a:spAutoFit/>
          </a:bodyPr>
          <a:lstStyle/>
          <a:p>
            <a:r>
              <a:rPr sz="1350" b="1" i="0">
                <a:solidFill>
                  <a:srgbClr val="15192B"/>
                </a:solidFill>
                <a:latin typeface="Segoe UI"/>
              </a:rPr>
              <a:t>Non-obvious engineering</a:t>
            </a:r>
            <a:r>
              <a:rPr sz="1350" b="0" i="0">
                <a:solidFill>
                  <a:srgbClr val="5A6072"/>
                </a:solidFill>
                <a:latin typeface="Segoe UI"/>
              </a:rPr>
              <a:t> — figures are generated as construction code, executed in a sandbox, checked against independently derived assertions and repaired on failure; assessments are graded by a different model than wrote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10   </a:t>
            </a:r>
            <a:r>
              <a:rPr sz="2500" b="1">
                <a:solidFill>
                  <a:srgbClr val="15192B"/>
                </a:solidFill>
                <a:latin typeface="Segoe UI"/>
              </a:rPr>
              <a:t>Business Model: Sponsored Schools</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661416"/>
          </a:xfrm>
          <a:prstGeom prst="rect">
            <a:avLst/>
          </a:prstGeom>
          <a:noFill/>
        </p:spPr>
        <p:txBody>
          <a:bodyPr wrap="square" lIns="0" rIns="0" tIns="0" bIns="0">
            <a:spAutoFit/>
          </a:bodyPr>
          <a:lstStyle/>
          <a:p>
            <a:r>
              <a:rPr sz="1700" b="1" i="0">
                <a:solidFill>
                  <a:srgbClr val="15192B"/>
                </a:solidFill>
                <a:latin typeface="Segoe UI"/>
              </a:rPr>
              <a:t>We generate the course. A subject-matter expert reviews it, puts their name on it, and brings their audience. They keep a share of every sale.</a:t>
            </a:r>
          </a:p>
        </p:txBody>
      </p:sp>
      <p:sp>
        <p:nvSpPr>
          <p:cNvPr id="5" name="TextBox 4"/>
          <p:cNvSpPr txBox="1"/>
          <p:nvPr/>
        </p:nvSpPr>
        <p:spPr>
          <a:xfrm>
            <a:off x="566928" y="1996440"/>
            <a:ext cx="5336895" cy="365760"/>
          </a:xfrm>
          <a:prstGeom prst="rect">
            <a:avLst/>
          </a:prstGeom>
          <a:noFill/>
        </p:spPr>
        <p:txBody>
          <a:bodyPr wrap="square" lIns="0" rIns="0" tIns="0" bIns="0">
            <a:spAutoFit/>
          </a:bodyPr>
          <a:lstStyle/>
          <a:p>
            <a:r>
              <a:rPr sz="1040" b="1">
                <a:solidFill>
                  <a:srgbClr val="4A3AFF"/>
                </a:solidFill>
                <a:latin typeface="Segoe UI"/>
              </a:rPr>
              <a:t>THE MODEL</a:t>
            </a:r>
          </a:p>
        </p:txBody>
      </p:sp>
      <p:sp>
        <p:nvSpPr>
          <p:cNvPr id="6" name="Oval 5"/>
          <p:cNvSpPr/>
          <p:nvPr/>
        </p:nvSpPr>
        <p:spPr>
          <a:xfrm>
            <a:off x="585216" y="2441067"/>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362200"/>
            <a:ext cx="5099151" cy="769239"/>
          </a:xfrm>
          <a:prstGeom prst="rect">
            <a:avLst/>
          </a:prstGeom>
          <a:noFill/>
        </p:spPr>
        <p:txBody>
          <a:bodyPr wrap="square" lIns="0" rIns="0" tIns="0" bIns="0">
            <a:spAutoFit/>
          </a:bodyPr>
          <a:lstStyle/>
          <a:p>
            <a:r>
              <a:rPr sz="1350" b="1" i="0">
                <a:solidFill>
                  <a:srgbClr val="15192B"/>
                </a:solidFill>
                <a:latin typeface="Segoe UI"/>
              </a:rPr>
              <a:t>A school is a branded collection of courses</a:t>
            </a:r>
            <a:r>
              <a:rPr sz="1350" b="0" i="0">
                <a:solidFill>
                  <a:srgbClr val="5A6072"/>
                </a:solidFill>
                <a:latin typeface="Segoe UI"/>
              </a:rPr>
              <a:t> — </a:t>
            </a:r>
            <a:r>
              <a:rPr sz="1350" b="0" i="1">
                <a:solidFill>
                  <a:srgbClr val="5A6072"/>
                </a:solidFill>
                <a:latin typeface="Segoe UI"/>
              </a:rPr>
              <a:t>Mr. Alvarez's Algebra</a:t>
            </a:r>
            <a:r>
              <a:rPr sz="1350" b="0" i="0">
                <a:solidFill>
                  <a:srgbClr val="5A6072"/>
                </a:solidFill>
                <a:latin typeface="Segoe UI"/>
              </a:rPr>
              <a:t>, published under his name, on his page</a:t>
            </a:r>
          </a:p>
        </p:txBody>
      </p:sp>
      <p:sp>
        <p:nvSpPr>
          <p:cNvPr id="8" name="Oval 7"/>
          <p:cNvSpPr/>
          <p:nvPr/>
        </p:nvSpPr>
        <p:spPr>
          <a:xfrm>
            <a:off x="585216" y="321030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3131439"/>
            <a:ext cx="5099151" cy="769239"/>
          </a:xfrm>
          <a:prstGeom prst="rect">
            <a:avLst/>
          </a:prstGeom>
          <a:noFill/>
        </p:spPr>
        <p:txBody>
          <a:bodyPr wrap="square" lIns="0" rIns="0" tIns="0" bIns="0">
            <a:spAutoFit/>
          </a:bodyPr>
          <a:lstStyle/>
          <a:p>
            <a:r>
              <a:rPr sz="1350" b="1" i="0">
                <a:solidFill>
                  <a:srgbClr val="15192B"/>
                </a:solidFill>
                <a:latin typeface="Segoe UI"/>
              </a:rPr>
              <a:t>The SME doesn't write it — they review it and bless it.</a:t>
            </a:r>
            <a:r>
              <a:rPr sz="1350" b="0" i="0">
                <a:solidFill>
                  <a:srgbClr val="5A6072"/>
                </a:solidFill>
                <a:latin typeface="Segoe UI"/>
              </a:rPr>
              <a:t> Hours of work, not months. That is the entire reason this is possible</a:t>
            </a:r>
          </a:p>
        </p:txBody>
      </p:sp>
      <p:sp>
        <p:nvSpPr>
          <p:cNvPr id="10" name="Oval 9"/>
          <p:cNvSpPr/>
          <p:nvPr/>
        </p:nvSpPr>
        <p:spPr>
          <a:xfrm>
            <a:off x="585216" y="3979544"/>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900678"/>
            <a:ext cx="5099151" cy="546354"/>
          </a:xfrm>
          <a:prstGeom prst="rect">
            <a:avLst/>
          </a:prstGeom>
          <a:noFill/>
        </p:spPr>
        <p:txBody>
          <a:bodyPr wrap="square" lIns="0" rIns="0" tIns="0" bIns="0">
            <a:spAutoFit/>
          </a:bodyPr>
          <a:lstStyle/>
          <a:p>
            <a:r>
              <a:rPr sz="1350" b="1" i="0">
                <a:solidFill>
                  <a:srgbClr val="15192B"/>
                </a:solidFill>
                <a:latin typeface="Segoe UI"/>
              </a:rPr>
              <a:t>They promote it to their own audience</a:t>
            </a:r>
            <a:r>
              <a:rPr sz="1350" b="0" i="0">
                <a:solidFill>
                  <a:srgbClr val="5A6072"/>
                </a:solidFill>
                <a:latin typeface="Segoe UI"/>
              </a:rPr>
              <a:t>, as a member of their community rather than as an advertiser</a:t>
            </a:r>
          </a:p>
        </p:txBody>
      </p:sp>
      <p:sp>
        <p:nvSpPr>
          <p:cNvPr id="12" name="Oval 11"/>
          <p:cNvSpPr/>
          <p:nvPr/>
        </p:nvSpPr>
        <p:spPr>
          <a:xfrm>
            <a:off x="585216" y="4525899"/>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4447032"/>
            <a:ext cx="5099151" cy="546354"/>
          </a:xfrm>
          <a:prstGeom prst="rect">
            <a:avLst/>
          </a:prstGeom>
          <a:noFill/>
        </p:spPr>
        <p:txBody>
          <a:bodyPr wrap="square" lIns="0" rIns="0" tIns="0" bIns="0">
            <a:spAutoFit/>
          </a:bodyPr>
          <a:lstStyle/>
          <a:p>
            <a:r>
              <a:rPr sz="1350" b="1" i="0">
                <a:solidFill>
                  <a:srgbClr val="15192B"/>
                </a:solidFill>
                <a:latin typeface="Segoe UI"/>
              </a:rPr>
              <a:t>Founding sponsors keep 80% of every sale, for life</a:t>
            </a:r>
            <a:r>
              <a:rPr sz="1350" b="0" i="0">
                <a:solidFill>
                  <a:srgbClr val="5A6072"/>
                </a:solidFill>
                <a:latin typeface="Segoe UI"/>
              </a:rPr>
              <a:t> — later cohorts come in at a standard rate</a:t>
            </a:r>
          </a:p>
        </p:txBody>
      </p:sp>
      <p:sp>
        <p:nvSpPr>
          <p:cNvPr id="14" name="TextBox 13"/>
          <p:cNvSpPr txBox="1"/>
          <p:nvPr/>
        </p:nvSpPr>
        <p:spPr>
          <a:xfrm>
            <a:off x="6287871" y="1996440"/>
            <a:ext cx="5336895" cy="365760"/>
          </a:xfrm>
          <a:prstGeom prst="rect">
            <a:avLst/>
          </a:prstGeom>
          <a:noFill/>
        </p:spPr>
        <p:txBody>
          <a:bodyPr wrap="square" lIns="0" rIns="0" tIns="0" bIns="0">
            <a:spAutoFit/>
          </a:bodyPr>
          <a:lstStyle/>
          <a:p>
            <a:r>
              <a:rPr sz="1040" b="1">
                <a:solidFill>
                  <a:srgbClr val="4A3AFF"/>
                </a:solidFill>
                <a:latin typeface="Segoe UI"/>
              </a:rPr>
              <a:t>WHY THE SUPPLY SIDE ACTUALLY WORKS HERE</a:t>
            </a:r>
          </a:p>
        </p:txBody>
      </p:sp>
      <p:sp>
        <p:nvSpPr>
          <p:cNvPr id="15" name="TextBox 14"/>
          <p:cNvSpPr txBox="1"/>
          <p:nvPr/>
        </p:nvSpPr>
        <p:spPr>
          <a:xfrm>
            <a:off x="6287871" y="2362200"/>
            <a:ext cx="5336895" cy="1037844"/>
          </a:xfrm>
          <a:prstGeom prst="rect">
            <a:avLst/>
          </a:prstGeom>
          <a:noFill/>
        </p:spPr>
        <p:txBody>
          <a:bodyPr wrap="square" lIns="0" rIns="0" tIns="0" bIns="0">
            <a:spAutoFit/>
          </a:bodyPr>
          <a:lstStyle/>
          <a:p>
            <a:r>
              <a:rPr sz="1350" b="0" i="0">
                <a:solidFill>
                  <a:srgbClr val="5A6072"/>
                </a:solidFill>
                <a:latin typeface="Segoe UI"/>
              </a:rPr>
              <a:t>Content marketplaces die because experts won't write courses — it costs them months. We remove that cost entirely. </a:t>
            </a:r>
            <a:r>
              <a:rPr sz="1350" b="1" i="0">
                <a:solidFill>
                  <a:srgbClr val="15192B"/>
                </a:solidFill>
                <a:latin typeface="Segoe UI"/>
              </a:rPr>
              <a:t>The ask is a few hours of review, and what they get back is a published course carrying their name.</a:t>
            </a:r>
          </a:p>
        </p:txBody>
      </p:sp>
      <p:sp>
        <p:nvSpPr>
          <p:cNvPr id="16" name="TextBox 15"/>
          <p:cNvSpPr txBox="1"/>
          <p:nvPr/>
        </p:nvSpPr>
        <p:spPr>
          <a:xfrm>
            <a:off x="6287871" y="3400044"/>
            <a:ext cx="5336895" cy="365760"/>
          </a:xfrm>
          <a:prstGeom prst="rect">
            <a:avLst/>
          </a:prstGeom>
          <a:noFill/>
        </p:spPr>
        <p:txBody>
          <a:bodyPr wrap="square" lIns="0" rIns="0" tIns="0" bIns="0">
            <a:spAutoFit/>
          </a:bodyPr>
          <a:lstStyle/>
          <a:p>
            <a:r>
              <a:rPr sz="1040" b="1">
                <a:solidFill>
                  <a:srgbClr val="4A3AFF"/>
                </a:solidFill>
                <a:latin typeface="Segoe UI"/>
              </a:rPr>
              <a:t>WHO WE RECRUIT</a:t>
            </a:r>
          </a:p>
        </p:txBody>
      </p:sp>
      <p:sp>
        <p:nvSpPr>
          <p:cNvPr id="17" name="TextBox 16"/>
          <p:cNvSpPr txBox="1"/>
          <p:nvPr/>
        </p:nvSpPr>
        <p:spPr>
          <a:xfrm>
            <a:off x="6287871" y="3765804"/>
            <a:ext cx="5336895" cy="1037844"/>
          </a:xfrm>
          <a:prstGeom prst="rect">
            <a:avLst/>
          </a:prstGeom>
          <a:noFill/>
        </p:spPr>
        <p:txBody>
          <a:bodyPr wrap="square" lIns="0" rIns="0" tIns="0" bIns="0">
            <a:spAutoFit/>
          </a:bodyPr>
          <a:lstStyle/>
          <a:p>
            <a:r>
              <a:rPr sz="1350" b="0" i="0">
                <a:solidFill>
                  <a:srgbClr val="5A6072"/>
                </a:solidFill>
                <a:latin typeface="Segoe UI"/>
              </a:rPr>
              <a:t>Not established authorities with reputations to protect — </a:t>
            </a:r>
            <a:r>
              <a:rPr sz="1350" b="1" i="0">
                <a:solidFill>
                  <a:srgbClr val="15192B"/>
                </a:solidFill>
                <a:latin typeface="Segoe UI"/>
              </a:rPr>
              <a:t>teachers and practitioners with a reputation to build</a:t>
            </a:r>
            <a:r>
              <a:rPr sz="1350" b="0" i="0">
                <a:solidFill>
                  <a:srgbClr val="5A6072"/>
                </a:solidFill>
                <a:latin typeface="Segoe UI"/>
              </a:rPr>
              <a:t>, ideally ones who already have an audience. The risk calculus runs their way, which is why they say yes.</a:t>
            </a:r>
          </a:p>
        </p:txBody>
      </p:sp>
      <p:sp>
        <p:nvSpPr>
          <p:cNvPr id="18" name="TextBox 17"/>
          <p:cNvSpPr txBox="1"/>
          <p:nvPr/>
        </p:nvSpPr>
        <p:spPr>
          <a:xfrm>
            <a:off x="6287871" y="4803648"/>
            <a:ext cx="5336895" cy="592074"/>
          </a:xfrm>
          <a:prstGeom prst="rect">
            <a:avLst/>
          </a:prstGeom>
          <a:noFill/>
        </p:spPr>
        <p:txBody>
          <a:bodyPr wrap="square" lIns="0" rIns="0" tIns="0" bIns="0">
            <a:spAutoFit/>
          </a:bodyPr>
          <a:lstStyle/>
          <a:p>
            <a:r>
              <a:rPr sz="1350" b="1" i="0">
                <a:solidFill>
                  <a:srgbClr val="C2410C"/>
                </a:solidFill>
                <a:latin typeface="Segoe UI"/>
              </a:rPr>
              <a:t>First move: a few schools, not many.</a:t>
            </a:r>
            <a:r>
              <a:rPr sz="1350" b="0" i="0">
                <a:solidFill>
                  <a:srgbClr val="C2410C"/>
                </a:solidFill>
                <a:latin typeface="Segoe UI"/>
              </a:rPr>
              <a:t> ⚠️ TODO: which, and how many.</a:t>
            </a:r>
          </a:p>
        </p:txBody>
      </p:sp>
      <p:sp>
        <p:nvSpPr>
          <p:cNvPr id="19" name="TextBox 18"/>
          <p:cNvSpPr txBox="1"/>
          <p:nvPr/>
        </p:nvSpPr>
        <p:spPr>
          <a:xfrm>
            <a:off x="6287871" y="5395722"/>
            <a:ext cx="5336895" cy="592074"/>
          </a:xfrm>
          <a:prstGeom prst="rect">
            <a:avLst/>
          </a:prstGeom>
          <a:noFill/>
        </p:spPr>
        <p:txBody>
          <a:bodyPr wrap="square" lIns="0" rIns="0" tIns="0" bIns="0">
            <a:spAutoFit/>
          </a:bodyPr>
          <a:lstStyle/>
          <a:p>
            <a:r>
              <a:rPr sz="1350" b="1" i="0">
                <a:solidFill>
                  <a:srgbClr val="15192B"/>
                </a:solidFill>
                <a:latin typeface="Segoe UI"/>
              </a:rPr>
              <a:t>Then:</a:t>
            </a:r>
            <a:r>
              <a:rPr sz="1350" b="0" i="0">
                <a:solidFill>
                  <a:srgbClr val="5A6072"/>
                </a:solidFill>
                <a:latin typeface="Segoe UI"/>
              </a:rPr>
              <a:t> institutional licensing, enterprise seats, and licensing the generation engine itself. </a:t>
            </a:r>
            <a:r>
              <a:rPr sz="1350" b="0" i="1">
                <a:solidFill>
                  <a:srgbClr val="5A6072"/>
                </a:solidFill>
                <a:latin typeface="Segoe UI"/>
              </a:rPr>
              <a:t>(Appendix A9.)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11   </a:t>
            </a:r>
            <a:r>
              <a:rPr sz="2500" b="1">
                <a:solidFill>
                  <a:srgbClr val="15192B"/>
                </a:solidFill>
                <a:latin typeface="Segoe UI"/>
              </a:rPr>
              <a:t>Traction</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376428"/>
          </a:xfrm>
          <a:prstGeom prst="rect">
            <a:avLst/>
          </a:prstGeom>
          <a:noFill/>
        </p:spPr>
        <p:txBody>
          <a:bodyPr wrap="square" lIns="0" rIns="0" tIns="0" bIns="0">
            <a:spAutoFit/>
          </a:bodyPr>
          <a:lstStyle/>
          <a:p>
            <a:r>
              <a:rPr sz="1700" b="1" i="0">
                <a:solidFill>
                  <a:srgbClr val="15192B"/>
                </a:solidFill>
                <a:latin typeface="Segoe UI"/>
              </a:rPr>
              <a:t>Live in production — 63 courses, and the first users are finishing them.</a:t>
            </a:r>
          </a:p>
        </p:txBody>
      </p:sp>
      <p:sp>
        <p:nvSpPr>
          <p:cNvPr id="5" name="TextBox 4"/>
          <p:cNvSpPr txBox="1"/>
          <p:nvPr/>
        </p:nvSpPr>
        <p:spPr>
          <a:xfrm>
            <a:off x="566928" y="1711452"/>
            <a:ext cx="11057839" cy="342442"/>
          </a:xfrm>
          <a:prstGeom prst="rect">
            <a:avLst/>
          </a:prstGeom>
          <a:noFill/>
        </p:spPr>
        <p:txBody>
          <a:bodyPr wrap="square" lIns="0" rIns="0" tIns="0" bIns="0">
            <a:spAutoFit/>
          </a:bodyPr>
          <a:lstStyle/>
          <a:p>
            <a:r>
              <a:rPr sz="1188" b="1" i="0">
                <a:solidFill>
                  <a:srgbClr val="15192B"/>
                </a:solidFill>
                <a:latin typeface="Segoe UI"/>
              </a:rPr>
              <a:t>Built</a:t>
            </a:r>
            <a:r>
              <a:rPr sz="1188" b="0" i="0">
                <a:solidFill>
                  <a:srgbClr val="5A6072"/>
                </a:solidFill>
                <a:latin typeface="Segoe UI"/>
              </a:rPr>
              <a:t> </a:t>
            </a:r>
            <a:r>
              <a:rPr sz="1188" b="0" i="1">
                <a:solidFill>
                  <a:srgbClr val="5A6072"/>
                </a:solidFill>
                <a:latin typeface="Segoe UI"/>
              </a:rPr>
              <a:t>(production graph, not projections)</a:t>
            </a:r>
          </a:p>
        </p:txBody>
      </p:sp>
      <p:graphicFrame>
        <p:nvGraphicFramePr>
          <p:cNvPr id="6" name="Table 5"/>
          <p:cNvGraphicFramePr>
            <a:graphicFrameLocks noGrp="1"/>
          </p:cNvGraphicFramePr>
          <p:nvPr/>
        </p:nvGraphicFramePr>
        <p:xfrm>
          <a:off x="566928" y="2053894"/>
          <a:ext cx="11057839" cy="1794414"/>
        </p:xfrm>
        <a:graphic>
          <a:graphicData uri="http://schemas.openxmlformats.org/drawingml/2006/table">
            <a:tbl>
              <a:tblPr firstRow="1">
                <a:tableStyleId>{5C22544A-7EE6-4342-B048-85BDC9FD1C3A}</a:tableStyleId>
              </a:tblPr>
              <a:tblGrid>
                <a:gridCol w="5086605"/>
                <a:gridCol w="5971234"/>
              </a:tblGrid>
              <a:tr h="273588">
                <a:tc>
                  <a:txBody>
                    <a:bodyPr wrap="square"/>
                    <a:lstStyle/>
                    <a:p>
                      <a:r>
                        <a:rPr sz="968" b="1">
                          <a:solidFill>
                            <a:srgbClr val="15192B"/>
                          </a:solidFill>
                          <a:latin typeface="Segoe UI"/>
                        </a:rPr>
                        <a:t/>
                      </a:r>
                    </a:p>
                  </a:txBody>
                  <a:tcPr marL="82296" marR="64008" marT="32004" marB="32004" anchor="ctr">
                    <a:solidFill>
                      <a:srgbClr val="F4F5F9"/>
                    </a:solidFill>
                  </a:tcPr>
                </a:tc>
                <a:tc>
                  <a:txBody>
                    <a:bodyPr wrap="square"/>
                    <a:lstStyle/>
                    <a:p>
                      <a:r>
                        <a:rPr sz="968" b="1">
                          <a:solidFill>
                            <a:srgbClr val="15192B"/>
                          </a:solidFill>
                          <a:latin typeface="Segoe UI"/>
                        </a:rPr>
                        <a:t/>
                      </a:r>
                    </a:p>
                  </a:txBody>
                  <a:tcPr marL="82296" marR="64008" marT="32004" marB="32004" anchor="ctr">
                    <a:solidFill>
                      <a:srgbClr val="F4F5F9"/>
                    </a:solidFill>
                  </a:tcPr>
                </a:tc>
              </a:tr>
              <a:tr h="253471">
                <a:tc>
                  <a:txBody>
                    <a:bodyPr wrap="square"/>
                    <a:lstStyle/>
                    <a:p>
                      <a:r>
                        <a:rPr sz="968" b="0" i="0">
                          <a:solidFill>
                            <a:srgbClr val="5A6072"/>
                          </a:solidFill>
                          <a:latin typeface="Segoe UI"/>
                        </a:rPr>
                        <a:t>Courses live</a:t>
                      </a:r>
                    </a:p>
                  </a:txBody>
                  <a:tcPr marL="82296" marR="64008" marT="32004" marB="32004" anchor="ctr">
                    <a:solidFill>
                      <a:srgbClr val="FFFFFF"/>
                    </a:solidFill>
                  </a:tcPr>
                </a:tc>
                <a:tc>
                  <a:txBody>
                    <a:bodyPr wrap="square"/>
                    <a:lstStyle/>
                    <a:p>
                      <a:r>
                        <a:rPr sz="968" b="1" i="0">
                          <a:solidFill>
                            <a:srgbClr val="15192B"/>
                          </a:solidFill>
                          <a:latin typeface="Segoe UI"/>
                        </a:rPr>
                        <a:t>63</a:t>
                      </a:r>
                      <a:r>
                        <a:rPr sz="968" b="0" i="0">
                          <a:solidFill>
                            <a:srgbClr val="5A6072"/>
                          </a:solidFill>
                          <a:latin typeface="Segoe UI"/>
                        </a:rPr>
                        <a:t> across 7 schools</a:t>
                      </a:r>
                    </a:p>
                  </a:txBody>
                  <a:tcPr marL="82296" marR="64008" marT="32004" marB="32004" anchor="ctr">
                    <a:solidFill>
                      <a:srgbClr val="FFFFFF"/>
                    </a:solidFill>
                  </a:tcPr>
                </a:tc>
              </a:tr>
              <a:tr h="253471">
                <a:tc>
                  <a:txBody>
                    <a:bodyPr wrap="square"/>
                    <a:lstStyle/>
                    <a:p>
                      <a:r>
                        <a:rPr sz="968" b="0" i="0">
                          <a:solidFill>
                            <a:srgbClr val="5A6072"/>
                          </a:solidFill>
                          <a:latin typeface="Segoe UI"/>
                        </a:rPr>
                        <a:t>Concepts</a:t>
                      </a:r>
                    </a:p>
                  </a:txBody>
                  <a:tcPr marL="82296" marR="64008" marT="32004" marB="32004" anchor="ctr">
                    <a:solidFill>
                      <a:srgbClr val="FFFFFF"/>
                    </a:solidFill>
                  </a:tcPr>
                </a:tc>
                <a:tc>
                  <a:txBody>
                    <a:bodyPr wrap="square"/>
                    <a:lstStyle/>
                    <a:p>
                      <a:r>
                        <a:rPr sz="968" b="1" i="0">
                          <a:solidFill>
                            <a:srgbClr val="15192B"/>
                          </a:solidFill>
                          <a:latin typeface="Segoe UI"/>
                        </a:rPr>
                        <a:t>2,106</a:t>
                      </a:r>
                    </a:p>
                  </a:txBody>
                  <a:tcPr marL="82296" marR="64008" marT="32004" marB="32004" anchor="ctr">
                    <a:solidFill>
                      <a:srgbClr val="FFFFFF"/>
                    </a:solidFill>
                  </a:tcPr>
                </a:tc>
              </a:tr>
              <a:tr h="253471">
                <a:tc>
                  <a:txBody>
                    <a:bodyPr wrap="square"/>
                    <a:lstStyle/>
                    <a:p>
                      <a:r>
                        <a:rPr sz="968" b="0" i="0">
                          <a:solidFill>
                            <a:srgbClr val="5A6072"/>
                          </a:solidFill>
                          <a:latin typeface="Segoe UI"/>
                        </a:rPr>
                        <a:t>Assessment questions</a:t>
                      </a:r>
                    </a:p>
                  </a:txBody>
                  <a:tcPr marL="82296" marR="64008" marT="32004" marB="32004" anchor="ctr">
                    <a:solidFill>
                      <a:srgbClr val="FFFFFF"/>
                    </a:solidFill>
                  </a:tcPr>
                </a:tc>
                <a:tc>
                  <a:txBody>
                    <a:bodyPr wrap="square"/>
                    <a:lstStyle/>
                    <a:p>
                      <a:r>
                        <a:rPr sz="968" b="1" i="0">
                          <a:solidFill>
                            <a:srgbClr val="15192B"/>
                          </a:solidFill>
                          <a:latin typeface="Segoe UI"/>
                        </a:rPr>
                        <a:t>6,755</a:t>
                      </a:r>
                    </a:p>
                  </a:txBody>
                  <a:tcPr marL="82296" marR="64008" marT="32004" marB="32004" anchor="ctr">
                    <a:solidFill>
                      <a:srgbClr val="FFFFFF"/>
                    </a:solidFill>
                  </a:tcPr>
                </a:tc>
              </a:tr>
              <a:tr h="253471">
                <a:tc>
                  <a:txBody>
                    <a:bodyPr wrap="square"/>
                    <a:lstStyle/>
                    <a:p>
                      <a:r>
                        <a:rPr sz="968" b="0" i="0">
                          <a:solidFill>
                            <a:srgbClr val="5A6072"/>
                          </a:solidFill>
                          <a:latin typeface="Segoe UI"/>
                        </a:rPr>
                        <a:t>Prerequisite edges</a:t>
                      </a:r>
                    </a:p>
                  </a:txBody>
                  <a:tcPr marL="82296" marR="64008" marT="32004" marB="32004" anchor="ctr">
                    <a:solidFill>
                      <a:srgbClr val="FFFFFF"/>
                    </a:solidFill>
                  </a:tcPr>
                </a:tc>
                <a:tc>
                  <a:txBody>
                    <a:bodyPr wrap="square"/>
                    <a:lstStyle/>
                    <a:p>
                      <a:r>
                        <a:rPr sz="968" b="1" i="0">
                          <a:solidFill>
                            <a:srgbClr val="15192B"/>
                          </a:solidFill>
                          <a:latin typeface="Segoe UI"/>
                        </a:rPr>
                        <a:t>8,837</a:t>
                      </a:r>
                    </a:p>
                  </a:txBody>
                  <a:tcPr marL="82296" marR="64008" marT="32004" marB="32004" anchor="ctr">
                    <a:solidFill>
                      <a:srgbClr val="FFFFFF"/>
                    </a:solidFill>
                  </a:tcPr>
                </a:tc>
              </a:tr>
              <a:tr h="253471">
                <a:tc>
                  <a:txBody>
                    <a:bodyPr wrap="square"/>
                    <a:lstStyle/>
                    <a:p>
                      <a:r>
                        <a:rPr sz="968" b="0" i="0">
                          <a:solidFill>
                            <a:srgbClr val="5A6072"/>
                          </a:solidFill>
                          <a:latin typeface="Segoe UI"/>
                        </a:rPr>
                        <a:t>Typed relationships</a:t>
                      </a:r>
                    </a:p>
                  </a:txBody>
                  <a:tcPr marL="82296" marR="64008" marT="32004" marB="32004" anchor="ctr">
                    <a:solidFill>
                      <a:srgbClr val="FFFFFF"/>
                    </a:solidFill>
                  </a:tcPr>
                </a:tc>
                <a:tc>
                  <a:txBody>
                    <a:bodyPr wrap="square"/>
                    <a:lstStyle/>
                    <a:p>
                      <a:r>
                        <a:rPr sz="968" b="1" i="0">
                          <a:solidFill>
                            <a:srgbClr val="15192B"/>
                          </a:solidFill>
                          <a:latin typeface="Segoe UI"/>
                        </a:rPr>
                        <a:t>13,523</a:t>
                      </a:r>
                    </a:p>
                  </a:txBody>
                  <a:tcPr marL="82296" marR="64008" marT="32004" marB="32004" anchor="ctr">
                    <a:solidFill>
                      <a:srgbClr val="FFFFFF"/>
                    </a:solidFill>
                  </a:tcPr>
                </a:tc>
              </a:tr>
              <a:tr h="253471">
                <a:tc>
                  <a:txBody>
                    <a:bodyPr wrap="square"/>
                    <a:lstStyle/>
                    <a:p>
                      <a:r>
                        <a:rPr sz="968" b="0" i="0">
                          <a:solidFill>
                            <a:srgbClr val="5A6072"/>
                          </a:solidFill>
                          <a:latin typeface="Segoe UI"/>
                        </a:rPr>
                        <a:t>Generated instruction</a:t>
                      </a:r>
                    </a:p>
                  </a:txBody>
                  <a:tcPr marL="82296" marR="64008" marT="32004" marB="32004" anchor="ctr">
                    <a:solidFill>
                      <a:srgbClr val="FFFFFF"/>
                    </a:solidFill>
                  </a:tcPr>
                </a:tc>
                <a:tc>
                  <a:txBody>
                    <a:bodyPr wrap="square"/>
                    <a:lstStyle/>
                    <a:p>
                      <a:r>
                        <a:rPr sz="968" b="1" i="0">
                          <a:solidFill>
                            <a:srgbClr val="15192B"/>
                          </a:solidFill>
                          <a:latin typeface="Segoe UI"/>
                        </a:rPr>
                        <a:t>~3.9M tokens</a:t>
                      </a:r>
                    </a:p>
                  </a:txBody>
                  <a:tcPr marL="82296" marR="64008" marT="32004" marB="32004" anchor="ctr">
                    <a:solidFill>
                      <a:srgbClr val="FFFFFF"/>
                    </a:solidFill>
                  </a:tcPr>
                </a:tc>
              </a:tr>
            </a:tbl>
          </a:graphicData>
        </a:graphic>
      </p:graphicFrame>
      <p:sp>
        <p:nvSpPr>
          <p:cNvPr id="7" name="TextBox 6"/>
          <p:cNvSpPr txBox="1"/>
          <p:nvPr/>
        </p:nvSpPr>
        <p:spPr>
          <a:xfrm>
            <a:off x="566928" y="4031193"/>
            <a:ext cx="11057839" cy="342442"/>
          </a:xfrm>
          <a:prstGeom prst="rect">
            <a:avLst/>
          </a:prstGeom>
          <a:noFill/>
        </p:spPr>
        <p:txBody>
          <a:bodyPr wrap="square" lIns="0" rIns="0" tIns="0" bIns="0">
            <a:spAutoFit/>
          </a:bodyPr>
          <a:lstStyle/>
          <a:p>
            <a:r>
              <a:rPr sz="1188" b="1" i="0">
                <a:solidFill>
                  <a:srgbClr val="15192B"/>
                </a:solidFill>
                <a:latin typeface="Segoe UI"/>
              </a:rPr>
              <a:t>Used</a:t>
            </a:r>
            <a:r>
              <a:rPr sz="1188" b="0" i="0">
                <a:solidFill>
                  <a:srgbClr val="5A6072"/>
                </a:solidFill>
                <a:latin typeface="Segoe UI"/>
              </a:rPr>
              <a:t> </a:t>
            </a:r>
            <a:r>
              <a:rPr sz="1188" b="0" i="1">
                <a:solidFill>
                  <a:srgbClr val="5A6072"/>
                </a:solidFill>
                <a:latin typeface="Segoe UI"/>
              </a:rPr>
              <a:t>(early, and honest about it)</a:t>
            </a:r>
          </a:p>
        </p:txBody>
      </p:sp>
      <p:sp>
        <p:nvSpPr>
          <p:cNvPr id="8" name="Oval 7"/>
          <p:cNvSpPr/>
          <p:nvPr/>
        </p:nvSpPr>
        <p:spPr>
          <a:xfrm>
            <a:off x="585216" y="4443039"/>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4373636"/>
            <a:ext cx="10820095" cy="296722"/>
          </a:xfrm>
          <a:prstGeom prst="rect">
            <a:avLst/>
          </a:prstGeom>
          <a:noFill/>
        </p:spPr>
        <p:txBody>
          <a:bodyPr wrap="square" lIns="0" rIns="0" tIns="0" bIns="0">
            <a:spAutoFit/>
          </a:bodyPr>
          <a:lstStyle/>
          <a:p>
            <a:r>
              <a:rPr sz="1188" b="1" i="0">
                <a:solidFill>
                  <a:srgbClr val="15192B"/>
                </a:solidFill>
                <a:latin typeface="Segoe UI"/>
              </a:rPr>
              <a:t>7 schools already live</a:t>
            </a:r>
            <a:r>
              <a:rPr sz="1188" b="0" i="0">
                <a:solidFill>
                  <a:srgbClr val="5A6072"/>
                </a:solidFill>
                <a:latin typeface="Segoe UI"/>
              </a:rPr>
              <a:t> — the model we are betting on is already built, not planned</a:t>
            </a:r>
          </a:p>
        </p:txBody>
      </p:sp>
      <p:sp>
        <p:nvSpPr>
          <p:cNvPr id="10" name="Oval 9"/>
          <p:cNvSpPr/>
          <p:nvPr/>
        </p:nvSpPr>
        <p:spPr>
          <a:xfrm>
            <a:off x="585216" y="4739761"/>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4670358"/>
            <a:ext cx="10820095" cy="296722"/>
          </a:xfrm>
          <a:prstGeom prst="rect">
            <a:avLst/>
          </a:prstGeom>
          <a:noFill/>
        </p:spPr>
        <p:txBody>
          <a:bodyPr wrap="square" lIns="0" rIns="0" tIns="0" bIns="0">
            <a:spAutoFit/>
          </a:bodyPr>
          <a:lstStyle/>
          <a:p>
            <a:r>
              <a:rPr sz="1188" b="1" i="0">
                <a:solidFill>
                  <a:srgbClr val="15192B"/>
                </a:solidFill>
                <a:latin typeface="Segoe UI"/>
              </a:rPr>
              <a:t>One user completed five courses end to end</a:t>
            </a:r>
            <a:r>
              <a:rPr sz="1188" b="0" i="0">
                <a:solidFill>
                  <a:srgbClr val="5A6072"/>
                </a:solidFill>
                <a:latin typeface="Segoe UI"/>
              </a:rPr>
              <a:t> — 224 concepts, every one finished, all inside a single school</a:t>
            </a:r>
          </a:p>
        </p:txBody>
      </p:sp>
      <p:sp>
        <p:nvSpPr>
          <p:cNvPr id="12" name="Oval 11"/>
          <p:cNvSpPr/>
          <p:nvPr/>
        </p:nvSpPr>
        <p:spPr>
          <a:xfrm>
            <a:off x="585216" y="5036484"/>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4967081"/>
            <a:ext cx="10820095" cy="296722"/>
          </a:xfrm>
          <a:prstGeom prst="rect">
            <a:avLst/>
          </a:prstGeom>
          <a:noFill/>
        </p:spPr>
        <p:txBody>
          <a:bodyPr wrap="square" lIns="0" rIns="0" tIns="0" bIns="0">
            <a:spAutoFit/>
          </a:bodyPr>
          <a:lstStyle/>
          <a:p>
            <a:r>
              <a:rPr sz="1188" b="1" i="0">
                <a:solidFill>
                  <a:srgbClr val="15192B"/>
                </a:solidFill>
                <a:latin typeface="Segoe UI"/>
              </a:rPr>
              <a:t>Two more worked a course to 92%</a:t>
            </a:r>
          </a:p>
        </p:txBody>
      </p:sp>
      <p:sp>
        <p:nvSpPr>
          <p:cNvPr id="14" name="Oval 13"/>
          <p:cNvSpPr/>
          <p:nvPr/>
        </p:nvSpPr>
        <p:spPr>
          <a:xfrm>
            <a:off x="585216" y="5333207"/>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263804"/>
            <a:ext cx="10820095" cy="492861"/>
          </a:xfrm>
          <a:prstGeom prst="rect">
            <a:avLst/>
          </a:prstGeom>
          <a:noFill/>
        </p:spPr>
        <p:txBody>
          <a:bodyPr wrap="square" lIns="0" rIns="0" tIns="0" bIns="0">
            <a:spAutoFit/>
          </a:bodyPr>
          <a:lstStyle/>
          <a:p>
            <a:r>
              <a:rPr sz="1188" b="1" i="0">
                <a:solidFill>
                  <a:srgbClr val="15192B"/>
                </a:solidFill>
                <a:latin typeface="Segoe UI"/>
              </a:rPr>
              <a:t>The one distribution test we ran, worked</a:t>
            </a:r>
            <a:r>
              <a:rPr sz="1188" b="0" i="0">
                <a:solidFill>
                  <a:srgbClr val="5A6072"/>
                </a:solidFill>
                <a:latin typeface="Segoe UI"/>
              </a:rPr>
              <a:t> — a post to an arrhythmia forum, from a patient, produced our best traffic and that power user</a:t>
            </a:r>
          </a:p>
        </p:txBody>
      </p:sp>
      <p:sp>
        <p:nvSpPr>
          <p:cNvPr id="16" name="Oval 15"/>
          <p:cNvSpPr/>
          <p:nvPr/>
        </p:nvSpPr>
        <p:spPr>
          <a:xfrm>
            <a:off x="585216" y="5826069"/>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5756666"/>
            <a:ext cx="10820095" cy="296722"/>
          </a:xfrm>
          <a:prstGeom prst="rect">
            <a:avLst/>
          </a:prstGeom>
          <a:noFill/>
        </p:spPr>
        <p:txBody>
          <a:bodyPr wrap="square" lIns="0" rIns="0" tIns="0" bIns="0">
            <a:spAutoFit/>
          </a:bodyPr>
          <a:lstStyle/>
          <a:p>
            <a:r>
              <a:rPr sz="1188" b="0" i="0">
                <a:solidFill>
                  <a:srgbClr val="5A6072"/>
                </a:solidFill>
                <a:latin typeface="Segoe UI"/>
              </a:rPr>
              <a:t>86 site visitors over the last four months; 15 accounts, 25 enrolments</a:t>
            </a:r>
          </a:p>
        </p:txBody>
      </p:sp>
      <p:sp>
        <p:nvSpPr>
          <p:cNvPr id="18" name="Oval 17"/>
          <p:cNvSpPr/>
          <p:nvPr/>
        </p:nvSpPr>
        <p:spPr>
          <a:xfrm>
            <a:off x="585216" y="6122791"/>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6053388"/>
            <a:ext cx="10820095" cy="296722"/>
          </a:xfrm>
          <a:prstGeom prst="rect">
            <a:avLst/>
          </a:prstGeom>
          <a:noFill/>
        </p:spPr>
        <p:txBody>
          <a:bodyPr wrap="square" lIns="0" rIns="0" tIns="0" bIns="0">
            <a:spAutoFit/>
          </a:bodyPr>
          <a:lstStyle/>
          <a:p>
            <a:r>
              <a:rPr sz="1188" b="0" i="0">
                <a:solidFill>
                  <a:srgbClr val="C2410C"/>
                </a:solidFill>
                <a:latin typeface="Segoe UI"/>
              </a:rPr>
              <a:t>⚠️ TODO: institutional conversations, pilots, or LOIs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12   </a:t>
            </a:r>
            <a:r>
              <a:rPr sz="2500" b="1">
                <a:solidFill>
                  <a:srgbClr val="15192B"/>
                </a:solidFill>
                <a:latin typeface="Segoe UI"/>
              </a:rPr>
              <a:t>Use of Funds</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661416"/>
          </a:xfrm>
          <a:prstGeom prst="rect">
            <a:avLst/>
          </a:prstGeom>
          <a:noFill/>
        </p:spPr>
        <p:txBody>
          <a:bodyPr wrap="square" lIns="0" rIns="0" tIns="0" bIns="0">
            <a:spAutoFit/>
          </a:bodyPr>
          <a:lstStyle/>
          <a:p>
            <a:r>
              <a:rPr sz="1700" b="1" i="0">
                <a:solidFill>
                  <a:srgbClr val="15192B"/>
                </a:solidFill>
                <a:latin typeface="Segoe UI"/>
              </a:rPr>
              <a:t>The product is built. This round buys distribution — and the infrastructure to survive it.</a:t>
            </a:r>
          </a:p>
        </p:txBody>
      </p:sp>
      <p:sp>
        <p:nvSpPr>
          <p:cNvPr id="5" name="TextBox 4"/>
          <p:cNvSpPr txBox="1"/>
          <p:nvPr/>
        </p:nvSpPr>
        <p:spPr>
          <a:xfrm>
            <a:off x="566928" y="1996440"/>
            <a:ext cx="11057839" cy="592074"/>
          </a:xfrm>
          <a:prstGeom prst="rect">
            <a:avLst/>
          </a:prstGeom>
          <a:noFill/>
        </p:spPr>
        <p:txBody>
          <a:bodyPr wrap="square" lIns="0" rIns="0" tIns="0" bIns="0">
            <a:spAutoFit/>
          </a:bodyPr>
          <a:lstStyle/>
          <a:p>
            <a:r>
              <a:rPr sz="1350" b="1" i="0">
                <a:solidFill>
                  <a:srgbClr val="C2410C"/>
                </a:solidFill>
                <a:latin typeface="Segoe UI"/>
              </a:rPr>
              <a:t>1 · Schools and sponsors — $⚠️ TODO</a:t>
            </a:r>
            <a:r>
              <a:rPr sz="1350" b="0" i="0">
                <a:solidFill>
                  <a:srgbClr val="C2410C"/>
                </a:solidFill>
                <a:latin typeface="Segoe UI"/>
              </a:rPr>
              <a:t> Recruiting subject-matter experts, honoraria for the review work, generating their courses, and the conversion work the funnel needs.</a:t>
            </a:r>
          </a:p>
        </p:txBody>
      </p:sp>
      <p:sp>
        <p:nvSpPr>
          <p:cNvPr id="6" name="TextBox 5"/>
          <p:cNvSpPr txBox="1"/>
          <p:nvPr/>
        </p:nvSpPr>
        <p:spPr>
          <a:xfrm>
            <a:off x="566928" y="2588514"/>
            <a:ext cx="11057839" cy="592074"/>
          </a:xfrm>
          <a:prstGeom prst="rect">
            <a:avLst/>
          </a:prstGeom>
          <a:noFill/>
        </p:spPr>
        <p:txBody>
          <a:bodyPr wrap="square" lIns="0" rIns="0" tIns="0" bIns="0">
            <a:spAutoFit/>
          </a:bodyPr>
          <a:lstStyle/>
          <a:p>
            <a:r>
              <a:rPr sz="1350" b="1" i="0">
                <a:solidFill>
                  <a:srgbClr val="C2410C"/>
                </a:solidFill>
                <a:latin typeface="Segoe UI"/>
              </a:rPr>
              <a:t>2 · Course purchasing — $⚠️ TODO</a:t>
            </a:r>
            <a:r>
              <a:rPr sz="1350" b="0" i="0">
                <a:solidFill>
                  <a:srgbClr val="C2410C"/>
                </a:solidFill>
                <a:latin typeface="Segoe UI"/>
              </a:rPr>
              <a:t> Checkout, entitlements, revenue-share accounting and payouts. Roughly two weeks of engineering, built </a:t>
            </a:r>
            <a:r>
              <a:rPr sz="1350" b="1" i="0">
                <a:solidFill>
                  <a:srgbClr val="C2410C"/>
                </a:solidFill>
                <a:latin typeface="Segoe UI"/>
              </a:rPr>
              <a:t>once an SME's audience actually shows up</a:t>
            </a:r>
            <a:r>
              <a:rPr sz="1350" b="0" i="0">
                <a:solidFill>
                  <a:srgbClr val="C2410C"/>
                </a:solidFill>
                <a:latin typeface="Segoe UI"/>
              </a:rPr>
              <a:t> — not before.</a:t>
            </a:r>
          </a:p>
        </p:txBody>
      </p:sp>
      <p:sp>
        <p:nvSpPr>
          <p:cNvPr id="7" name="TextBox 6"/>
          <p:cNvSpPr txBox="1"/>
          <p:nvPr/>
        </p:nvSpPr>
        <p:spPr>
          <a:xfrm>
            <a:off x="566928" y="3180588"/>
            <a:ext cx="11057839" cy="592074"/>
          </a:xfrm>
          <a:prstGeom prst="rect">
            <a:avLst/>
          </a:prstGeom>
          <a:noFill/>
        </p:spPr>
        <p:txBody>
          <a:bodyPr wrap="square" lIns="0" rIns="0" tIns="0" bIns="0">
            <a:spAutoFit/>
          </a:bodyPr>
          <a:lstStyle/>
          <a:p>
            <a:r>
              <a:rPr sz="1350" b="1" i="0">
                <a:solidFill>
                  <a:srgbClr val="C2410C"/>
                </a:solidFill>
                <a:latin typeface="Segoe UI"/>
              </a:rPr>
              <a:t>3 · Hardening — $⚠️ TODO</a:t>
            </a:r>
            <a:r>
              <a:rPr sz="1350" b="0" i="0">
                <a:solidFill>
                  <a:srgbClr val="C2410C"/>
                </a:solidFill>
                <a:latin typeface="Segoe UI"/>
              </a:rPr>
              <a:t> Everything currently runs on free tiers. Managed Neo4j with backups, an always-on backend (no cold starts on an 18-minute pipeline), observability, and hard rate limits on course generation.</a:t>
            </a:r>
          </a:p>
        </p:txBody>
      </p:sp>
      <p:sp>
        <p:nvSpPr>
          <p:cNvPr id="8" name="TextBox 7"/>
          <p:cNvSpPr txBox="1"/>
          <p:nvPr/>
        </p:nvSpPr>
        <p:spPr>
          <a:xfrm>
            <a:off x="566928" y="3772662"/>
            <a:ext cx="11057839" cy="592074"/>
          </a:xfrm>
          <a:prstGeom prst="rect">
            <a:avLst/>
          </a:prstGeom>
          <a:noFill/>
        </p:spPr>
        <p:txBody>
          <a:bodyPr wrap="square" lIns="0" rIns="0" tIns="0" bIns="0">
            <a:spAutoFit/>
          </a:bodyPr>
          <a:lstStyle/>
          <a:p>
            <a:r>
              <a:rPr sz="1350" b="1" i="0">
                <a:solidFill>
                  <a:srgbClr val="C2410C"/>
                </a:solidFill>
                <a:latin typeface="Segoe UI"/>
              </a:rPr>
              <a:t>4 · Operating runway — $⚠️ TODO</a:t>
            </a:r>
            <a:r>
              <a:rPr sz="1350" b="0" i="0">
                <a:solidFill>
                  <a:srgbClr val="C2410C"/>
                </a:solidFill>
                <a:latin typeface="Segoe UI"/>
              </a:rPr>
              <a:t> Founder compensation, baseline hosting, and tooling through the build-up period.</a:t>
            </a:r>
          </a:p>
        </p:txBody>
      </p:sp>
      <p:sp>
        <p:nvSpPr>
          <p:cNvPr id="9" name="Rectangle 8"/>
          <p:cNvSpPr/>
          <p:nvPr/>
        </p:nvSpPr>
        <p:spPr>
          <a:xfrm>
            <a:off x="566928" y="4392168"/>
            <a:ext cx="50292" cy="484124"/>
          </a:xfrm>
          <a:prstGeom prst="rect">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4364736"/>
            <a:ext cx="10746943" cy="575564"/>
          </a:xfrm>
          <a:prstGeom prst="rect">
            <a:avLst/>
          </a:prstGeom>
          <a:noFill/>
        </p:spPr>
        <p:txBody>
          <a:bodyPr wrap="square" lIns="0" rIns="0" tIns="0" bIns="0">
            <a:spAutoFit/>
          </a:bodyPr>
          <a:lstStyle/>
          <a:p>
            <a:r>
              <a:rPr sz="1300" b="1" i="1">
                <a:solidFill>
                  <a:srgbClr val="C2410C"/>
                </a:solidFill>
                <a:latin typeface="Segoe UI"/>
              </a:rPr>
              <a:t>Total: $⚠️ TODO — ⚠️ N months: long enough to recruit sponsors, launch their schools, and see whether their audiences pay.</a:t>
            </a:r>
          </a:p>
        </p:txBody>
      </p:sp>
      <p:sp>
        <p:nvSpPr>
          <p:cNvPr id="11" name="Rectangle 10"/>
          <p:cNvSpPr/>
          <p:nvPr/>
        </p:nvSpPr>
        <p:spPr>
          <a:xfrm>
            <a:off x="566928" y="4967732"/>
            <a:ext cx="50292" cy="698754"/>
          </a:xfrm>
          <a:prstGeom prst="rect">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4940300"/>
            <a:ext cx="10746943" cy="790194"/>
          </a:xfrm>
          <a:prstGeom prst="rect">
            <a:avLst/>
          </a:prstGeom>
          <a:noFill/>
        </p:spPr>
        <p:txBody>
          <a:bodyPr wrap="square" lIns="0" rIns="0" tIns="0" bIns="0">
            <a:spAutoFit/>
          </a:bodyPr>
          <a:lstStyle/>
          <a:p>
            <a:r>
              <a:rPr sz="1300" b="1" i="1">
                <a:solidFill>
                  <a:srgbClr val="C2410C"/>
                </a:solidFill>
                <a:latin typeface="Segoe UI"/>
              </a:rPr>
              <a:t>What that buys:</a:t>
            </a:r>
            <a:r>
              <a:rPr sz="1300" b="0" i="1">
                <a:solidFill>
                  <a:srgbClr val="C2410C"/>
                </a:solidFill>
                <a:latin typeface="Segoe UI"/>
              </a:rPr>
              <a:t> ⚠️ TODO — </a:t>
            </a:r>
            <a:r>
              <a:rPr sz="1300" b="0" i="1">
                <a:solidFill>
                  <a:srgbClr val="C2410C"/>
                </a:solidFill>
                <a:latin typeface="Segoe UI"/>
              </a:rPr>
              <a:t>"N sponsored schools live, their audiences arriving, and paying customers through checkout."</a:t>
            </a:r>
            <a:r>
              <a:rPr sz="1300" b="0" i="1">
                <a:solidFill>
                  <a:srgbClr val="C2410C"/>
                </a:solidFill>
                <a:latin typeface="Segoe UI"/>
              </a:rPr>
              <a:t> The milestone is that the </a:t>
            </a:r>
            <a:r>
              <a:rPr sz="1300" b="1" i="1">
                <a:solidFill>
                  <a:srgbClr val="C2410C"/>
                </a:solidFill>
                <a:latin typeface="Segoe UI"/>
              </a:rPr>
              <a:t>mechanism</a:t>
            </a:r>
            <a:r>
              <a:rPr sz="1300" b="0" i="1">
                <a:solidFill>
                  <a:srgbClr val="C2410C"/>
                </a:solidFill>
                <a:latin typeface="Segoe UI"/>
              </a:rPr>
              <a:t> works and people pay — not that we found the hit. Lift-off is the round after.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13   </a:t>
            </a:r>
            <a:r>
              <a:rPr sz="2500" b="1">
                <a:solidFill>
                  <a:srgbClr val="15192B"/>
                </a:solidFill>
                <a:latin typeface="Segoe UI"/>
              </a:rPr>
              <a:t>The Ask</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376428"/>
          </a:xfrm>
          <a:prstGeom prst="rect">
            <a:avLst/>
          </a:prstGeom>
          <a:noFill/>
        </p:spPr>
        <p:txBody>
          <a:bodyPr wrap="square" lIns="0" rIns="0" tIns="0" bIns="0">
            <a:spAutoFit/>
          </a:bodyPr>
          <a:lstStyle/>
          <a:p>
            <a:r>
              <a:rPr sz="1700" b="1" i="0">
                <a:solidFill>
                  <a:srgbClr val="C2410C"/>
                </a:solidFill>
                <a:latin typeface="Segoe UI"/>
              </a:rPr>
              <a:t>⚠️ TODO — $⚠️ raising on a ⚠️ TODO.</a:t>
            </a:r>
          </a:p>
        </p:txBody>
      </p:sp>
      <p:sp>
        <p:nvSpPr>
          <p:cNvPr id="5" name="TextBox 4"/>
          <p:cNvSpPr txBox="1"/>
          <p:nvPr/>
        </p:nvSpPr>
        <p:spPr>
          <a:xfrm>
            <a:off x="566928" y="1711452"/>
            <a:ext cx="11057839" cy="365760"/>
          </a:xfrm>
          <a:prstGeom prst="rect">
            <a:avLst/>
          </a:prstGeom>
          <a:noFill/>
        </p:spPr>
        <p:txBody>
          <a:bodyPr wrap="square" lIns="0" rIns="0" tIns="0" bIns="0">
            <a:spAutoFit/>
          </a:bodyPr>
          <a:lstStyle/>
          <a:p>
            <a:r>
              <a:rPr sz="1040" b="1">
                <a:solidFill>
                  <a:srgbClr val="4A3AFF"/>
                </a:solidFill>
                <a:latin typeface="Segoe UI"/>
              </a:rPr>
              <a:t>THE TERMS</a:t>
            </a:r>
          </a:p>
        </p:txBody>
      </p:sp>
      <p:sp>
        <p:nvSpPr>
          <p:cNvPr id="6" name="Oval 5"/>
          <p:cNvSpPr/>
          <p:nvPr/>
        </p:nvSpPr>
        <p:spPr>
          <a:xfrm>
            <a:off x="585216" y="2156079"/>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77211"/>
            <a:ext cx="10820095" cy="323469"/>
          </a:xfrm>
          <a:prstGeom prst="rect">
            <a:avLst/>
          </a:prstGeom>
          <a:noFill/>
        </p:spPr>
        <p:txBody>
          <a:bodyPr wrap="square" lIns="0" rIns="0" tIns="0" bIns="0">
            <a:spAutoFit/>
          </a:bodyPr>
          <a:lstStyle/>
          <a:p>
            <a:r>
              <a:rPr sz="1350" b="1" i="0">
                <a:solidFill>
                  <a:srgbClr val="C2410C"/>
                </a:solidFill>
                <a:latin typeface="Segoe UI"/>
              </a:rPr>
              <a:t>Raising:</a:t>
            </a:r>
            <a:r>
              <a:rPr sz="1350" b="0" i="0">
                <a:solidFill>
                  <a:srgbClr val="C2410C"/>
                </a:solidFill>
                <a:latin typeface="Segoe UI"/>
              </a:rPr>
              <a:t> $⚠️ TODO — matches the total on Slide 12</a:t>
            </a:r>
          </a:p>
        </p:txBody>
      </p:sp>
      <p:sp>
        <p:nvSpPr>
          <p:cNvPr id="8" name="Oval 7"/>
          <p:cNvSpPr/>
          <p:nvPr/>
        </p:nvSpPr>
        <p:spPr>
          <a:xfrm>
            <a:off x="585216" y="2479548"/>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400680"/>
            <a:ext cx="10820095" cy="323469"/>
          </a:xfrm>
          <a:prstGeom prst="rect">
            <a:avLst/>
          </a:prstGeom>
          <a:noFill/>
        </p:spPr>
        <p:txBody>
          <a:bodyPr wrap="square" lIns="0" rIns="0" tIns="0" bIns="0">
            <a:spAutoFit/>
          </a:bodyPr>
          <a:lstStyle/>
          <a:p>
            <a:r>
              <a:rPr sz="1350" b="1" i="0">
                <a:solidFill>
                  <a:srgbClr val="C2410C"/>
                </a:solidFill>
                <a:latin typeface="Segoe UI"/>
              </a:rPr>
              <a:t>Instrument:</a:t>
            </a:r>
            <a:r>
              <a:rPr sz="1350" b="0" i="0">
                <a:solidFill>
                  <a:srgbClr val="C2410C"/>
                </a:solidFill>
                <a:latin typeface="Segoe UI"/>
              </a:rPr>
              <a:t> ⚠️ TODO — SAFE (post-money cap) / convertible note / priced round</a:t>
            </a:r>
          </a:p>
        </p:txBody>
      </p:sp>
      <p:sp>
        <p:nvSpPr>
          <p:cNvPr id="10" name="Oval 9"/>
          <p:cNvSpPr/>
          <p:nvPr/>
        </p:nvSpPr>
        <p:spPr>
          <a:xfrm>
            <a:off x="585216" y="280301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724149"/>
            <a:ext cx="10820095" cy="323469"/>
          </a:xfrm>
          <a:prstGeom prst="rect">
            <a:avLst/>
          </a:prstGeom>
          <a:noFill/>
        </p:spPr>
        <p:txBody>
          <a:bodyPr wrap="square" lIns="0" rIns="0" tIns="0" bIns="0">
            <a:spAutoFit/>
          </a:bodyPr>
          <a:lstStyle/>
          <a:p>
            <a:r>
              <a:rPr sz="1350" b="1" i="0">
                <a:solidFill>
                  <a:srgbClr val="C2410C"/>
                </a:solidFill>
                <a:latin typeface="Segoe UI"/>
              </a:rPr>
              <a:t>Valuation cap:</a:t>
            </a:r>
            <a:r>
              <a:rPr sz="1350" b="0" i="0">
                <a:solidFill>
                  <a:srgbClr val="C2410C"/>
                </a:solidFill>
                <a:latin typeface="Segoe UI"/>
              </a:rPr>
              <a:t> $⚠️ TODO</a:t>
            </a:r>
          </a:p>
        </p:txBody>
      </p:sp>
      <p:sp>
        <p:nvSpPr>
          <p:cNvPr id="12" name="Oval 11"/>
          <p:cNvSpPr/>
          <p:nvPr/>
        </p:nvSpPr>
        <p:spPr>
          <a:xfrm>
            <a:off x="585216" y="3126485"/>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047618"/>
            <a:ext cx="10820095" cy="323469"/>
          </a:xfrm>
          <a:prstGeom prst="rect">
            <a:avLst/>
          </a:prstGeom>
          <a:noFill/>
        </p:spPr>
        <p:txBody>
          <a:bodyPr wrap="square" lIns="0" rIns="0" tIns="0" bIns="0">
            <a:spAutoFit/>
          </a:bodyPr>
          <a:lstStyle/>
          <a:p>
            <a:r>
              <a:rPr sz="1350" b="1" i="0">
                <a:solidFill>
                  <a:srgbClr val="C2410C"/>
                </a:solidFill>
                <a:latin typeface="Segoe UI"/>
              </a:rPr>
              <a:t>Minimum check:</a:t>
            </a:r>
            <a:r>
              <a:rPr sz="1350" b="0" i="0">
                <a:solidFill>
                  <a:srgbClr val="C2410C"/>
                </a:solidFill>
                <a:latin typeface="Segoe UI"/>
              </a:rPr>
              <a:t> $⚠️ TODO</a:t>
            </a:r>
          </a:p>
        </p:txBody>
      </p:sp>
      <p:sp>
        <p:nvSpPr>
          <p:cNvPr id="14" name="Oval 13"/>
          <p:cNvSpPr/>
          <p:nvPr/>
        </p:nvSpPr>
        <p:spPr>
          <a:xfrm>
            <a:off x="585216" y="3449954"/>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371087"/>
            <a:ext cx="10820095" cy="323469"/>
          </a:xfrm>
          <a:prstGeom prst="rect">
            <a:avLst/>
          </a:prstGeom>
          <a:noFill/>
        </p:spPr>
        <p:txBody>
          <a:bodyPr wrap="square" lIns="0" rIns="0" tIns="0" bIns="0">
            <a:spAutoFit/>
          </a:bodyPr>
          <a:lstStyle/>
          <a:p>
            <a:r>
              <a:rPr sz="1350" b="1" i="0">
                <a:solidFill>
                  <a:srgbClr val="C2410C"/>
                </a:solidFill>
                <a:latin typeface="Segoe UI"/>
              </a:rPr>
              <a:t>Committed to date:</a:t>
            </a:r>
            <a:r>
              <a:rPr sz="1350" b="0" i="0">
                <a:solidFill>
                  <a:srgbClr val="C2410C"/>
                </a:solidFill>
                <a:latin typeface="Segoe UI"/>
              </a:rPr>
              <a:t> $⚠️ TODO — including founder capital</a:t>
            </a:r>
          </a:p>
        </p:txBody>
      </p:sp>
      <p:sp>
        <p:nvSpPr>
          <p:cNvPr id="16" name="Oval 15"/>
          <p:cNvSpPr/>
          <p:nvPr/>
        </p:nvSpPr>
        <p:spPr>
          <a:xfrm>
            <a:off x="585216" y="377342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694556"/>
            <a:ext cx="10820095" cy="323469"/>
          </a:xfrm>
          <a:prstGeom prst="rect">
            <a:avLst/>
          </a:prstGeom>
          <a:noFill/>
        </p:spPr>
        <p:txBody>
          <a:bodyPr wrap="square" lIns="0" rIns="0" tIns="0" bIns="0">
            <a:spAutoFit/>
          </a:bodyPr>
          <a:lstStyle/>
          <a:p>
            <a:r>
              <a:rPr sz="1350" b="1" i="0">
                <a:solidFill>
                  <a:srgbClr val="C2410C"/>
                </a:solidFill>
                <a:latin typeface="Segoe UI"/>
              </a:rPr>
              <a:t>Target close:</a:t>
            </a:r>
            <a:r>
              <a:rPr sz="1350" b="0" i="0">
                <a:solidFill>
                  <a:srgbClr val="C2410C"/>
                </a:solidFill>
                <a:latin typeface="Segoe UI"/>
              </a:rPr>
              <a:t> ⚠️ TODO date</a:t>
            </a:r>
          </a:p>
        </p:txBody>
      </p:sp>
      <p:sp>
        <p:nvSpPr>
          <p:cNvPr id="18" name="TextBox 17"/>
          <p:cNvSpPr txBox="1"/>
          <p:nvPr/>
        </p:nvSpPr>
        <p:spPr>
          <a:xfrm>
            <a:off x="566928" y="4018025"/>
            <a:ext cx="11057839" cy="365760"/>
          </a:xfrm>
          <a:prstGeom prst="rect">
            <a:avLst/>
          </a:prstGeom>
          <a:noFill/>
        </p:spPr>
        <p:txBody>
          <a:bodyPr wrap="square" lIns="0" rIns="0" tIns="0" bIns="0">
            <a:spAutoFit/>
          </a:bodyPr>
          <a:lstStyle/>
          <a:p>
            <a:r>
              <a:rPr sz="1040" b="1">
                <a:solidFill>
                  <a:srgbClr val="4A3AFF"/>
                </a:solidFill>
                <a:latin typeface="Segoe UI"/>
              </a:rPr>
              <a:t>WHAT YOUR CHEQUE BUYS</a:t>
            </a:r>
          </a:p>
        </p:txBody>
      </p:sp>
      <p:sp>
        <p:nvSpPr>
          <p:cNvPr id="19" name="Oval 18"/>
          <p:cNvSpPr/>
          <p:nvPr/>
        </p:nvSpPr>
        <p:spPr>
          <a:xfrm>
            <a:off x="585216" y="4462652"/>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4383785"/>
            <a:ext cx="10820095" cy="323469"/>
          </a:xfrm>
          <a:prstGeom prst="rect">
            <a:avLst/>
          </a:prstGeom>
          <a:noFill/>
        </p:spPr>
        <p:txBody>
          <a:bodyPr wrap="square" lIns="0" rIns="0" tIns="0" bIns="0">
            <a:spAutoFit/>
          </a:bodyPr>
          <a:lstStyle/>
          <a:p>
            <a:r>
              <a:rPr sz="1350" b="1" i="0">
                <a:solidFill>
                  <a:srgbClr val="C2410C"/>
                </a:solidFill>
                <a:latin typeface="Segoe UI"/>
              </a:rPr>
              <a:t>Ownership</a:t>
            </a:r>
            <a:r>
              <a:rPr sz="1350" b="0" i="0">
                <a:solidFill>
                  <a:srgbClr val="C2410C"/>
                </a:solidFill>
                <a:latin typeface="Segoe UI"/>
              </a:rPr>
              <a:t> — a $⚠️ TODO cheque at a $⚠️ TODO cap is roughly ⚠️ TODO% of the company</a:t>
            </a:r>
          </a:p>
        </p:txBody>
      </p:sp>
      <p:sp>
        <p:nvSpPr>
          <p:cNvPr id="21" name="Oval 20"/>
          <p:cNvSpPr/>
          <p:nvPr/>
        </p:nvSpPr>
        <p:spPr>
          <a:xfrm>
            <a:off x="585216" y="4786121"/>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4707254"/>
            <a:ext cx="10820095" cy="546354"/>
          </a:xfrm>
          <a:prstGeom prst="rect">
            <a:avLst/>
          </a:prstGeom>
          <a:noFill/>
        </p:spPr>
        <p:txBody>
          <a:bodyPr wrap="square" lIns="0" rIns="0" tIns="0" bIns="0">
            <a:spAutoFit/>
          </a:bodyPr>
          <a:lstStyle/>
          <a:p>
            <a:r>
              <a:rPr sz="1350" b="1" i="0">
                <a:solidFill>
                  <a:srgbClr val="C2410C"/>
                </a:solidFill>
                <a:latin typeface="Segoe UI"/>
              </a:rPr>
              <a:t>Pro-rata rights</a:t>
            </a:r>
            <a:r>
              <a:rPr sz="1350" b="0" i="0">
                <a:solidFill>
                  <a:srgbClr val="C2410C"/>
                </a:solidFill>
                <a:latin typeface="Segoe UI"/>
              </a:rPr>
              <a:t> — the right to maintain your percentage in the next round ⚠️ TODO: confirm, and whether it applies above a minimum cheque</a:t>
            </a:r>
          </a:p>
        </p:txBody>
      </p:sp>
      <p:sp>
        <p:nvSpPr>
          <p:cNvPr id="23" name="Oval 22"/>
          <p:cNvSpPr/>
          <p:nvPr/>
        </p:nvSpPr>
        <p:spPr>
          <a:xfrm>
            <a:off x="585216" y="5332475"/>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5253608"/>
            <a:ext cx="10820095" cy="323469"/>
          </a:xfrm>
          <a:prstGeom prst="rect">
            <a:avLst/>
          </a:prstGeom>
          <a:noFill/>
        </p:spPr>
        <p:txBody>
          <a:bodyPr wrap="square" lIns="0" rIns="0" tIns="0" bIns="0">
            <a:spAutoFit/>
          </a:bodyPr>
          <a:lstStyle/>
          <a:p>
            <a:r>
              <a:rPr sz="1350" b="1" i="0">
                <a:solidFill>
                  <a:srgbClr val="15192B"/>
                </a:solidFill>
                <a:latin typeface="Segoe UI"/>
              </a:rPr>
              <a:t>Quarterly investor updates</a:t>
            </a:r>
            <a:r>
              <a:rPr sz="1350" b="0" i="0">
                <a:solidFill>
                  <a:srgbClr val="5A6072"/>
                </a:solidFill>
                <a:latin typeface="Segoe UI"/>
              </a:rPr>
              <a:t> — progress, metrics, and what's not working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1100" b="1">
                <a:solidFill>
                  <a:srgbClr val="4A3AFF"/>
                </a:solidFill>
                <a:latin typeface="Segoe UI"/>
              </a:rPr>
              <a:t>SLIDE 14   </a:t>
            </a:r>
            <a:r>
              <a:rPr sz="2500" b="1">
                <a:solidFill>
                  <a:srgbClr val="15192B"/>
                </a:solidFill>
                <a:latin typeface="Segoe UI"/>
              </a:rPr>
              <a:t>How This Returns Capital</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376428"/>
          </a:xfrm>
          <a:prstGeom prst="rect">
            <a:avLst/>
          </a:prstGeom>
          <a:noFill/>
        </p:spPr>
        <p:txBody>
          <a:bodyPr wrap="square" lIns="0" rIns="0" tIns="0" bIns="0">
            <a:spAutoFit/>
          </a:bodyPr>
          <a:lstStyle/>
          <a:p>
            <a:r>
              <a:rPr sz="1700" b="1" i="0">
                <a:solidFill>
                  <a:srgbClr val="C2410C"/>
                </a:solidFill>
                <a:latin typeface="Segoe UI"/>
              </a:rPr>
              <a:t>⚠️ TODO — the realistic exit paths.</a:t>
            </a:r>
          </a:p>
        </p:txBody>
      </p:sp>
      <p:sp>
        <p:nvSpPr>
          <p:cNvPr id="5" name="TextBox 4"/>
          <p:cNvSpPr txBox="1"/>
          <p:nvPr/>
        </p:nvSpPr>
        <p:spPr>
          <a:xfrm>
            <a:off x="566928" y="1711452"/>
            <a:ext cx="11057839" cy="369189"/>
          </a:xfrm>
          <a:prstGeom prst="rect">
            <a:avLst/>
          </a:prstGeom>
          <a:noFill/>
        </p:spPr>
        <p:txBody>
          <a:bodyPr wrap="square" lIns="0" rIns="0" tIns="0" bIns="0">
            <a:spAutoFit/>
          </a:bodyPr>
          <a:lstStyle/>
          <a:p>
            <a:r>
              <a:rPr sz="1350" b="1" i="0">
                <a:solidFill>
                  <a:srgbClr val="15192B"/>
                </a:solidFill>
                <a:latin typeface="Segoe UI"/>
              </a:rPr>
              <a:t>Likely acquirer categories:</a:t>
            </a:r>
          </a:p>
        </p:txBody>
      </p:sp>
      <p:sp>
        <p:nvSpPr>
          <p:cNvPr id="6" name="Oval 5"/>
          <p:cNvSpPr/>
          <p:nvPr/>
        </p:nvSpPr>
        <p:spPr>
          <a:xfrm>
            <a:off x="585216" y="2159508"/>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80641"/>
            <a:ext cx="10820095" cy="992124"/>
          </a:xfrm>
          <a:prstGeom prst="rect">
            <a:avLst/>
          </a:prstGeom>
          <a:noFill/>
        </p:spPr>
        <p:txBody>
          <a:bodyPr wrap="square" lIns="0" rIns="0" tIns="0" bIns="0">
            <a:spAutoFit/>
          </a:bodyPr>
          <a:lstStyle/>
          <a:p>
            <a:r>
              <a:rPr sz="1350" b="1" i="0">
                <a:solidFill>
                  <a:srgbClr val="15192B"/>
                </a:solidFill>
                <a:latin typeface="Segoe UI"/>
              </a:rPr>
              <a:t>Frontier model providers</a:t>
            </a:r>
            <a:r>
              <a:rPr sz="1350" b="0" i="0">
                <a:solidFill>
                  <a:srgbClr val="5A6072"/>
                </a:solidFill>
                <a:latin typeface="Segoe UI"/>
              </a:rPr>
              <a:t> — Anthropic, OpenAI, Google DeepMind. Each already has an education initiative and each hits the same wall: a fluent tutor with no curriculum. </a:t>
            </a:r>
            <a:r>
              <a:rPr sz="1350" b="1" i="0">
                <a:solidFill>
                  <a:srgbClr val="15192B"/>
                </a:solidFill>
                <a:latin typeface="Segoe UI"/>
              </a:rPr>
              <a:t>They also own the input cost — what we pay $5 for, they produce for a fraction of it.</a:t>
            </a:r>
            <a:r>
              <a:rPr sz="1350" b="0" i="0">
                <a:solidFill>
                  <a:srgbClr val="5A6072"/>
                </a:solidFill>
                <a:latin typeface="Segoe UI"/>
              </a:rPr>
              <a:t> The unit economics that make this viable for us are extraordinary for them</a:t>
            </a:r>
          </a:p>
        </p:txBody>
      </p:sp>
      <p:sp>
        <p:nvSpPr>
          <p:cNvPr id="8" name="Oval 7"/>
          <p:cNvSpPr/>
          <p:nvPr/>
        </p:nvSpPr>
        <p:spPr>
          <a:xfrm>
            <a:off x="585216" y="3151632"/>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3072765"/>
            <a:ext cx="10820095" cy="546354"/>
          </a:xfrm>
          <a:prstGeom prst="rect">
            <a:avLst/>
          </a:prstGeom>
          <a:noFill/>
        </p:spPr>
        <p:txBody>
          <a:bodyPr wrap="square" lIns="0" rIns="0" tIns="0" bIns="0">
            <a:spAutoFit/>
          </a:bodyPr>
          <a:lstStyle/>
          <a:p>
            <a:r>
              <a:rPr sz="1350" b="1" i="0">
                <a:solidFill>
                  <a:srgbClr val="15192B"/>
                </a:solidFill>
                <a:latin typeface="Segoe UI"/>
              </a:rPr>
              <a:t>Publishers</a:t>
            </a:r>
            <a:r>
              <a:rPr sz="1350" b="0" i="0">
                <a:solidFill>
                  <a:srgbClr val="5A6072"/>
                </a:solidFill>
                <a:latin typeface="Segoe UI"/>
              </a:rPr>
              <a:t> — Pearson, McGraw Hill, Cengage: they own content and are structurally threatened by generated content</a:t>
            </a:r>
          </a:p>
        </p:txBody>
      </p:sp>
      <p:sp>
        <p:nvSpPr>
          <p:cNvPr id="10" name="Oval 9"/>
          <p:cNvSpPr/>
          <p:nvPr/>
        </p:nvSpPr>
        <p:spPr>
          <a:xfrm>
            <a:off x="585216" y="369798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619119"/>
            <a:ext cx="10820095" cy="323469"/>
          </a:xfrm>
          <a:prstGeom prst="rect">
            <a:avLst/>
          </a:prstGeom>
          <a:noFill/>
        </p:spPr>
        <p:txBody>
          <a:bodyPr wrap="square" lIns="0" rIns="0" tIns="0" bIns="0">
            <a:spAutoFit/>
          </a:bodyPr>
          <a:lstStyle/>
          <a:p>
            <a:r>
              <a:rPr sz="1350" b="1" i="0">
                <a:solidFill>
                  <a:srgbClr val="15192B"/>
                </a:solidFill>
                <a:latin typeface="Segoe UI"/>
              </a:rPr>
              <a:t>Learning platforms</a:t>
            </a:r>
            <a:r>
              <a:rPr sz="1350" b="0" i="0">
                <a:solidFill>
                  <a:srgbClr val="5A6072"/>
                </a:solidFill>
                <a:latin typeface="Segoe UI"/>
              </a:rPr>
              <a:t> — Coursera, Udemy, Chegg, Duolingo</a:t>
            </a:r>
          </a:p>
        </p:txBody>
      </p:sp>
      <p:sp>
        <p:nvSpPr>
          <p:cNvPr id="12" name="Oval 11"/>
          <p:cNvSpPr/>
          <p:nvPr/>
        </p:nvSpPr>
        <p:spPr>
          <a:xfrm>
            <a:off x="585216" y="4021454"/>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942588"/>
            <a:ext cx="10820095" cy="323469"/>
          </a:xfrm>
          <a:prstGeom prst="rect">
            <a:avLst/>
          </a:prstGeom>
          <a:noFill/>
        </p:spPr>
        <p:txBody>
          <a:bodyPr wrap="square" lIns="0" rIns="0" tIns="0" bIns="0">
            <a:spAutoFit/>
          </a:bodyPr>
          <a:lstStyle/>
          <a:p>
            <a:r>
              <a:rPr sz="1350" b="1" i="0">
                <a:solidFill>
                  <a:srgbClr val="15192B"/>
                </a:solidFill>
                <a:latin typeface="Segoe UI"/>
              </a:rPr>
              <a:t>LMS incumbents</a:t>
            </a:r>
            <a:r>
              <a:rPr sz="1350" b="0" i="0">
                <a:solidFill>
                  <a:srgbClr val="5A6072"/>
                </a:solidFill>
                <a:latin typeface="Segoe UI"/>
              </a:rPr>
              <a:t> — Instructure/Canvas, Anthology/Blackboard</a:t>
            </a:r>
          </a:p>
        </p:txBody>
      </p:sp>
      <p:sp>
        <p:nvSpPr>
          <p:cNvPr id="14" name="Oval 13"/>
          <p:cNvSpPr/>
          <p:nvPr/>
        </p:nvSpPr>
        <p:spPr>
          <a:xfrm>
            <a:off x="585216" y="434492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4266057"/>
            <a:ext cx="10820095" cy="323469"/>
          </a:xfrm>
          <a:prstGeom prst="rect">
            <a:avLst/>
          </a:prstGeom>
          <a:noFill/>
        </p:spPr>
        <p:txBody>
          <a:bodyPr wrap="square" lIns="0" rIns="0" tIns="0" bIns="0">
            <a:spAutoFit/>
          </a:bodyPr>
          <a:lstStyle/>
          <a:p>
            <a:r>
              <a:rPr sz="1350" b="1" i="0">
                <a:solidFill>
                  <a:srgbClr val="15192B"/>
                </a:solidFill>
                <a:latin typeface="Segoe UI"/>
              </a:rPr>
              <a:t>Enterprise learning</a:t>
            </a:r>
            <a:r>
              <a:rPr sz="1350" b="0" i="0">
                <a:solidFill>
                  <a:srgbClr val="5A6072"/>
                </a:solidFill>
                <a:latin typeface="Segoe UI"/>
              </a:rPr>
              <a:t> — LinkedIn Learning, Docebo, Cornerstone</a:t>
            </a:r>
          </a:p>
        </p:txBody>
      </p:sp>
      <p:sp>
        <p:nvSpPr>
          <p:cNvPr id="16" name="Oval 15"/>
          <p:cNvSpPr/>
          <p:nvPr/>
        </p:nvSpPr>
        <p:spPr>
          <a:xfrm>
            <a:off x="585216" y="4668392"/>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589525"/>
            <a:ext cx="10820095" cy="323469"/>
          </a:xfrm>
          <a:prstGeom prst="rect">
            <a:avLst/>
          </a:prstGeom>
          <a:noFill/>
        </p:spPr>
        <p:txBody>
          <a:bodyPr wrap="square" lIns="0" rIns="0" tIns="0" bIns="0">
            <a:spAutoFit/>
          </a:bodyPr>
          <a:lstStyle/>
          <a:p>
            <a:r>
              <a:rPr sz="1350" b="1" i="0">
                <a:solidFill>
                  <a:srgbClr val="15192B"/>
                </a:solidFill>
                <a:latin typeface="Segoe UI"/>
              </a:rPr>
              <a:t>Big tech platform arms</a:t>
            </a:r>
            <a:r>
              <a:rPr sz="1350" b="0" i="0">
                <a:solidFill>
                  <a:srgbClr val="5A6072"/>
                </a:solidFill>
                <a:latin typeface="Segoe UI"/>
              </a:rPr>
              <a:t> — Microsoft, Google (Classroom / Workspace for Education)</a:t>
            </a:r>
          </a:p>
        </p:txBody>
      </p:sp>
      <p:sp>
        <p:nvSpPr>
          <p:cNvPr id="18" name="Oval 17"/>
          <p:cNvSpPr/>
          <p:nvPr/>
        </p:nvSpPr>
        <p:spPr>
          <a:xfrm>
            <a:off x="585216" y="4991861"/>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912994"/>
            <a:ext cx="10820095" cy="323469"/>
          </a:xfrm>
          <a:prstGeom prst="rect">
            <a:avLst/>
          </a:prstGeom>
          <a:noFill/>
        </p:spPr>
        <p:txBody>
          <a:bodyPr wrap="square" lIns="0" rIns="0" tIns="0" bIns="0">
            <a:spAutoFit/>
          </a:bodyPr>
          <a:lstStyle/>
          <a:p>
            <a:r>
              <a:rPr sz="1350" b="0" i="0">
                <a:solidFill>
                  <a:srgbClr val="C2410C"/>
                </a:solidFill>
                <a:latin typeface="Segoe UI"/>
              </a:rPr>
              <a:t>⚠️ TODO: comparable transactions and multiples in this space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192B"/>
        </a:solidFill>
        <a:effectLst/>
      </p:bgPr>
    </p:bg>
    <p:spTree>
      <p:nvGrpSpPr>
        <p:cNvPr id="1" name=""/>
        <p:cNvGrpSpPr/>
        <p:nvPr/>
      </p:nvGrpSpPr>
      <p:grpSpPr/>
      <p:sp>
        <p:nvSpPr>
          <p:cNvPr id="2" name="TextBox 1"/>
          <p:cNvSpPr txBox="1"/>
          <p:nvPr/>
        </p:nvSpPr>
        <p:spPr>
          <a:xfrm>
            <a:off x="841247" y="2788920"/>
            <a:ext cx="9960559" cy="1463040"/>
          </a:xfrm>
          <a:prstGeom prst="rect">
            <a:avLst/>
          </a:prstGeom>
          <a:noFill/>
        </p:spPr>
        <p:txBody>
          <a:bodyPr wrap="square" lIns="0" rIns="0" tIns="0" bIns="0">
            <a:spAutoFit/>
          </a:bodyPr>
          <a:lstStyle/>
          <a:p>
            <a:r>
              <a:rPr sz="4400" b="1">
                <a:solidFill>
                  <a:srgbClr val="FFFFFF"/>
                </a:solidFill>
                <a:latin typeface="Segoe UI"/>
              </a:rPr>
              <a:t>Appendix</a:t>
            </a:r>
          </a:p>
          <a:p>
            <a:pPr>
              <a:spcBef>
                <a:spcPts val="1000"/>
              </a:spcBef>
            </a:pPr>
            <a:r>
              <a:rPr sz="1700">
                <a:solidFill>
                  <a:srgbClr val="9AA1B8"/>
                </a:solidFill>
                <a:latin typeface="Segoe UI"/>
              </a:rPr>
              <a:t>sent after the meeting, not presented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A1 — Competition</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592074"/>
          </a:xfrm>
          <a:prstGeom prst="rect">
            <a:avLst/>
          </a:prstGeom>
          <a:noFill/>
        </p:spPr>
        <p:txBody>
          <a:bodyPr wrap="square" lIns="0" rIns="0" tIns="0" bIns="0">
            <a:spAutoFit/>
          </a:bodyPr>
          <a:lstStyle/>
          <a:p>
            <a:r>
              <a:rPr sz="1350" b="0" i="0">
                <a:solidFill>
                  <a:srgbClr val="5A6072"/>
                </a:solidFill>
                <a:latin typeface="Segoe UI"/>
              </a:rPr>
              <a:t>Suggested 2×2 axes: </a:t>
            </a:r>
            <a:r>
              <a:rPr sz="1350" b="1" i="0">
                <a:solidFill>
                  <a:srgbClr val="15192B"/>
                </a:solidFill>
                <a:latin typeface="Segoe UI"/>
              </a:rPr>
              <a:t>structured &amp; verified ↔ unstructured</a:t>
            </a:r>
            <a:r>
              <a:rPr sz="1350" b="0" i="0">
                <a:solidFill>
                  <a:srgbClr val="5A6072"/>
                </a:solidFill>
                <a:latin typeface="Segoe UI"/>
              </a:rPr>
              <a:t>, and </a:t>
            </a:r>
            <a:r>
              <a:rPr sz="1350" b="1" i="0">
                <a:solidFill>
                  <a:srgbClr val="15192B"/>
                </a:solidFill>
                <a:latin typeface="Segoe UI"/>
              </a:rPr>
              <a:t>content generated ↔ content licensed or hand-built</a:t>
            </a:r>
            <a:r>
              <a:rPr sz="1350" b="0" i="0">
                <a:solidFill>
                  <a:srgbClr val="5A6072"/>
                </a:solidFill>
                <a:latin typeface="Segoe UI"/>
              </a:rPr>
              <a:t>.</a:t>
            </a:r>
          </a:p>
        </p:txBody>
      </p:sp>
      <p:sp>
        <p:nvSpPr>
          <p:cNvPr id="5" name="Oval 4"/>
          <p:cNvSpPr/>
          <p:nvPr/>
        </p:nvSpPr>
        <p:spPr>
          <a:xfrm>
            <a:off x="585216" y="1804797"/>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725930"/>
            <a:ext cx="10820095" cy="323469"/>
          </a:xfrm>
          <a:prstGeom prst="rect">
            <a:avLst/>
          </a:prstGeom>
          <a:noFill/>
        </p:spPr>
        <p:txBody>
          <a:bodyPr wrap="square" lIns="0" rIns="0" tIns="0" bIns="0">
            <a:spAutoFit/>
          </a:bodyPr>
          <a:lstStyle/>
          <a:p>
            <a:r>
              <a:rPr sz="1350" b="1" i="0">
                <a:solidFill>
                  <a:srgbClr val="15192B"/>
                </a:solidFill>
                <a:latin typeface="Segoe UI"/>
              </a:rPr>
              <a:t>General AI assistants</a:t>
            </a:r>
            <a:r>
              <a:rPr sz="1350" b="0" i="0">
                <a:solidFill>
                  <a:srgbClr val="5A6072"/>
                </a:solidFill>
                <a:latin typeface="Segoe UI"/>
              </a:rPr>
              <a:t> (ChatGPT, Claude, Gemini) — fluent, unstructured, no mastery model, no curriculum</a:t>
            </a:r>
          </a:p>
        </p:txBody>
      </p:sp>
      <p:sp>
        <p:nvSpPr>
          <p:cNvPr id="7" name="Oval 6"/>
          <p:cNvSpPr/>
          <p:nvPr/>
        </p:nvSpPr>
        <p:spPr>
          <a:xfrm>
            <a:off x="585216" y="212826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49399"/>
            <a:ext cx="10820095" cy="546354"/>
          </a:xfrm>
          <a:prstGeom prst="rect">
            <a:avLst/>
          </a:prstGeom>
          <a:noFill/>
        </p:spPr>
        <p:txBody>
          <a:bodyPr wrap="square" lIns="0" rIns="0" tIns="0" bIns="0">
            <a:spAutoFit/>
          </a:bodyPr>
          <a:lstStyle/>
          <a:p>
            <a:r>
              <a:rPr sz="1350" b="1" i="0">
                <a:solidFill>
                  <a:srgbClr val="15192B"/>
                </a:solidFill>
                <a:latin typeface="Segoe UI"/>
              </a:rPr>
              <a:t>Incumbent EdTech / LMS</a:t>
            </a:r>
            <a:r>
              <a:rPr sz="1350" b="0" i="0">
                <a:solidFill>
                  <a:srgbClr val="5A6072"/>
                </a:solidFill>
                <a:latin typeface="Segoe UI"/>
              </a:rPr>
              <a:t> (Canvas, Blackboard, Coursera, Khan Academy) — delivery infrastructure over hand-built content</a:t>
            </a:r>
          </a:p>
        </p:txBody>
      </p:sp>
      <p:sp>
        <p:nvSpPr>
          <p:cNvPr id="9" name="Oval 8"/>
          <p:cNvSpPr/>
          <p:nvPr/>
        </p:nvSpPr>
        <p:spPr>
          <a:xfrm>
            <a:off x="585216" y="2674620"/>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595753"/>
            <a:ext cx="10820095" cy="323469"/>
          </a:xfrm>
          <a:prstGeom prst="rect">
            <a:avLst/>
          </a:prstGeom>
          <a:noFill/>
        </p:spPr>
        <p:txBody>
          <a:bodyPr wrap="square" lIns="0" rIns="0" tIns="0" bIns="0">
            <a:spAutoFit/>
          </a:bodyPr>
          <a:lstStyle/>
          <a:p>
            <a:r>
              <a:rPr sz="1350" b="1" i="0">
                <a:solidFill>
                  <a:srgbClr val="15192B"/>
                </a:solidFill>
                <a:latin typeface="Segoe UI"/>
              </a:rPr>
              <a:t>AI tutoring startups</a:t>
            </a:r>
            <a:r>
              <a:rPr sz="1350" b="0" i="0">
                <a:solidFill>
                  <a:srgbClr val="5A6072"/>
                </a:solidFill>
                <a:latin typeface="Segoe UI"/>
              </a:rPr>
              <a:t> — conversation layers over existing curricula</a:t>
            </a:r>
          </a:p>
        </p:txBody>
      </p:sp>
      <p:sp>
        <p:nvSpPr>
          <p:cNvPr id="11" name="Oval 10"/>
          <p:cNvSpPr/>
          <p:nvPr/>
        </p:nvSpPr>
        <p:spPr>
          <a:xfrm>
            <a:off x="585216" y="2998089"/>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919222"/>
            <a:ext cx="10820095" cy="323469"/>
          </a:xfrm>
          <a:prstGeom prst="rect">
            <a:avLst/>
          </a:prstGeom>
          <a:noFill/>
        </p:spPr>
        <p:txBody>
          <a:bodyPr wrap="square" lIns="0" rIns="0" tIns="0" bIns="0">
            <a:spAutoFit/>
          </a:bodyPr>
          <a:lstStyle/>
          <a:p>
            <a:r>
              <a:rPr sz="1350" b="1" i="0">
                <a:solidFill>
                  <a:srgbClr val="15192B"/>
                </a:solidFill>
                <a:latin typeface="Segoe UI"/>
              </a:rPr>
              <a:t>Publishers</a:t>
            </a:r>
            <a:r>
              <a:rPr sz="1350" b="0" i="0">
                <a:solidFill>
                  <a:srgbClr val="5A6072"/>
                </a:solidFill>
                <a:latin typeface="Segoe UI"/>
              </a:rPr>
              <a:t> (Pearson, McGraw Hill, Cengage) — own the content, but it's manually produced and static</a:t>
            </a:r>
          </a:p>
        </p:txBody>
      </p:sp>
      <p:sp>
        <p:nvSpPr>
          <p:cNvPr id="13" name="Rectangle 12"/>
          <p:cNvSpPr/>
          <p:nvPr/>
        </p:nvSpPr>
        <p:spPr>
          <a:xfrm>
            <a:off x="566928" y="3270122"/>
            <a:ext cx="50292" cy="698754"/>
          </a:xfrm>
          <a:prstGeom prst="rect">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242690"/>
            <a:ext cx="10746943" cy="790194"/>
          </a:xfrm>
          <a:prstGeom prst="rect">
            <a:avLst/>
          </a:prstGeom>
          <a:noFill/>
        </p:spPr>
        <p:txBody>
          <a:bodyPr wrap="square" lIns="0" rIns="0" tIns="0" bIns="0">
            <a:spAutoFit/>
          </a:bodyPr>
          <a:lstStyle/>
          <a:p>
            <a:r>
              <a:rPr sz="1300" b="0" i="1">
                <a:solidFill>
                  <a:srgbClr val="C2410C"/>
                </a:solidFill>
                <a:latin typeface="Segoe UI"/>
              </a:rPr>
              <a:t>⚠️ TODO: Charles to confirm which competitors actually come up in his conversations. Moved out of the main deck for angels — the named-competitor grid is a VC-diligence artifact, and the differentiation argument is already carried by Slides 2, 3, and 6. Bring it back into the main deck if a specific investor asks.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A2 — Technical architecture</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814959"/>
          </a:xfrm>
          <a:prstGeom prst="rect">
            <a:avLst/>
          </a:prstGeom>
          <a:noFill/>
        </p:spPr>
        <p:txBody>
          <a:bodyPr wrap="square" lIns="0" rIns="0" tIns="0" bIns="0">
            <a:spAutoFit/>
          </a:bodyPr>
          <a:lstStyle/>
          <a:p>
            <a:r>
              <a:rPr sz="1350" b="0" i="0">
                <a:solidFill>
                  <a:srgbClr val="5A6072"/>
                </a:solidFill>
                <a:latin typeface="Segoe UI"/>
              </a:rPr>
              <a:t>Generation pipeline stages: concept map → atomic documents → computed figures (sandboxed execution + independently derived assertions + repair loop) → assessments → typed concept edges → prerequisite edges → embeddings → graph population.</a:t>
            </a:r>
          </a:p>
        </p:txBody>
      </p:sp>
      <p:sp>
        <p:nvSpPr>
          <p:cNvPr id="5" name="TextBox 4"/>
          <p:cNvSpPr txBox="1"/>
          <p:nvPr/>
        </p:nvSpPr>
        <p:spPr>
          <a:xfrm>
            <a:off x="566928" y="1948815"/>
            <a:ext cx="11057839" cy="592074"/>
          </a:xfrm>
          <a:prstGeom prst="rect">
            <a:avLst/>
          </a:prstGeom>
          <a:noFill/>
        </p:spPr>
        <p:txBody>
          <a:bodyPr wrap="square" lIns="0" rIns="0" tIns="0" bIns="0">
            <a:spAutoFit/>
          </a:bodyPr>
          <a:lstStyle/>
          <a:p>
            <a:r>
              <a:rPr sz="1350" b="0" i="0">
                <a:solidFill>
                  <a:srgbClr val="5A6072"/>
                </a:solidFill>
                <a:latin typeface="Segoe UI"/>
              </a:rPr>
              <a:t>Delivery: readiness computed over transitive prerequisite closure against per-concept mastery; multiple concurrent learning paths; goal-directed backward pathfinding.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A3 — Roadmap</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85216" y="121272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133856"/>
            <a:ext cx="10820095" cy="323469"/>
          </a:xfrm>
          <a:prstGeom prst="rect">
            <a:avLst/>
          </a:prstGeom>
          <a:noFill/>
        </p:spPr>
        <p:txBody>
          <a:bodyPr wrap="square" lIns="0" rIns="0" tIns="0" bIns="0">
            <a:spAutoFit/>
          </a:bodyPr>
          <a:lstStyle/>
          <a:p>
            <a:r>
              <a:rPr sz="1350" b="0" i="0">
                <a:solidFill>
                  <a:srgbClr val="5A6072"/>
                </a:solidFill>
                <a:latin typeface="Segoe UI"/>
              </a:rPr>
              <a:t>Template layer for figure generation — the agreed next major build</a:t>
            </a:r>
          </a:p>
        </p:txBody>
      </p:sp>
      <p:sp>
        <p:nvSpPr>
          <p:cNvPr id="6" name="Oval 5"/>
          <p:cNvSpPr/>
          <p:nvPr/>
        </p:nvSpPr>
        <p:spPr>
          <a:xfrm>
            <a:off x="585216" y="1536192"/>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457325"/>
            <a:ext cx="10820095" cy="323469"/>
          </a:xfrm>
          <a:prstGeom prst="rect">
            <a:avLst/>
          </a:prstGeom>
          <a:noFill/>
        </p:spPr>
        <p:txBody>
          <a:bodyPr wrap="square" lIns="0" rIns="0" tIns="0" bIns="0">
            <a:spAutoFit/>
          </a:bodyPr>
          <a:lstStyle/>
          <a:p>
            <a:r>
              <a:rPr sz="1350" b="0" i="0">
                <a:solidFill>
                  <a:srgbClr val="C2410C"/>
                </a:solidFill>
                <a:latin typeface="Segoe UI"/>
              </a:rPr>
              <a:t>⚠️ TODO: remaining 12–18 month milestones, tied to the Use of Funds milestone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A4 — Patent detail</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814959"/>
          </a:xfrm>
          <a:prstGeom prst="rect">
            <a:avLst/>
          </a:prstGeom>
          <a:noFill/>
        </p:spPr>
        <p:txBody>
          <a:bodyPr wrap="square" lIns="0" rIns="0" tIns="0" bIns="0">
            <a:spAutoFit/>
          </a:bodyPr>
          <a:lstStyle/>
          <a:p>
            <a:r>
              <a:rPr sz="1350" b="0" i="0">
                <a:solidFill>
                  <a:srgbClr val="5A6072"/>
                </a:solidFill>
                <a:latin typeface="Segoe UI"/>
              </a:rPr>
              <a:t>Non-provisional App. No. 19/756,145, filed 2026-07-28. Claim Set 1 covers AI-driven knowledge base generation; Claim Set 2 covers transitive-prerequisite adaptive delivery. The two claim sets are independently enforceable and licensable.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A5 — The 1985 thesis: architectural correspondence</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592074"/>
          </a:xfrm>
          <a:prstGeom prst="rect">
            <a:avLst/>
          </a:prstGeom>
          <a:noFill/>
        </p:spPr>
        <p:txBody>
          <a:bodyPr wrap="square" lIns="0" rIns="0" tIns="0" bIns="0">
            <a:spAutoFit/>
          </a:bodyPr>
          <a:lstStyle/>
          <a:p>
            <a:r>
              <a:rPr sz="1350" b="0" i="0">
                <a:solidFill>
                  <a:srgbClr val="C2410C"/>
                </a:solidFill>
                <a:latin typeface="Segoe UI"/>
              </a:rPr>
              <a:t>Source material for the Founder slide. Charles Irvine, </a:t>
            </a:r>
            <a:r>
              <a:rPr sz="1350" b="0" i="1">
                <a:solidFill>
                  <a:srgbClr val="C2410C"/>
                </a:solidFill>
                <a:latin typeface="Segoe UI"/>
              </a:rPr>
              <a:t>The Conceptual Knowledge System (CKS)</a:t>
            </a:r>
            <a:r>
              <a:rPr sz="1350" b="0" i="0">
                <a:solidFill>
                  <a:srgbClr val="C2410C"/>
                </a:solidFill>
                <a:latin typeface="Segoe UI"/>
              </a:rPr>
              <a:t>, master's thesis, University of Kansas, 1985. ⚠️ TODO: confirm exact month; scan in full.</a:t>
            </a:r>
          </a:p>
        </p:txBody>
      </p:sp>
      <p:graphicFrame>
        <p:nvGraphicFramePr>
          <p:cNvPr id="5" name="Table 4"/>
          <p:cNvGraphicFramePr>
            <a:graphicFrameLocks noGrp="1"/>
          </p:cNvGraphicFramePr>
          <p:nvPr/>
        </p:nvGraphicFramePr>
        <p:xfrm>
          <a:off x="566928" y="1725930"/>
          <a:ext cx="11057839" cy="2615184"/>
        </p:xfrm>
        <a:graphic>
          <a:graphicData uri="http://schemas.openxmlformats.org/drawingml/2006/table">
            <a:tbl>
              <a:tblPr firstRow="1">
                <a:tableStyleId>{5C22544A-7EE6-4342-B048-85BDC9FD1C3A}</a:tableStyleId>
              </a:tblPr>
              <a:tblGrid>
                <a:gridCol w="5086605"/>
                <a:gridCol w="5971234"/>
              </a:tblGrid>
              <a:tr h="310896">
                <a:tc>
                  <a:txBody>
                    <a:bodyPr wrap="square"/>
                    <a:lstStyle/>
                    <a:p>
                      <a:r>
                        <a:rPr sz="1100" b="1">
                          <a:solidFill>
                            <a:srgbClr val="15192B"/>
                          </a:solidFill>
                          <a:latin typeface="Segoe UI"/>
                        </a:rPr>
                        <a:t>CKS (1985)</a:t>
                      </a:r>
                    </a:p>
                  </a:txBody>
                  <a:tcPr marL="82296" marR="64008" marT="32004" marB="32004" anchor="ctr">
                    <a:solidFill>
                      <a:srgbClr val="F4F5F9"/>
                    </a:solidFill>
                  </a:tcPr>
                </a:tc>
                <a:tc>
                  <a:txBody>
                    <a:bodyPr wrap="square"/>
                    <a:lstStyle/>
                    <a:p>
                      <a:r>
                        <a:rPr sz="1100" b="1">
                          <a:solidFill>
                            <a:srgbClr val="15192B"/>
                          </a:solidFill>
                          <a:latin typeface="Segoe UI"/>
                        </a:rPr>
                        <a:t>Qlaudia (2026)</a:t>
                      </a:r>
                    </a:p>
                  </a:txBody>
                  <a:tcPr marL="82296" marR="64008" marT="32004" marB="32004" anchor="ctr">
                    <a:solidFill>
                      <a:srgbClr val="F4F5F9"/>
                    </a:solidFill>
                  </a:tcPr>
                </a:tc>
              </a:tr>
              <a:tr h="288036">
                <a:tc>
                  <a:txBody>
                    <a:bodyPr wrap="square"/>
                    <a:lstStyle/>
                    <a:p>
                      <a:r>
                        <a:rPr sz="1100" b="1" i="0">
                          <a:solidFill>
                            <a:srgbClr val="15192B"/>
                          </a:solidFill>
                          <a:latin typeface="Segoe UI"/>
                        </a:rPr>
                        <a:t>Two functions: an acquisition facility and a retrieval facility, over one constructed graph</a:t>
                      </a:r>
                    </a:p>
                  </a:txBody>
                  <a:tcPr marL="82296" marR="64008" marT="32004" marB="32004" anchor="ctr">
                    <a:solidFill>
                      <a:srgbClr val="FFFFFF"/>
                    </a:solidFill>
                  </a:tcPr>
                </a:tc>
                <a:tc>
                  <a:txBody>
                    <a:bodyPr wrap="square"/>
                    <a:lstStyle/>
                    <a:p>
                      <a:r>
                        <a:rPr sz="1100" b="1" i="0">
                          <a:solidFill>
                            <a:srgbClr val="15192B"/>
                          </a:solidFill>
                          <a:latin typeface="Segoe UI"/>
                        </a:rPr>
                        <a:t>Two inventions — KB generation and adaptive delivery — and the patent's two claim sets</a:t>
                      </a:r>
                    </a:p>
                  </a:txBody>
                  <a:tcPr marL="82296" marR="64008" marT="32004" marB="32004" anchor="ctr">
                    <a:solidFill>
                      <a:srgbClr val="FFFFFF"/>
                    </a:solidFill>
                  </a:tcPr>
                </a:tc>
              </a:tr>
              <a:tr h="288036">
                <a:tc>
                  <a:txBody>
                    <a:bodyPr wrap="square"/>
                    <a:lstStyle/>
                    <a:p>
                      <a:r>
                        <a:rPr sz="1100" b="0" i="0">
                          <a:solidFill>
                            <a:srgbClr val="5A6072"/>
                          </a:solidFill>
                          <a:latin typeface="Segoe UI"/>
                        </a:rPr>
                        <a:t>Knowledge base of concepts</a:t>
                      </a:r>
                    </a:p>
                  </a:txBody>
                  <a:tcPr marL="82296" marR="64008" marT="32004" marB="32004" anchor="ctr">
                    <a:solidFill>
                      <a:srgbClr val="FFFFFF"/>
                    </a:solidFill>
                  </a:tcPr>
                </a:tc>
                <a:tc>
                  <a:txBody>
                    <a:bodyPr wrap="square"/>
                    <a:lstStyle/>
                    <a:p>
                      <a:r>
                        <a:rPr sz="1100" b="0" i="0">
                          <a:solidFill>
                            <a:srgbClr val="5A6072"/>
                          </a:solidFill>
                          <a:latin typeface="Consolas"/>
                        </a:rPr>
                        <a:t>Concept</a:t>
                      </a:r>
                      <a:r>
                        <a:rPr sz="1100" b="0" i="0">
                          <a:solidFill>
                            <a:srgbClr val="5A6072"/>
                          </a:solidFill>
                          <a:latin typeface="Segoe UI"/>
                        </a:rPr>
                        <a:t> nodes in Neo4j</a:t>
                      </a:r>
                    </a:p>
                  </a:txBody>
                  <a:tcPr marL="82296" marR="64008" marT="32004" marB="32004" anchor="ctr">
                    <a:solidFill>
                      <a:srgbClr val="FFFFFF"/>
                    </a:solidFill>
                  </a:tcPr>
                </a:tc>
              </a:tr>
              <a:tr h="288036">
                <a:tc>
                  <a:txBody>
                    <a:bodyPr wrap="square"/>
                    <a:lstStyle/>
                    <a:p>
                      <a:r>
                        <a:rPr sz="1100" b="0" i="0">
                          <a:solidFill>
                            <a:srgbClr val="5A6072"/>
                          </a:solidFill>
                          <a:latin typeface="Segoe UI"/>
                        </a:rPr>
                        <a:t>"Logical relations that exist between the concepts"</a:t>
                      </a:r>
                    </a:p>
                  </a:txBody>
                  <a:tcPr marL="82296" marR="64008" marT="32004" marB="32004" anchor="ctr">
                    <a:solidFill>
                      <a:srgbClr val="FFFFFF"/>
                    </a:solidFill>
                  </a:tcPr>
                </a:tc>
                <a:tc>
                  <a:txBody>
                    <a:bodyPr wrap="square"/>
                    <a:lstStyle/>
                    <a:p>
                      <a:r>
                        <a:rPr sz="1100" b="0" i="0">
                          <a:solidFill>
                            <a:srgbClr val="5A6072"/>
                          </a:solidFill>
                          <a:latin typeface="Segoe UI"/>
                        </a:rPr>
                        <a:t>Typed relationship edges + prerequisite edges</a:t>
                      </a:r>
                    </a:p>
                  </a:txBody>
                  <a:tcPr marL="82296" marR="64008" marT="32004" marB="32004" anchor="ctr">
                    <a:solidFill>
                      <a:srgbClr val="FFFFFF"/>
                    </a:solidFill>
                  </a:tcPr>
                </a:tc>
              </a:tr>
              <a:tr h="288036">
                <a:tc>
                  <a:txBody>
                    <a:bodyPr wrap="square"/>
                    <a:lstStyle/>
                    <a:p>
                      <a:r>
                        <a:rPr sz="1100" b="0" i="0">
                          <a:solidFill>
                            <a:srgbClr val="5A6072"/>
                          </a:solidFill>
                          <a:latin typeface="Segoe UI"/>
                        </a:rPr>
                        <a:t>Retrieval facility: "top down examination… according to the logical relations"</a:t>
                      </a:r>
                    </a:p>
                  </a:txBody>
                  <a:tcPr marL="82296" marR="64008" marT="32004" marB="32004" anchor="ctr">
                    <a:solidFill>
                      <a:srgbClr val="FFFFFF"/>
                    </a:solidFill>
                  </a:tcPr>
                </a:tc>
                <a:tc>
                  <a:txBody>
                    <a:bodyPr wrap="square"/>
                    <a:lstStyle/>
                    <a:p>
                      <a:r>
                        <a:rPr sz="1100" b="0" i="0">
                          <a:solidFill>
                            <a:srgbClr val="5A6072"/>
                          </a:solidFill>
                          <a:latin typeface="Segoe UI"/>
                        </a:rPr>
                        <a:t>Graph traversal, prerequisite-ordered learning paths</a:t>
                      </a:r>
                    </a:p>
                  </a:txBody>
                  <a:tcPr marL="82296" marR="64008" marT="32004" marB="32004" anchor="ctr">
                    <a:solidFill>
                      <a:srgbClr val="FFFFFF"/>
                    </a:solidFill>
                  </a:tcPr>
                </a:tc>
              </a:tr>
              <a:tr h="288036">
                <a:tc>
                  <a:txBody>
                    <a:bodyPr wrap="square"/>
                    <a:lstStyle/>
                    <a:p>
                      <a:r>
                        <a:rPr sz="1100" b="0" i="0">
                          <a:solidFill>
                            <a:srgbClr val="5A6072"/>
                          </a:solidFill>
                          <a:latin typeface="Segoe UI"/>
                        </a:rPr>
                        <a:t>Minsky frame formalism</a:t>
                      </a:r>
                    </a:p>
                  </a:txBody>
                  <a:tcPr marL="82296" marR="64008" marT="32004" marB="32004" anchor="ctr">
                    <a:solidFill>
                      <a:srgbClr val="FFFFFF"/>
                    </a:solidFill>
                  </a:tcPr>
                </a:tc>
                <a:tc>
                  <a:txBody>
                    <a:bodyPr wrap="square"/>
                    <a:lstStyle/>
                    <a:p>
                      <a:r>
                        <a:rPr sz="1100" b="0" i="0">
                          <a:solidFill>
                            <a:srgbClr val="5A6072"/>
                          </a:solidFill>
                          <a:latin typeface="Segoe UI"/>
                        </a:rPr>
                        <a:t>Structured concept schema</a:t>
                      </a:r>
                    </a:p>
                  </a:txBody>
                  <a:tcPr marL="82296" marR="64008" marT="32004" marB="32004" anchor="ctr">
                    <a:solidFill>
                      <a:srgbClr val="FFFFFF"/>
                    </a:solidFill>
                  </a:tcPr>
                </a:tc>
              </a:tr>
              <a:tr h="288036">
                <a:tc>
                  <a:txBody>
                    <a:bodyPr wrap="square"/>
                    <a:lstStyle/>
                    <a:p>
                      <a:r>
                        <a:rPr sz="1100" b="1" i="0">
                          <a:solidFill>
                            <a:srgbClr val="15192B"/>
                          </a:solidFill>
                          <a:latin typeface="Segoe UI"/>
                        </a:rPr>
                        <a:t>Acquisition facility: interactive dialog interrogating a human expert</a:t>
                      </a:r>
                    </a:p>
                  </a:txBody>
                  <a:tcPr marL="82296" marR="64008" marT="32004" marB="32004" anchor="ctr">
                    <a:solidFill>
                      <a:srgbClr val="FFFFFF"/>
                    </a:solidFill>
                  </a:tcPr>
                </a:tc>
                <a:tc>
                  <a:txBody>
                    <a:bodyPr wrap="square"/>
                    <a:lstStyle/>
                    <a:p>
                      <a:r>
                        <a:rPr sz="1100" b="1" i="0">
                          <a:solidFill>
                            <a:srgbClr val="15192B"/>
                          </a:solidFill>
                          <a:latin typeface="Segoe UI"/>
                        </a:rPr>
                        <a:t>LLM generation pipeline — the half that was missing</a:t>
                      </a:r>
                    </a:p>
                  </a:txBody>
                  <a:tcPr marL="82296" marR="64008" marT="32004" marB="32004" anchor="ctr">
                    <a:solidFill>
                      <a:srgbClr val="FFFFFF"/>
                    </a:solidFill>
                  </a:tcPr>
                </a:tc>
              </a:tr>
              <a:tr h="288036">
                <a:tc>
                  <a:txBody>
                    <a:bodyPr wrap="square"/>
                    <a:lstStyle/>
                    <a:p>
                      <a:r>
                        <a:rPr sz="1100" b="0" i="0">
                          <a:solidFill>
                            <a:srgbClr val="5A6072"/>
                          </a:solidFill>
                          <a:latin typeface="Segoe UI"/>
                        </a:rPr>
                        <a:t>Proposed as an alternative to printed media, which "imposes unnecessary constraints on the organization of a body of knowledge"</a:t>
                      </a:r>
                    </a:p>
                  </a:txBody>
                  <a:tcPr marL="82296" marR="64008" marT="32004" marB="32004" anchor="ctr">
                    <a:solidFill>
                      <a:srgbClr val="FFFFFF"/>
                    </a:solidFill>
                  </a:tcPr>
                </a:tc>
                <a:tc>
                  <a:txBody>
                    <a:bodyPr wrap="square"/>
                    <a:lstStyle/>
                    <a:p>
                      <a:r>
                        <a:rPr sz="1100" b="0" i="0">
                          <a:solidFill>
                            <a:srgbClr val="5A6072"/>
                          </a:solidFill>
                          <a:latin typeface="Segoe UI"/>
                        </a:rPr>
                        <a:t>Concept graph rather than linear documents</a:t>
                      </a:r>
                    </a:p>
                  </a:txBody>
                  <a:tcPr marL="82296" marR="64008" marT="32004" marB="32004" anchor="ctr">
                    <a:solidFill>
                      <a:srgbClr val="FFFFFF"/>
                    </a:solidFill>
                  </a:tcPr>
                </a:tc>
              </a:tr>
              <a:tr h="288036">
                <a:tc>
                  <a:txBody>
                    <a:bodyPr wrap="square"/>
                    <a:lstStyle/>
                    <a:p>
                      <a:r>
                        <a:rPr sz="1100" b="1" i="0">
                          <a:solidFill>
                            <a:srgbClr val="15192B"/>
                          </a:solidFill>
                          <a:latin typeface="Segoe UI"/>
                        </a:rPr>
                        <a:t>"A small set of conceptual primitives" — all concepts ultimately defined in terms of them</a:t>
                      </a:r>
                    </a:p>
                  </a:txBody>
                  <a:tcPr marL="82296" marR="64008" marT="32004" marB="32004" anchor="ctr">
                    <a:solidFill>
                      <a:srgbClr val="FFFFFF"/>
                    </a:solidFill>
                  </a:tcPr>
                </a:tc>
                <a:tc>
                  <a:txBody>
                    <a:bodyPr wrap="square"/>
                    <a:lstStyle/>
                    <a:p>
                      <a:r>
                        <a:rPr sz="1100" b="1" i="0">
                          <a:solidFill>
                            <a:srgbClr val="15192B"/>
                          </a:solidFill>
                          <a:latin typeface="Segoe UI"/>
                        </a:rPr>
                        <a:t>Not carried forward. Qlaudia has no primitive basis.</a:t>
                      </a:r>
                    </a:p>
                  </a:txBody>
                  <a:tcPr marL="82296" marR="64008" marT="32004" marB="32004"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A6 — The 1985 thesis: key quotations</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5336895" cy="329069"/>
          </a:xfrm>
          <a:prstGeom prst="rect">
            <a:avLst/>
          </a:prstGeom>
          <a:noFill/>
        </p:spPr>
        <p:txBody>
          <a:bodyPr wrap="square" lIns="0" rIns="0" tIns="0" bIns="0">
            <a:spAutoFit/>
          </a:bodyPr>
          <a:lstStyle/>
          <a:p>
            <a:r>
              <a:rPr sz="1106" b="1" i="0">
                <a:solidFill>
                  <a:srgbClr val="15192B"/>
                </a:solidFill>
                <a:latin typeface="Segoe UI"/>
              </a:rPr>
              <a:t>Verify against the original before use.</a:t>
            </a:r>
          </a:p>
        </p:txBody>
      </p:sp>
      <p:sp>
        <p:nvSpPr>
          <p:cNvPr id="5" name="TextBox 4"/>
          <p:cNvSpPr txBox="1"/>
          <p:nvPr/>
        </p:nvSpPr>
        <p:spPr>
          <a:xfrm>
            <a:off x="566928" y="1462925"/>
            <a:ext cx="5336895" cy="329069"/>
          </a:xfrm>
          <a:prstGeom prst="rect">
            <a:avLst/>
          </a:prstGeom>
          <a:noFill/>
        </p:spPr>
        <p:txBody>
          <a:bodyPr wrap="square" lIns="0" rIns="0" tIns="0" bIns="0">
            <a:spAutoFit/>
          </a:bodyPr>
          <a:lstStyle/>
          <a:p>
            <a:r>
              <a:rPr sz="1106" b="1" i="0">
                <a:solidFill>
                  <a:srgbClr val="15192B"/>
                </a:solidFill>
                <a:latin typeface="Segoe UI"/>
              </a:rPr>
              <a:t>The two that carry the Founder slide:</a:t>
            </a:r>
          </a:p>
        </p:txBody>
      </p:sp>
      <p:sp>
        <p:nvSpPr>
          <p:cNvPr id="6" name="Oval 5"/>
          <p:cNvSpPr/>
          <p:nvPr/>
        </p:nvSpPr>
        <p:spPr>
          <a:xfrm>
            <a:off x="585216" y="185666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791995"/>
            <a:ext cx="5099151" cy="831646"/>
          </a:xfrm>
          <a:prstGeom prst="rect">
            <a:avLst/>
          </a:prstGeom>
          <a:noFill/>
        </p:spPr>
        <p:txBody>
          <a:bodyPr wrap="square" lIns="0" rIns="0" tIns="0" bIns="0">
            <a:spAutoFit/>
          </a:bodyPr>
          <a:lstStyle/>
          <a:p>
            <a:r>
              <a:rPr sz="1106" b="0" i="0">
                <a:solidFill>
                  <a:srgbClr val="5A6072"/>
                </a:solidFill>
                <a:latin typeface="Segoe UI"/>
              </a:rPr>
              <a:t>Abstract, </a:t>
            </a:r>
            <a:r>
              <a:rPr sz="1106" b="0" i="1">
                <a:solidFill>
                  <a:srgbClr val="5A6072"/>
                </a:solidFill>
                <a:latin typeface="Segoe UI"/>
              </a:rPr>
              <a:t>what the system was</a:t>
            </a:r>
            <a:r>
              <a:rPr sz="1106" b="0" i="0">
                <a:solidFill>
                  <a:srgbClr val="5A6072"/>
                </a:solidFill>
                <a:latin typeface="Segoe UI"/>
              </a:rPr>
              <a:t>: </a:t>
            </a:r>
            <a:r>
              <a:rPr sz="1106" b="0" i="1">
                <a:solidFill>
                  <a:srgbClr val="5A6072"/>
                </a:solidFill>
                <a:latin typeface="Segoe UI"/>
              </a:rPr>
              <a:t>"Specifically, the program has two intended functions: as an interactive knowledge acquisition facility and, secondly, as an information retrieval facility."</a:t>
            </a:r>
          </a:p>
        </p:txBody>
      </p:sp>
      <p:sp>
        <p:nvSpPr>
          <p:cNvPr id="8" name="Oval 7"/>
          <p:cNvSpPr/>
          <p:nvPr/>
        </p:nvSpPr>
        <p:spPr>
          <a:xfrm>
            <a:off x="585216" y="268831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23642"/>
            <a:ext cx="5099151" cy="648881"/>
          </a:xfrm>
          <a:prstGeom prst="rect">
            <a:avLst/>
          </a:prstGeom>
          <a:noFill/>
        </p:spPr>
        <p:txBody>
          <a:bodyPr wrap="square" lIns="0" rIns="0" tIns="0" bIns="0">
            <a:spAutoFit/>
          </a:bodyPr>
          <a:lstStyle/>
          <a:p>
            <a:r>
              <a:rPr sz="1106" b="0" i="0">
                <a:solidFill>
                  <a:srgbClr val="5A6072"/>
                </a:solidFill>
                <a:latin typeface="Segoe UI"/>
              </a:rPr>
              <a:t>Abstract, </a:t>
            </a:r>
            <a:r>
              <a:rPr sz="1106" b="0" i="1">
                <a:solidFill>
                  <a:srgbClr val="5A6072"/>
                </a:solidFill>
                <a:latin typeface="Segoe UI"/>
              </a:rPr>
              <a:t>how acquisition worked</a:t>
            </a:r>
            <a:r>
              <a:rPr sz="1106" b="0" i="0">
                <a:solidFill>
                  <a:srgbClr val="5A6072"/>
                </a:solidFill>
                <a:latin typeface="Segoe UI"/>
              </a:rPr>
              <a:t>: </a:t>
            </a:r>
            <a:r>
              <a:rPr sz="1106" b="0" i="1">
                <a:solidFill>
                  <a:srgbClr val="5A6072"/>
                </a:solidFill>
                <a:latin typeface="Segoe UI"/>
              </a:rPr>
              <a:t>"While engaged in interactive dialog with a user, CKS's acquisition facility attempts to acquire the concepts which constitute the user's knowledge."</a:t>
            </a:r>
          </a:p>
        </p:txBody>
      </p:sp>
      <p:sp>
        <p:nvSpPr>
          <p:cNvPr id="10" name="TextBox 9"/>
          <p:cNvSpPr txBox="1"/>
          <p:nvPr/>
        </p:nvSpPr>
        <p:spPr>
          <a:xfrm>
            <a:off x="566928" y="3272523"/>
            <a:ext cx="5336895" cy="329069"/>
          </a:xfrm>
          <a:prstGeom prst="rect">
            <a:avLst/>
          </a:prstGeom>
          <a:noFill/>
        </p:spPr>
        <p:txBody>
          <a:bodyPr wrap="square" lIns="0" rIns="0" tIns="0" bIns="0">
            <a:spAutoFit/>
          </a:bodyPr>
          <a:lstStyle/>
          <a:p>
            <a:r>
              <a:rPr sz="1106" b="1" i="0">
                <a:solidFill>
                  <a:srgbClr val="15192B"/>
                </a:solidFill>
                <a:latin typeface="Segoe UI"/>
              </a:rPr>
              <a:t>Supporting:</a:t>
            </a:r>
          </a:p>
        </p:txBody>
      </p:sp>
      <p:sp>
        <p:nvSpPr>
          <p:cNvPr id="11" name="Oval 10"/>
          <p:cNvSpPr/>
          <p:nvPr/>
        </p:nvSpPr>
        <p:spPr>
          <a:xfrm>
            <a:off x="585216" y="366626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3601593"/>
            <a:ext cx="5099151" cy="648881"/>
          </a:xfrm>
          <a:prstGeom prst="rect">
            <a:avLst/>
          </a:prstGeom>
          <a:noFill/>
        </p:spPr>
        <p:txBody>
          <a:bodyPr wrap="square" lIns="0" rIns="0" tIns="0" bIns="0">
            <a:spAutoFit/>
          </a:bodyPr>
          <a:lstStyle/>
          <a:p>
            <a:r>
              <a:rPr sz="1106" b="0" i="0">
                <a:solidFill>
                  <a:srgbClr val="5A6072"/>
                </a:solidFill>
                <a:latin typeface="Segoe UI"/>
              </a:rPr>
              <a:t>Abstract: </a:t>
            </a:r>
            <a:r>
              <a:rPr sz="1106" b="0" i="1">
                <a:solidFill>
                  <a:srgbClr val="5A6072"/>
                </a:solidFill>
                <a:latin typeface="Segoe UI"/>
              </a:rPr>
              <a:t>"The retrieval facility serves the complementary function of allowing the traversal of a knowledge base that has been encoded through interaction with CKS."</a:t>
            </a:r>
          </a:p>
        </p:txBody>
      </p:sp>
      <p:sp>
        <p:nvSpPr>
          <p:cNvPr id="13" name="Oval 12"/>
          <p:cNvSpPr/>
          <p:nvPr/>
        </p:nvSpPr>
        <p:spPr>
          <a:xfrm>
            <a:off x="585216" y="4315145"/>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250474"/>
            <a:ext cx="5099151" cy="831646"/>
          </a:xfrm>
          <a:prstGeom prst="rect">
            <a:avLst/>
          </a:prstGeom>
          <a:noFill/>
        </p:spPr>
        <p:txBody>
          <a:bodyPr wrap="square" lIns="0" rIns="0" tIns="0" bIns="0">
            <a:spAutoFit/>
          </a:bodyPr>
          <a:lstStyle/>
          <a:p>
            <a:r>
              <a:rPr sz="1106" b="0" i="0">
                <a:solidFill>
                  <a:srgbClr val="5A6072"/>
                </a:solidFill>
                <a:latin typeface="Segoe UI"/>
              </a:rPr>
              <a:t>Abstract, on guidance: </a:t>
            </a:r>
            <a:r>
              <a:rPr sz="1106" b="0" i="1">
                <a:solidFill>
                  <a:srgbClr val="5A6072"/>
                </a:solidFill>
                <a:latin typeface="Segoe UI"/>
              </a:rPr>
              <a:t>"The knowledge base serves the guidance function by providing a set of patterns which enable the program to anticipate the organization of the incoming information."</a:t>
            </a:r>
          </a:p>
        </p:txBody>
      </p:sp>
      <p:sp>
        <p:nvSpPr>
          <p:cNvPr id="15" name="Oval 14"/>
          <p:cNvSpPr/>
          <p:nvPr/>
        </p:nvSpPr>
        <p:spPr>
          <a:xfrm>
            <a:off x="585216" y="5146791"/>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5082120"/>
            <a:ext cx="5099151" cy="1014412"/>
          </a:xfrm>
          <a:prstGeom prst="rect">
            <a:avLst/>
          </a:prstGeom>
          <a:noFill/>
        </p:spPr>
        <p:txBody>
          <a:bodyPr wrap="square" lIns="0" rIns="0" tIns="0" bIns="0">
            <a:spAutoFit/>
          </a:bodyPr>
          <a:lstStyle/>
          <a:p>
            <a:r>
              <a:rPr sz="1106" b="0" i="0">
                <a:solidFill>
                  <a:srgbClr val="5A6072"/>
                </a:solidFill>
                <a:latin typeface="Segoe UI"/>
              </a:rPr>
              <a:t>p. iii: </a:t>
            </a:r>
            <a:r>
              <a:rPr sz="1106" b="0" i="1">
                <a:solidFill>
                  <a:srgbClr val="5A6072"/>
                </a:solidFill>
                <a:latin typeface="Segoe UI"/>
              </a:rPr>
              <a:t>"The acquisition facility does succeed in the top down acquisition of a set of concepts. The retrieval facility… allows the top down examination of an appropriately encoded set of concepts according to the logical relations that exist between the concepts."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A6 — The 1985 thesis: key quotations  (cont.)</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85216" y="119852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133856"/>
            <a:ext cx="5099151" cy="1014412"/>
          </a:xfrm>
          <a:prstGeom prst="rect">
            <a:avLst/>
          </a:prstGeom>
          <a:noFill/>
        </p:spPr>
        <p:txBody>
          <a:bodyPr wrap="square" lIns="0" rIns="0" tIns="0" bIns="0">
            <a:spAutoFit/>
          </a:bodyPr>
          <a:lstStyle/>
          <a:p>
            <a:r>
              <a:rPr sz="1106" b="0" i="0">
                <a:solidFill>
                  <a:srgbClr val="5A6072"/>
                </a:solidFill>
                <a:latin typeface="Segoe UI"/>
              </a:rPr>
              <a:t>§1.3: </a:t>
            </a:r>
            <a:r>
              <a:rPr sz="1106" b="0" i="1">
                <a:solidFill>
                  <a:srgbClr val="5A6072"/>
                </a:solidFill>
                <a:latin typeface="Segoe UI"/>
              </a:rPr>
              <a:t>"It is hypothesized that a system similar in principle to the one described would in many circumstances be superior to a strict written language representation of knowledge which imposes unnecessary constraints on the organization of a body of knowledge."</a:t>
            </a:r>
          </a:p>
        </p:txBody>
      </p:sp>
      <p:sp>
        <p:nvSpPr>
          <p:cNvPr id="6" name="Oval 5"/>
          <p:cNvSpPr/>
          <p:nvPr/>
        </p:nvSpPr>
        <p:spPr>
          <a:xfrm>
            <a:off x="585216" y="2212939"/>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148268"/>
            <a:ext cx="5099151" cy="648881"/>
          </a:xfrm>
          <a:prstGeom prst="rect">
            <a:avLst/>
          </a:prstGeom>
          <a:noFill/>
        </p:spPr>
        <p:txBody>
          <a:bodyPr wrap="square" lIns="0" rIns="0" tIns="0" bIns="0">
            <a:spAutoFit/>
          </a:bodyPr>
          <a:lstStyle/>
          <a:p>
            <a:r>
              <a:rPr sz="1106" b="0" i="0">
                <a:solidFill>
                  <a:srgbClr val="5A6072"/>
                </a:solidFill>
                <a:latin typeface="Segoe UI"/>
              </a:rPr>
              <a:t>§1.2: </a:t>
            </a:r>
            <a:r>
              <a:rPr sz="1106" b="0" i="1">
                <a:solidFill>
                  <a:srgbClr val="5A6072"/>
                </a:solidFill>
                <a:latin typeface="Segoe UI"/>
              </a:rPr>
              <a:t>"…might the computer serve to enrich the life of the individual? The author believes in the viability of this prospect."</a:t>
            </a:r>
          </a:p>
        </p:txBody>
      </p:sp>
      <p:sp>
        <p:nvSpPr>
          <p:cNvPr id="8" name="TextBox 7"/>
          <p:cNvSpPr txBox="1"/>
          <p:nvPr/>
        </p:nvSpPr>
        <p:spPr>
          <a:xfrm>
            <a:off x="566928" y="2797149"/>
            <a:ext cx="5336895" cy="329069"/>
          </a:xfrm>
          <a:prstGeom prst="rect">
            <a:avLst/>
          </a:prstGeom>
          <a:noFill/>
        </p:spPr>
        <p:txBody>
          <a:bodyPr wrap="square" lIns="0" rIns="0" tIns="0" bIns="0">
            <a:spAutoFit/>
          </a:bodyPr>
          <a:lstStyle/>
          <a:p>
            <a:r>
              <a:rPr sz="1106" b="1" i="0">
                <a:solidFill>
                  <a:srgbClr val="15192B"/>
                </a:solidFill>
                <a:latin typeface="Segoe UI"/>
              </a:rPr>
              <a:t>Accurate but do not put on a slide:</a:t>
            </a:r>
          </a:p>
        </p:txBody>
      </p:sp>
      <p:sp>
        <p:nvSpPr>
          <p:cNvPr id="9" name="Oval 8"/>
          <p:cNvSpPr/>
          <p:nvPr/>
        </p:nvSpPr>
        <p:spPr>
          <a:xfrm>
            <a:off x="585216" y="3190890"/>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3126219"/>
            <a:ext cx="5099151" cy="1379943"/>
          </a:xfrm>
          <a:prstGeom prst="rect">
            <a:avLst/>
          </a:prstGeom>
          <a:noFill/>
        </p:spPr>
        <p:txBody>
          <a:bodyPr wrap="square" lIns="0" rIns="0" tIns="0" bIns="0">
            <a:spAutoFit/>
          </a:bodyPr>
          <a:lstStyle/>
          <a:p>
            <a:r>
              <a:rPr sz="1106" b="0" i="0">
                <a:solidFill>
                  <a:srgbClr val="5A6072"/>
                </a:solidFill>
                <a:latin typeface="Segoe UI"/>
              </a:rPr>
              <a:t>p. iii: </a:t>
            </a:r>
            <a:r>
              <a:rPr sz="1106" b="0" i="1">
                <a:solidFill>
                  <a:srgbClr val="5A6072"/>
                </a:solidFill>
                <a:latin typeface="Segoe UI"/>
              </a:rPr>
              <a:t>"The user interface in general is quite terse and requires a knowledge of system details which could not normally be assumed. The program uses untried methods and is still in an experimental state."</a:t>
            </a:r>
            <a:r>
              <a:rPr sz="1106" b="0" i="0">
                <a:solidFill>
                  <a:srgbClr val="5A6072"/>
                </a:solidFill>
                <a:latin typeface="Segoe UI"/>
              </a:rPr>
              <a:t> — a true statement of the limitation, but it reads as a UI complaint rather than as the acquisition ceiling, and an audience has to be told what it means. Show the mechanism quote instead and let them infer it.</a:t>
            </a:r>
          </a:p>
        </p:txBody>
      </p:sp>
      <p:sp>
        <p:nvSpPr>
          <p:cNvPr id="11" name="TextBox 10"/>
          <p:cNvSpPr txBox="1"/>
          <p:nvPr/>
        </p:nvSpPr>
        <p:spPr>
          <a:xfrm>
            <a:off x="566928" y="4506163"/>
            <a:ext cx="5336895" cy="1242898"/>
          </a:xfrm>
          <a:prstGeom prst="rect">
            <a:avLst/>
          </a:prstGeom>
          <a:noFill/>
        </p:spPr>
        <p:txBody>
          <a:bodyPr wrap="square" lIns="0" rIns="0" tIns="0" bIns="0">
            <a:spAutoFit/>
          </a:bodyPr>
          <a:lstStyle/>
          <a:p>
            <a:r>
              <a:rPr sz="1106" b="1" i="0">
                <a:solidFill>
                  <a:srgbClr val="15192B"/>
                </a:solidFill>
                <a:latin typeface="Segoe UI"/>
              </a:rPr>
              <a:t>On conceptual primitives.</a:t>
            </a:r>
            <a:r>
              <a:rPr sz="1106" b="0" i="0">
                <a:solidFill>
                  <a:srgbClr val="5A6072"/>
                </a:solidFill>
                <a:latin typeface="Segoe UI"/>
              </a:rPr>
              <a:t> CKS also held that all encoded concepts must ultimately be defined in terms of a small set of conceptual primitives (</a:t>
            </a:r>
            <a:r>
              <a:rPr sz="1106" b="0" i="1">
                <a:solidFill>
                  <a:srgbClr val="5A6072"/>
                </a:solidFill>
                <a:latin typeface="Segoe UI"/>
              </a:rPr>
              <a:t>"…another which consists of a small set of conceptual primitives"</a:t>
            </a:r>
            <a:r>
              <a:rPr sz="1106" b="0" i="0">
                <a:solidFill>
                  <a:srgbClr val="5A6072"/>
                </a:solidFill>
                <a:latin typeface="Segoe UI"/>
              </a:rPr>
              <a:t>). Kept here for the record only — see the warning below. It is not Qlaudia's architecture and should stay out of the pitch.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A6 — The 1985 thesis: key quotations  (cont.)</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61288"/>
            <a:ext cx="50292" cy="698754"/>
          </a:xfrm>
          <a:prstGeom prst="rect">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133856"/>
            <a:ext cx="10746943" cy="790194"/>
          </a:xfrm>
          <a:prstGeom prst="rect">
            <a:avLst/>
          </a:prstGeom>
          <a:noFill/>
        </p:spPr>
        <p:txBody>
          <a:bodyPr wrap="square" lIns="0" rIns="0" tIns="0" bIns="0">
            <a:spAutoFit/>
          </a:bodyPr>
          <a:lstStyle/>
          <a:p>
            <a:r>
              <a:rPr sz="1300" b="1" i="1">
                <a:solidFill>
                  <a:srgbClr val="5A6072"/>
                </a:solidFill>
                <a:latin typeface="Segoe UI"/>
              </a:rPr>
              <a:t>Note on the last quotation.</a:t>
            </a:r>
            <a:r>
              <a:rPr sz="1300" b="0" i="1">
                <a:solidFill>
                  <a:srgbClr val="5A6072"/>
                </a:solidFill>
                <a:latin typeface="Segoe UI"/>
              </a:rPr>
              <a:t> It is the mission statement of this company, written in 1985. If there is a closing line for the whole pitch, it may be that sentence — read aloud from the original, then: </a:t>
            </a:r>
            <a:r>
              <a:rPr sz="1300" b="0" i="1">
                <a:solidFill>
                  <a:srgbClr val="5A6072"/>
                </a:solidFill>
                <a:latin typeface="Segoe UI"/>
              </a:rPr>
              <a:t>"I still believe it. Now it's buildable."</a:t>
            </a:r>
            <a:r>
              <a:rPr sz="1300" b="0" i="1">
                <a:solidFill>
                  <a:srgbClr val="5A6072"/>
                </a:solidFill>
                <a:latin typeface="Segoe UI"/>
              </a:rPr>
              <a:t> Use once, at the end, and don't explain it afterward.</a:t>
            </a:r>
          </a:p>
        </p:txBody>
      </p:sp>
      <p:sp>
        <p:nvSpPr>
          <p:cNvPr id="6" name="TextBox 5"/>
          <p:cNvSpPr txBox="1"/>
          <p:nvPr/>
        </p:nvSpPr>
        <p:spPr>
          <a:xfrm>
            <a:off x="566928" y="1924050"/>
            <a:ext cx="11057839" cy="1483614"/>
          </a:xfrm>
          <a:prstGeom prst="rect">
            <a:avLst/>
          </a:prstGeom>
          <a:noFill/>
        </p:spPr>
        <p:txBody>
          <a:bodyPr wrap="square" lIns="0" rIns="0" tIns="0" bIns="0">
            <a:spAutoFit/>
          </a:bodyPr>
          <a:lstStyle/>
          <a:p>
            <a:r>
              <a:rPr sz="1350" b="1" i="0">
                <a:solidFill>
                  <a:srgbClr val="15192B"/>
                </a:solidFill>
                <a:latin typeface="Segoe UI"/>
              </a:rPr>
              <a:t>The primitives idea is NOT in Qlaudia — do not claim otherwise.</a:t>
            </a:r>
            <a:r>
              <a:rPr sz="1350" b="0" i="0">
                <a:solidFill>
                  <a:srgbClr val="5A6072"/>
                </a:solidFill>
                <a:latin typeface="Segoe UI"/>
              </a:rPr>
              <a:t> CKS rested on a closed basis: a small set of conceptual primitives in terms of which every encoded concept had ultimately to be defined. Qlaudia does the opposite. </a:t>
            </a:r>
            <a:r>
              <a:rPr sz="1350" b="0" i="0">
                <a:solidFill>
                  <a:srgbClr val="5A6072"/>
                </a:solidFill>
                <a:latin typeface="Consolas"/>
              </a:rPr>
              <a:t>step4_edges.py</a:t>
            </a:r>
            <a:r>
              <a:rPr sz="1350" b="0" i="0">
                <a:solidFill>
                  <a:srgbClr val="5A6072"/>
                </a:solidFill>
                <a:latin typeface="Segoe UI"/>
              </a:rPr>
              <a:t> has the LLM generate a fresh, domain-specific relationship vocabulary per subject, explicitly preferring specificity (</a:t>
            </a:r>
            <a:r>
              <a:rPr sz="1350" b="0" i="0">
                <a:solidFill>
                  <a:srgbClr val="5A6072"/>
                </a:solidFill>
                <a:latin typeface="Consolas"/>
              </a:rPr>
              <a:t>TRANSFERS_POWER_TO</a:t>
            </a:r>
            <a:r>
              <a:rPr sz="1350" b="0" i="0">
                <a:solidFill>
                  <a:srgbClr val="5A6072"/>
                </a:solidFill>
                <a:latin typeface="Segoe UI"/>
              </a:rPr>
              <a:t>, not </a:t>
            </a:r>
            <a:r>
              <a:rPr sz="1350" b="0" i="0">
                <a:solidFill>
                  <a:srgbClr val="5A6072"/>
                </a:solidFill>
                <a:latin typeface="Consolas"/>
              </a:rPr>
              <a:t>RELATED_TO</a:t>
            </a:r>
            <a:r>
              <a:rPr sz="1350" b="0" i="0">
                <a:solidFill>
                  <a:srgbClr val="5A6072"/>
                </a:solidFill>
                <a:latin typeface="Segoe UI"/>
              </a:rPr>
              <a:t>). The only closed set in the system is a six-value </a:t>
            </a:r>
            <a:r>
              <a:rPr sz="1350" b="0" i="0">
                <a:solidFill>
                  <a:srgbClr val="5A6072"/>
                </a:solidFill>
                <a:latin typeface="Consolas"/>
              </a:rPr>
              <a:t>archetype</a:t>
            </a:r>
            <a:r>
              <a:rPr sz="1350" b="0" i="0">
                <a:solidFill>
                  <a:srgbClr val="5A6072"/>
                </a:solidFill>
                <a:latin typeface="Segoe UI"/>
              </a:rPr>
              <a:t> tag — functional, hierarchical, causal, spatial, temporal, safety — which </a:t>
            </a:r>
            <a:r>
              <a:rPr sz="1350" b="0" i="1">
                <a:solidFill>
                  <a:srgbClr val="5A6072"/>
                </a:solidFill>
                <a:latin typeface="Segoe UI"/>
              </a:rPr>
              <a:t>classifies</a:t>
            </a:r>
            <a:r>
              <a:rPr sz="1350" b="0" i="0">
                <a:solidFill>
                  <a:srgbClr val="5A6072"/>
                </a:solidFill>
                <a:latin typeface="Segoe UI"/>
              </a:rPr>
              <a:t> relations rather than serving as a basis from which concepts are composed.</a:t>
            </a:r>
          </a:p>
        </p:txBody>
      </p:sp>
      <p:sp>
        <p:nvSpPr>
          <p:cNvPr id="7" name="TextBox 6"/>
          <p:cNvSpPr txBox="1"/>
          <p:nvPr/>
        </p:nvSpPr>
        <p:spPr>
          <a:xfrm>
            <a:off x="566928" y="3407664"/>
            <a:ext cx="11057839" cy="1037844"/>
          </a:xfrm>
          <a:prstGeom prst="rect">
            <a:avLst/>
          </a:prstGeom>
          <a:noFill/>
        </p:spPr>
        <p:txBody>
          <a:bodyPr wrap="square" lIns="0" rIns="0" tIns="0" bIns="0">
            <a:spAutoFit/>
          </a:bodyPr>
          <a:lstStyle/>
          <a:p>
            <a:r>
              <a:rPr sz="1350" b="0" i="0">
                <a:solidFill>
                  <a:srgbClr val="5A6072"/>
                </a:solidFill>
                <a:latin typeface="Segoe UI"/>
              </a:rPr>
              <a:t>The Substance/Relation/Change/Extent framework in </a:t>
            </a:r>
            <a:r>
              <a:rPr sz="1350" b="0" i="0">
                <a:solidFill>
                  <a:srgbClr val="5A6072"/>
                </a:solidFill>
                <a:latin typeface="Consolas"/>
              </a:rPr>
              <a:t>patent_application/The_Four_Emergent_Realities.md</a:t>
            </a:r>
            <a:r>
              <a:rPr sz="1350" b="0" i="0">
                <a:solidFill>
                  <a:srgbClr val="5A6072"/>
                </a:solidFill>
                <a:latin typeface="Segoe UI"/>
              </a:rPr>
              <a:t> is a separate philosophical document. It is </a:t>
            </a:r>
            <a:r>
              <a:rPr sz="1350" b="1" i="0">
                <a:solidFill>
                  <a:srgbClr val="15192B"/>
                </a:solidFill>
                <a:latin typeface="Segoe UI"/>
              </a:rPr>
              <a:t>not implemented</a:t>
            </a:r>
            <a:r>
              <a:rPr sz="1350" b="0" i="0">
                <a:solidFill>
                  <a:srgbClr val="5A6072"/>
                </a:solidFill>
                <a:latin typeface="Segoe UI"/>
              </a:rPr>
              <a:t>. Treat it as a research direction, never as a shipped capability — an overclaim here is the kind an even mildly technical investor can disprove by reading the schema, and it would put every other claim in the deck in question.</a:t>
            </a:r>
          </a:p>
        </p:txBody>
      </p:sp>
      <p:sp>
        <p:nvSpPr>
          <p:cNvPr id="8" name="TextBox 7"/>
          <p:cNvSpPr txBox="1"/>
          <p:nvPr/>
        </p:nvSpPr>
        <p:spPr>
          <a:xfrm>
            <a:off x="566928" y="4445508"/>
            <a:ext cx="11057839" cy="814959"/>
          </a:xfrm>
          <a:prstGeom prst="rect">
            <a:avLst/>
          </a:prstGeom>
          <a:noFill/>
        </p:spPr>
        <p:txBody>
          <a:bodyPr wrap="square" lIns="0" rIns="0" tIns="0" bIns="0">
            <a:spAutoFit/>
          </a:bodyPr>
          <a:lstStyle/>
          <a:p>
            <a:r>
              <a:rPr sz="1350" b="1" i="0">
                <a:solidFill>
                  <a:srgbClr val="15192B"/>
                </a:solidFill>
                <a:latin typeface="Segoe UI"/>
              </a:rPr>
              <a:t>On the thesis committee.</a:t>
            </a:r>
            <a:r>
              <a:rPr sz="1350" b="0" i="0">
                <a:solidFill>
                  <a:srgbClr val="5A6072"/>
                </a:solidFill>
                <a:latin typeface="Segoe UI"/>
              </a:rPr>
              <a:t> Dr. Appie van de Liefvoort moved to UMKC in August 1987 and is emeritus there now. Noted only because a diligence search on his name surfaces UMKC and could look like a mismatch with the University of Kansas — the dates rule it out.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A7 — Market sources</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85216" y="119852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133856"/>
            <a:ext cx="5099151" cy="648881"/>
          </a:xfrm>
          <a:prstGeom prst="rect">
            <a:avLst/>
          </a:prstGeom>
          <a:noFill/>
        </p:spPr>
        <p:txBody>
          <a:bodyPr wrap="square" lIns="0" rIns="0" tIns="0" bIns="0">
            <a:spAutoFit/>
          </a:bodyPr>
          <a:lstStyle/>
          <a:p>
            <a:r>
              <a:rPr sz="1106" b="0" i="0">
                <a:solidFill>
                  <a:srgbClr val="5A6072"/>
                </a:solidFill>
                <a:latin typeface="Segoe UI"/>
              </a:rPr>
              <a:t>HolonIQ, </a:t>
            </a:r>
            <a:r>
              <a:rPr sz="1106" b="0" i="1">
                <a:solidFill>
                  <a:srgbClr val="5A6072"/>
                </a:solidFill>
                <a:latin typeface="Segoe UI"/>
              </a:rPr>
              <a:t>$10 Trillion Global Education Market in 2030</a:t>
            </a:r>
            <a:r>
              <a:rPr sz="1106" b="0" i="0">
                <a:solidFill>
                  <a:srgbClr val="5A6072"/>
                </a:solidFill>
                <a:latin typeface="Segoe UI"/>
              </a:rPr>
              <a:t> — https://www.holoniq.com/notes/10-trillion-global-education-market-in-2030</a:t>
            </a:r>
          </a:p>
        </p:txBody>
      </p:sp>
      <p:sp>
        <p:nvSpPr>
          <p:cNvPr id="6" name="Oval 5"/>
          <p:cNvSpPr/>
          <p:nvPr/>
        </p:nvSpPr>
        <p:spPr>
          <a:xfrm>
            <a:off x="585216" y="1847408"/>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782737"/>
            <a:ext cx="5099151" cy="648881"/>
          </a:xfrm>
          <a:prstGeom prst="rect">
            <a:avLst/>
          </a:prstGeom>
          <a:noFill/>
        </p:spPr>
        <p:txBody>
          <a:bodyPr wrap="square" lIns="0" rIns="0" tIns="0" bIns="0">
            <a:spAutoFit/>
          </a:bodyPr>
          <a:lstStyle/>
          <a:p>
            <a:r>
              <a:rPr sz="1106" b="0" i="0">
                <a:solidFill>
                  <a:srgbClr val="5A6072"/>
                </a:solidFill>
                <a:latin typeface="Segoe UI"/>
              </a:rPr>
              <a:t>HolonIQ, </a:t>
            </a:r>
            <a:r>
              <a:rPr sz="1106" b="0" i="1">
                <a:solidFill>
                  <a:srgbClr val="5A6072"/>
                </a:solidFill>
                <a:latin typeface="Segoe UI"/>
              </a:rPr>
              <a:t>Global EdTech market to reach $404B by 2025</a:t>
            </a:r>
            <a:r>
              <a:rPr sz="1106" b="0" i="0">
                <a:solidFill>
                  <a:srgbClr val="5A6072"/>
                </a:solidFill>
                <a:latin typeface="Segoe UI"/>
              </a:rPr>
              <a:t> — https://www.holoniq.com/notes/global-education-technology-market-to-reach-404b-by-2025</a:t>
            </a:r>
          </a:p>
        </p:txBody>
      </p:sp>
      <p:sp>
        <p:nvSpPr>
          <p:cNvPr id="8" name="Oval 7"/>
          <p:cNvSpPr/>
          <p:nvPr/>
        </p:nvSpPr>
        <p:spPr>
          <a:xfrm>
            <a:off x="585216" y="2496289"/>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431618"/>
            <a:ext cx="5099151" cy="648881"/>
          </a:xfrm>
          <a:prstGeom prst="rect">
            <a:avLst/>
          </a:prstGeom>
          <a:noFill/>
        </p:spPr>
        <p:txBody>
          <a:bodyPr wrap="square" lIns="0" rIns="0" tIns="0" bIns="0">
            <a:spAutoFit/>
          </a:bodyPr>
          <a:lstStyle/>
          <a:p>
            <a:r>
              <a:rPr sz="1106" b="0" i="0">
                <a:solidFill>
                  <a:srgbClr val="5A6072"/>
                </a:solidFill>
                <a:latin typeface="Segoe UI"/>
              </a:rPr>
              <a:t>HolonIQ, </a:t>
            </a:r>
            <a:r>
              <a:rPr sz="1106" b="0" i="1">
                <a:solidFill>
                  <a:srgbClr val="5A6072"/>
                </a:solidFill>
                <a:latin typeface="Segoe UI"/>
              </a:rPr>
              <a:t>The Size &amp; Shape of the Global Education Market</a:t>
            </a:r>
            <a:r>
              <a:rPr sz="1106" b="0" i="0">
                <a:solidFill>
                  <a:srgbClr val="5A6072"/>
                </a:solidFill>
                <a:latin typeface="Segoe UI"/>
              </a:rPr>
              <a:t> — https://www.holoniq.com/notes/the-size-shape-of-the-global-education-market</a:t>
            </a:r>
          </a:p>
        </p:txBody>
      </p:sp>
      <p:sp>
        <p:nvSpPr>
          <p:cNvPr id="10" name="Oval 9"/>
          <p:cNvSpPr/>
          <p:nvPr/>
        </p:nvSpPr>
        <p:spPr>
          <a:xfrm>
            <a:off x="585216" y="3145170"/>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080499"/>
            <a:ext cx="5099151" cy="648881"/>
          </a:xfrm>
          <a:prstGeom prst="rect">
            <a:avLst/>
          </a:prstGeom>
          <a:noFill/>
        </p:spPr>
        <p:txBody>
          <a:bodyPr wrap="square" lIns="0" rIns="0" tIns="0" bIns="0">
            <a:spAutoFit/>
          </a:bodyPr>
          <a:lstStyle/>
          <a:p>
            <a:r>
              <a:rPr sz="1106" b="0" i="0">
                <a:solidFill>
                  <a:srgbClr val="5A6072"/>
                </a:solidFill>
                <a:latin typeface="Segoe UI"/>
              </a:rPr>
              <a:t>U.S. Census Bureau, </a:t>
            </a:r>
            <a:r>
              <a:rPr sz="1106" b="0" i="1">
                <a:solidFill>
                  <a:srgbClr val="5A6072"/>
                </a:solidFill>
                <a:latin typeface="Segoe UI"/>
              </a:rPr>
              <a:t>Public School Spending Per Pupil Reaches Historic High in 2024</a:t>
            </a:r>
            <a:r>
              <a:rPr sz="1106" b="0" i="0">
                <a:solidFill>
                  <a:srgbClr val="5A6072"/>
                </a:solidFill>
                <a:latin typeface="Segoe UI"/>
              </a:rPr>
              <a:t> — https://www.census.gov/newsroom/press-releases/2026/school-system-finances.html</a:t>
            </a:r>
          </a:p>
        </p:txBody>
      </p:sp>
      <p:sp>
        <p:nvSpPr>
          <p:cNvPr id="12" name="Oval 11"/>
          <p:cNvSpPr/>
          <p:nvPr/>
        </p:nvSpPr>
        <p:spPr>
          <a:xfrm>
            <a:off x="585216" y="3794051"/>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729380"/>
            <a:ext cx="5099151" cy="466115"/>
          </a:xfrm>
          <a:prstGeom prst="rect">
            <a:avLst/>
          </a:prstGeom>
          <a:noFill/>
        </p:spPr>
        <p:txBody>
          <a:bodyPr wrap="square" lIns="0" rIns="0" tIns="0" bIns="0">
            <a:spAutoFit/>
          </a:bodyPr>
          <a:lstStyle/>
          <a:p>
            <a:r>
              <a:rPr sz="1106" b="0" i="0">
                <a:solidFill>
                  <a:srgbClr val="5A6072"/>
                </a:solidFill>
                <a:latin typeface="Segoe UI"/>
              </a:rPr>
              <a:t>EdChoice, </a:t>
            </a:r>
            <a:r>
              <a:rPr sz="1106" b="0" i="1">
                <a:solidFill>
                  <a:srgbClr val="5A6072"/>
                </a:solidFill>
                <a:latin typeface="Segoe UI"/>
              </a:rPr>
              <a:t>How Much Do Public Schools Spend?</a:t>
            </a:r>
            <a:r>
              <a:rPr sz="1106" b="0" i="0">
                <a:solidFill>
                  <a:srgbClr val="5A6072"/>
                </a:solidFill>
                <a:latin typeface="Segoe UI"/>
              </a:rPr>
              <a:t> — https://www.edchoice.org/2026-how-much-do-public-schools-spend/</a:t>
            </a:r>
          </a:p>
        </p:txBody>
      </p:sp>
      <p:sp>
        <p:nvSpPr>
          <p:cNvPr id="14" name="Oval 13"/>
          <p:cNvSpPr/>
          <p:nvPr/>
        </p:nvSpPr>
        <p:spPr>
          <a:xfrm>
            <a:off x="585216" y="426016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4195495"/>
            <a:ext cx="5099151" cy="466115"/>
          </a:xfrm>
          <a:prstGeom prst="rect">
            <a:avLst/>
          </a:prstGeom>
          <a:noFill/>
        </p:spPr>
        <p:txBody>
          <a:bodyPr wrap="square" lIns="0" rIns="0" tIns="0" bIns="0">
            <a:spAutoFit/>
          </a:bodyPr>
          <a:lstStyle/>
          <a:p>
            <a:r>
              <a:rPr sz="1106" b="0" i="0">
                <a:solidFill>
                  <a:srgbClr val="5A6072"/>
                </a:solidFill>
                <a:latin typeface="Segoe UI"/>
              </a:rPr>
              <a:t>NCES, </a:t>
            </a:r>
            <a:r>
              <a:rPr sz="1106" b="0" i="1">
                <a:solidFill>
                  <a:srgbClr val="5A6072"/>
                </a:solidFill>
                <a:latin typeface="Segoe UI"/>
              </a:rPr>
              <a:t>Fast Facts: Expenditures</a:t>
            </a:r>
            <a:r>
              <a:rPr sz="1106" b="0" i="0">
                <a:solidFill>
                  <a:srgbClr val="5A6072"/>
                </a:solidFill>
                <a:latin typeface="Segoe UI"/>
              </a:rPr>
              <a:t> — https://nces.ed.gov/fastfacts/display.asp?id=66</a:t>
            </a:r>
          </a:p>
        </p:txBody>
      </p:sp>
      <p:sp>
        <p:nvSpPr>
          <p:cNvPr id="16" name="Oval 15"/>
          <p:cNvSpPr/>
          <p:nvPr/>
        </p:nvSpPr>
        <p:spPr>
          <a:xfrm>
            <a:off x="585216" y="4726282"/>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661611"/>
            <a:ext cx="5099151" cy="648881"/>
          </a:xfrm>
          <a:prstGeom prst="rect">
            <a:avLst/>
          </a:prstGeom>
          <a:noFill/>
        </p:spPr>
        <p:txBody>
          <a:bodyPr wrap="square" lIns="0" rIns="0" tIns="0" bIns="0">
            <a:spAutoFit/>
          </a:bodyPr>
          <a:lstStyle/>
          <a:p>
            <a:r>
              <a:rPr sz="1106" b="0" i="0">
                <a:solidFill>
                  <a:srgbClr val="5A6072"/>
                </a:solidFill>
                <a:latin typeface="Segoe UI"/>
              </a:rPr>
              <a:t>Statista, </a:t>
            </a:r>
            <a:r>
              <a:rPr sz="1106" b="0" i="1">
                <a:solidFill>
                  <a:srgbClr val="5A6072"/>
                </a:solidFill>
                <a:latin typeface="Segoe UI"/>
              </a:rPr>
              <a:t>Expenditure of public and private colleges and universities</a:t>
            </a:r>
            <a:r>
              <a:rPr sz="1106" b="0" i="0">
                <a:solidFill>
                  <a:srgbClr val="5A6072"/>
                </a:solidFill>
                <a:latin typeface="Segoe UI"/>
              </a:rPr>
              <a:t> — https://www.statista.com/statistics/184231/expenditure-of-public-and-private-colleges-and-universities</a:t>
            </a:r>
          </a:p>
        </p:txBody>
      </p:sp>
      <p:sp>
        <p:nvSpPr>
          <p:cNvPr id="18" name="Oval 17"/>
          <p:cNvSpPr/>
          <p:nvPr/>
        </p:nvSpPr>
        <p:spPr>
          <a:xfrm>
            <a:off x="585216" y="537516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310492"/>
            <a:ext cx="5099151" cy="648881"/>
          </a:xfrm>
          <a:prstGeom prst="rect">
            <a:avLst/>
          </a:prstGeom>
          <a:noFill/>
        </p:spPr>
        <p:txBody>
          <a:bodyPr wrap="square" lIns="0" rIns="0" tIns="0" bIns="0">
            <a:spAutoFit/>
          </a:bodyPr>
          <a:lstStyle/>
          <a:p>
            <a:r>
              <a:rPr sz="1106" b="0" i="0">
                <a:solidFill>
                  <a:srgbClr val="5A6072"/>
                </a:solidFill>
                <a:latin typeface="Segoe UI"/>
              </a:rPr>
              <a:t>Grand View Research, </a:t>
            </a:r>
            <a:r>
              <a:rPr sz="1106" b="0" i="1">
                <a:solidFill>
                  <a:srgbClr val="5A6072"/>
                </a:solidFill>
                <a:latin typeface="Segoe UI"/>
              </a:rPr>
              <a:t>Corporate Training Market Report</a:t>
            </a:r>
            <a:r>
              <a:rPr sz="1106" b="0" i="0">
                <a:solidFill>
                  <a:srgbClr val="5A6072"/>
                </a:solidFill>
                <a:latin typeface="Segoe UI"/>
              </a:rPr>
              <a:t> — https://www.grandviewresearch.com/industry-analysis/corporate-training-market-report</a:t>
            </a:r>
          </a:p>
        </p:txBody>
      </p:sp>
      <p:sp>
        <p:nvSpPr>
          <p:cNvPr id="20" name="Oval 19"/>
          <p:cNvSpPr/>
          <p:nvPr/>
        </p:nvSpPr>
        <p:spPr>
          <a:xfrm>
            <a:off x="585216" y="6024044"/>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959373"/>
            <a:ext cx="5099151" cy="466115"/>
          </a:xfrm>
          <a:prstGeom prst="rect">
            <a:avLst/>
          </a:prstGeom>
          <a:noFill/>
        </p:spPr>
        <p:txBody>
          <a:bodyPr wrap="square" lIns="0" rIns="0" tIns="0" bIns="0">
            <a:spAutoFit/>
          </a:bodyPr>
          <a:lstStyle/>
          <a:p>
            <a:r>
              <a:rPr sz="1106" b="0" i="0">
                <a:solidFill>
                  <a:srgbClr val="5A6072"/>
                </a:solidFill>
                <a:latin typeface="Segoe UI"/>
              </a:rPr>
              <a:t>Fortune Business Insights, </a:t>
            </a:r>
            <a:r>
              <a:rPr sz="1106" b="0" i="1">
                <a:solidFill>
                  <a:srgbClr val="5A6072"/>
                </a:solidFill>
                <a:latin typeface="Segoe UI"/>
              </a:rPr>
              <a:t>Private Tutoring Market</a:t>
            </a:r>
            <a:r>
              <a:rPr sz="1106" b="0" i="0">
                <a:solidFill>
                  <a:srgbClr val="5A6072"/>
                </a:solidFill>
                <a:latin typeface="Segoe UI"/>
              </a:rPr>
              <a:t> — https://www.fortunebusinessinsights.com/private-tutoring-market-104753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A7 — Market sources  (cont.)</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85216" y="1207990"/>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133856"/>
            <a:ext cx="10820095" cy="519607"/>
          </a:xfrm>
          <a:prstGeom prst="rect">
            <a:avLst/>
          </a:prstGeom>
          <a:noFill/>
        </p:spPr>
        <p:txBody>
          <a:bodyPr wrap="square" lIns="0" rIns="0" tIns="0" bIns="0">
            <a:spAutoFit/>
          </a:bodyPr>
          <a:lstStyle/>
          <a:p>
            <a:r>
              <a:rPr sz="1269" b="0" i="0">
                <a:solidFill>
                  <a:srgbClr val="5A6072"/>
                </a:solidFill>
                <a:latin typeface="Segoe UI"/>
              </a:rPr>
              <a:t>Mordor Intelligence, </a:t>
            </a:r>
            <a:r>
              <a:rPr sz="1269" b="0" i="1">
                <a:solidFill>
                  <a:srgbClr val="5A6072"/>
                </a:solidFill>
                <a:latin typeface="Segoe UI"/>
              </a:rPr>
              <a:t>Language Learning Market</a:t>
            </a:r>
            <a:r>
              <a:rPr sz="1269" b="0" i="0">
                <a:solidFill>
                  <a:srgbClr val="5A6072"/>
                </a:solidFill>
                <a:latin typeface="Segoe UI"/>
              </a:rPr>
              <a:t> — https://www.mordorintelligence.com/industry-reports/language-learning-market</a:t>
            </a:r>
          </a:p>
        </p:txBody>
      </p:sp>
      <p:sp>
        <p:nvSpPr>
          <p:cNvPr id="6" name="TextBox 5"/>
          <p:cNvSpPr txBox="1"/>
          <p:nvPr/>
        </p:nvSpPr>
        <p:spPr>
          <a:xfrm>
            <a:off x="566928" y="1653463"/>
            <a:ext cx="11057839" cy="355815"/>
          </a:xfrm>
          <a:prstGeom prst="rect">
            <a:avLst/>
          </a:prstGeom>
          <a:noFill/>
        </p:spPr>
        <p:txBody>
          <a:bodyPr wrap="square" lIns="0" rIns="0" tIns="0" bIns="0">
            <a:spAutoFit/>
          </a:bodyPr>
          <a:lstStyle/>
          <a:p>
            <a:r>
              <a:rPr sz="1269" b="1" i="0">
                <a:solidFill>
                  <a:srgbClr val="15192B"/>
                </a:solidFill>
                <a:latin typeface="Segoe UI"/>
              </a:rPr>
              <a:t>Cross-sector comparison and capital gap (the Market slide):</a:t>
            </a:r>
          </a:p>
        </p:txBody>
      </p:sp>
      <p:sp>
        <p:nvSpPr>
          <p:cNvPr id="7" name="Oval 6"/>
          <p:cNvSpPr/>
          <p:nvPr/>
        </p:nvSpPr>
        <p:spPr>
          <a:xfrm>
            <a:off x="585216" y="2083414"/>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09279"/>
            <a:ext cx="10820095" cy="519607"/>
          </a:xfrm>
          <a:prstGeom prst="rect">
            <a:avLst/>
          </a:prstGeom>
          <a:noFill/>
        </p:spPr>
        <p:txBody>
          <a:bodyPr wrap="square" lIns="0" rIns="0" tIns="0" bIns="0">
            <a:spAutoFit/>
          </a:bodyPr>
          <a:lstStyle/>
          <a:p>
            <a:r>
              <a:rPr sz="1269" b="0" i="0">
                <a:solidFill>
                  <a:srgbClr val="5A6072"/>
                </a:solidFill>
                <a:latin typeface="Segoe UI"/>
              </a:rPr>
              <a:t>WHO, </a:t>
            </a:r>
            <a:r>
              <a:rPr sz="1269" b="0" i="1">
                <a:solidFill>
                  <a:srgbClr val="5A6072"/>
                </a:solidFill>
                <a:latin typeface="Segoe UI"/>
              </a:rPr>
              <a:t>Global spending on health</a:t>
            </a:r>
            <a:r>
              <a:rPr sz="1269" b="0" i="0">
                <a:solidFill>
                  <a:srgbClr val="5A6072"/>
                </a:solidFill>
                <a:latin typeface="Segoe UI"/>
              </a:rPr>
              <a:t> (2024 report, data through 2022; $9.8T, 9.9% of global GDP) — https://www.who.int/teams/health-financing-and-economics/global-spending-on-health-report</a:t>
            </a:r>
          </a:p>
        </p:txBody>
      </p:sp>
      <p:sp>
        <p:nvSpPr>
          <p:cNvPr id="9" name="Oval 8"/>
          <p:cNvSpPr/>
          <p:nvPr/>
        </p:nvSpPr>
        <p:spPr>
          <a:xfrm>
            <a:off x="585216" y="2603022"/>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528887"/>
            <a:ext cx="10820095" cy="519607"/>
          </a:xfrm>
          <a:prstGeom prst="rect">
            <a:avLst/>
          </a:prstGeom>
          <a:noFill/>
        </p:spPr>
        <p:txBody>
          <a:bodyPr wrap="square" lIns="0" rIns="0" tIns="0" bIns="0">
            <a:spAutoFit/>
          </a:bodyPr>
          <a:lstStyle/>
          <a:p>
            <a:r>
              <a:rPr sz="1269" b="0" i="0">
                <a:solidFill>
                  <a:srgbClr val="5A6072"/>
                </a:solidFill>
                <a:latin typeface="Segoe UI"/>
              </a:rPr>
              <a:t>Gartner, </a:t>
            </a:r>
            <a:r>
              <a:rPr sz="1269" b="0" i="1">
                <a:solidFill>
                  <a:srgbClr val="5A6072"/>
                </a:solidFill>
                <a:latin typeface="Segoe UI"/>
              </a:rPr>
              <a:t>Worldwide IT Spending Forecast</a:t>
            </a:r>
            <a:r>
              <a:rPr sz="1269" b="0" i="0">
                <a:solidFill>
                  <a:srgbClr val="5A6072"/>
                </a:solidFill>
                <a:latin typeface="Segoe UI"/>
              </a:rPr>
              <a:t> ($5.43T, 2025) — https://www.gartner.com/en/newsroom/press-releases/2025-07-15-gartner-forecasts-worldwide-it-spending-to-grow-7-point-9-percent-in-2025</a:t>
            </a:r>
          </a:p>
        </p:txBody>
      </p:sp>
      <p:sp>
        <p:nvSpPr>
          <p:cNvPr id="11" name="Oval 10"/>
          <p:cNvSpPr/>
          <p:nvPr/>
        </p:nvSpPr>
        <p:spPr>
          <a:xfrm>
            <a:off x="585216" y="3122630"/>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3048495"/>
            <a:ext cx="10820095" cy="519607"/>
          </a:xfrm>
          <a:prstGeom prst="rect">
            <a:avLst/>
          </a:prstGeom>
          <a:noFill/>
        </p:spPr>
        <p:txBody>
          <a:bodyPr wrap="square" lIns="0" rIns="0" tIns="0" bIns="0">
            <a:spAutoFit/>
          </a:bodyPr>
          <a:lstStyle/>
          <a:p>
            <a:r>
              <a:rPr sz="1269" b="0" i="0">
                <a:solidFill>
                  <a:srgbClr val="5A6072"/>
                </a:solidFill>
                <a:latin typeface="Segoe UI"/>
              </a:rPr>
              <a:t>SIPRI, </a:t>
            </a:r>
            <a:r>
              <a:rPr sz="1269" b="0" i="1">
                <a:solidFill>
                  <a:srgbClr val="5A6072"/>
                </a:solidFill>
                <a:latin typeface="Segoe UI"/>
              </a:rPr>
              <a:t>Trends in World Military Expenditure, 2024</a:t>
            </a:r>
            <a:r>
              <a:rPr sz="1269" b="0" i="0">
                <a:solidFill>
                  <a:srgbClr val="5A6072"/>
                </a:solidFill>
                <a:latin typeface="Segoe UI"/>
              </a:rPr>
              <a:t> ($2.718T) — https://www.sipri.org/publications/2025/sipri-fact-sheets/trends-world-military-expenditure-2024</a:t>
            </a:r>
          </a:p>
        </p:txBody>
      </p:sp>
      <p:sp>
        <p:nvSpPr>
          <p:cNvPr id="13" name="Oval 12"/>
          <p:cNvSpPr/>
          <p:nvPr/>
        </p:nvSpPr>
        <p:spPr>
          <a:xfrm>
            <a:off x="585216" y="3642238"/>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568103"/>
            <a:ext cx="10820095" cy="519607"/>
          </a:xfrm>
          <a:prstGeom prst="rect">
            <a:avLst/>
          </a:prstGeom>
          <a:noFill/>
        </p:spPr>
        <p:txBody>
          <a:bodyPr wrap="square" lIns="0" rIns="0" tIns="0" bIns="0">
            <a:spAutoFit/>
          </a:bodyPr>
          <a:lstStyle/>
          <a:p>
            <a:r>
              <a:rPr sz="1269" b="0" i="0">
                <a:solidFill>
                  <a:srgbClr val="5A6072"/>
                </a:solidFill>
                <a:latin typeface="Segoe UI"/>
              </a:rPr>
              <a:t>HolonIQ, </a:t>
            </a:r>
            <a:r>
              <a:rPr sz="1269" b="0" i="1">
                <a:solidFill>
                  <a:srgbClr val="5A6072"/>
                </a:solidFill>
                <a:latin typeface="Segoe UI"/>
              </a:rPr>
              <a:t>EdTech VC reached ~$2.4B for 2024, the lowest level of investment in a decade</a:t>
            </a:r>
            <a:r>
              <a:rPr sz="1269" b="0" i="0">
                <a:solidFill>
                  <a:srgbClr val="5A6072"/>
                </a:solidFill>
                <a:latin typeface="Segoe UI"/>
              </a:rPr>
              <a:t> — https://www.holoniq.com/notes/edtech-vc-reached-2-4b-for-2024-representing-the-lowest-level-of-investment-in-a-decade</a:t>
            </a:r>
          </a:p>
        </p:txBody>
      </p:sp>
      <p:sp>
        <p:nvSpPr>
          <p:cNvPr id="15" name="Oval 14"/>
          <p:cNvSpPr/>
          <p:nvPr/>
        </p:nvSpPr>
        <p:spPr>
          <a:xfrm>
            <a:off x="585216" y="4161845"/>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087710"/>
            <a:ext cx="10820095" cy="519607"/>
          </a:xfrm>
          <a:prstGeom prst="rect">
            <a:avLst/>
          </a:prstGeom>
          <a:noFill/>
        </p:spPr>
        <p:txBody>
          <a:bodyPr wrap="square" lIns="0" rIns="0" tIns="0" bIns="0">
            <a:spAutoFit/>
          </a:bodyPr>
          <a:lstStyle/>
          <a:p>
            <a:r>
              <a:rPr sz="1269" b="0" i="0">
                <a:solidFill>
                  <a:srgbClr val="5A6072"/>
                </a:solidFill>
                <a:latin typeface="Segoe UI"/>
              </a:rPr>
              <a:t>HolonIQ, </a:t>
            </a:r>
            <a:r>
              <a:rPr sz="1269" b="0" i="1">
                <a:solidFill>
                  <a:srgbClr val="5A6072"/>
                </a:solidFill>
                <a:latin typeface="Segoe UI"/>
              </a:rPr>
              <a:t>EdTech funding drops again in early 2025</a:t>
            </a:r>
            <a:r>
              <a:rPr sz="1269" b="0" i="0">
                <a:solidFill>
                  <a:srgbClr val="5A6072"/>
                </a:solidFill>
                <a:latin typeface="Segoe UI"/>
              </a:rPr>
              <a:t> — https://www.holoniq.com/notes/edtech-funding-drops-again-in-early-2025-fewer-deals-but-bigger-bets</a:t>
            </a:r>
          </a:p>
        </p:txBody>
      </p:sp>
      <p:sp>
        <p:nvSpPr>
          <p:cNvPr id="17" name="Oval 16"/>
          <p:cNvSpPr/>
          <p:nvPr/>
        </p:nvSpPr>
        <p:spPr>
          <a:xfrm>
            <a:off x="585216" y="468145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4607318"/>
            <a:ext cx="10820095" cy="519607"/>
          </a:xfrm>
          <a:prstGeom prst="rect">
            <a:avLst/>
          </a:prstGeom>
          <a:noFill/>
        </p:spPr>
        <p:txBody>
          <a:bodyPr wrap="square" lIns="0" rIns="0" tIns="0" bIns="0">
            <a:spAutoFit/>
          </a:bodyPr>
          <a:lstStyle/>
          <a:p>
            <a:r>
              <a:rPr sz="1269" b="0" i="0">
                <a:solidFill>
                  <a:srgbClr val="5A6072"/>
                </a:solidFill>
                <a:latin typeface="Segoe UI"/>
              </a:rPr>
              <a:t>EdWeek Market Brief, </a:t>
            </a:r>
            <a:r>
              <a:rPr sz="1269" b="0" i="1">
                <a:solidFill>
                  <a:srgbClr val="5A6072"/>
                </a:solidFill>
                <a:latin typeface="Segoe UI"/>
              </a:rPr>
              <a:t>2024 Was the Worst Year for Ed-Tech VC Funding in a Decade</a:t>
            </a:r>
            <a:r>
              <a:rPr sz="1269" b="0" i="0">
                <a:solidFill>
                  <a:srgbClr val="5A6072"/>
                </a:solidFill>
                <a:latin typeface="Segoe UI"/>
              </a:rPr>
              <a:t> — https://marketbrief.edweek.org/financing-investment/2024-was-the-worst-year-for-ed-tech-vc-funding-in-a-decade-this-year-looks-even-worse/2025/05</a:t>
            </a:r>
          </a:p>
        </p:txBody>
      </p:sp>
      <p:sp>
        <p:nvSpPr>
          <p:cNvPr id="19" name="TextBox 18"/>
          <p:cNvSpPr txBox="1"/>
          <p:nvPr/>
        </p:nvSpPr>
        <p:spPr>
          <a:xfrm>
            <a:off x="566928" y="5126926"/>
            <a:ext cx="11057839" cy="984351"/>
          </a:xfrm>
          <a:prstGeom prst="rect">
            <a:avLst/>
          </a:prstGeom>
          <a:noFill/>
        </p:spPr>
        <p:txBody>
          <a:bodyPr wrap="square" lIns="0" rIns="0" tIns="0" bIns="0">
            <a:spAutoFit/>
          </a:bodyPr>
          <a:lstStyle/>
          <a:p>
            <a:r>
              <a:rPr sz="1269" b="1" i="0">
                <a:solidFill>
                  <a:srgbClr val="15192B"/>
                </a:solidFill>
                <a:latin typeface="Segoe UI"/>
              </a:rPr>
              <a:t>Caveat for diligence:</a:t>
            </a:r>
            <a:r>
              <a:rPr sz="1269" b="0" i="0">
                <a:solidFill>
                  <a:srgbClr val="5A6072"/>
                </a:solidFill>
                <a:latin typeface="Segoe UI"/>
              </a:rPr>
              <a:t> segment figures come from commercial market-research firms whose estimates vary widely by methodology (private tutoring alone is reported anywhere from ~$67B to ~$134B for 2025). The HolonIQ top-line and the U.S. government figures are the two most defensible numbers on the Market slide; lead with those and treat the rest as directional.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A8 — The same market, viewed from the United States</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369189"/>
          </a:xfrm>
          <a:prstGeom prst="rect">
            <a:avLst/>
          </a:prstGeom>
          <a:noFill/>
        </p:spPr>
        <p:txBody>
          <a:bodyPr wrap="square" lIns="0" rIns="0" tIns="0" bIns="0">
            <a:spAutoFit/>
          </a:bodyPr>
          <a:lstStyle/>
          <a:p>
            <a:r>
              <a:rPr sz="1350" b="0" i="0">
                <a:solidFill>
                  <a:srgbClr val="5A6072"/>
                </a:solidFill>
                <a:latin typeface="Segoe UI"/>
              </a:rPr>
              <a:t>Moved off the Market slide to keep it presentable. Use if an American angel asks for domestic figures.</a:t>
            </a:r>
          </a:p>
        </p:txBody>
      </p:sp>
      <p:graphicFrame>
        <p:nvGraphicFramePr>
          <p:cNvPr id="5" name="Table 4"/>
          <p:cNvGraphicFramePr>
            <a:graphicFrameLocks noGrp="1"/>
          </p:cNvGraphicFramePr>
          <p:nvPr/>
        </p:nvGraphicFramePr>
        <p:xfrm>
          <a:off x="566928" y="1503045"/>
          <a:ext cx="11057839" cy="1463040"/>
        </p:xfrm>
        <a:graphic>
          <a:graphicData uri="http://schemas.openxmlformats.org/drawingml/2006/table">
            <a:tbl>
              <a:tblPr firstRow="1">
                <a:tableStyleId>{5C22544A-7EE6-4342-B048-85BDC9FD1C3A}</a:tableStyleId>
              </a:tblPr>
              <a:tblGrid>
                <a:gridCol w="5086605"/>
                <a:gridCol w="5971234"/>
              </a:tblGrid>
              <a:tr h="310896">
                <a:tc>
                  <a:txBody>
                    <a:bodyPr wrap="square"/>
                    <a:lstStyle/>
                    <a:p>
                      <a:r>
                        <a:rPr sz="1100" b="1">
                          <a:solidFill>
                            <a:srgbClr val="15192B"/>
                          </a:solidFill>
                          <a:latin typeface="Segoe UI"/>
                        </a:rPr>
                        <a:t>Segment</a:t>
                      </a:r>
                    </a:p>
                  </a:txBody>
                  <a:tcPr marL="82296" marR="64008" marT="32004" marB="32004" anchor="ctr">
                    <a:solidFill>
                      <a:srgbClr val="F4F5F9"/>
                    </a:solidFill>
                  </a:tcPr>
                </a:tc>
                <a:tc>
                  <a:txBody>
                    <a:bodyPr wrap="square"/>
                    <a:lstStyle/>
                    <a:p>
                      <a:r>
                        <a:rPr sz="1100" b="1">
                          <a:solidFill>
                            <a:srgbClr val="15192B"/>
                          </a:solidFill>
                          <a:latin typeface="Segoe UI"/>
                        </a:rPr>
                        <a:t>Annual spend</a:t>
                      </a:r>
                    </a:p>
                  </a:txBody>
                  <a:tcPr marL="82296" marR="64008" marT="32004" marB="32004" anchor="ctr">
                    <a:solidFill>
                      <a:srgbClr val="F4F5F9"/>
                    </a:solidFill>
                  </a:tcPr>
                </a:tc>
              </a:tr>
              <a:tr h="288036">
                <a:tc>
                  <a:txBody>
                    <a:bodyPr wrap="square"/>
                    <a:lstStyle/>
                    <a:p>
                      <a:r>
                        <a:rPr sz="1100" b="0" i="0">
                          <a:solidFill>
                            <a:srgbClr val="5A6072"/>
                          </a:solidFill>
                          <a:latin typeface="Segoe UI"/>
                        </a:rPr>
                        <a:t>U.S. K–12 public schools</a:t>
                      </a:r>
                    </a:p>
                  </a:txBody>
                  <a:tcPr marL="82296" marR="64008" marT="32004" marB="32004" anchor="ctr">
                    <a:solidFill>
                      <a:srgbClr val="FFFFFF"/>
                    </a:solidFill>
                  </a:tcPr>
                </a:tc>
                <a:tc>
                  <a:txBody>
                    <a:bodyPr wrap="square"/>
                    <a:lstStyle/>
                    <a:p>
                      <a:r>
                        <a:rPr sz="1100" b="1" i="0">
                          <a:solidFill>
                            <a:srgbClr val="15192B"/>
                          </a:solidFill>
                          <a:latin typeface="Segoe UI"/>
                        </a:rPr>
                        <a:t>~$1.0T</a:t>
                      </a:r>
                      <a:r>
                        <a:rPr sz="1100" b="0" i="0">
                          <a:solidFill>
                            <a:srgbClr val="5A6072"/>
                          </a:solidFill>
                          <a:latin typeface="Segoe UI"/>
                        </a:rPr>
                        <a:t> (FY2024, first year over $1T; ~$17.6K per pupil)</a:t>
                      </a:r>
                    </a:p>
                  </a:txBody>
                  <a:tcPr marL="82296" marR="64008" marT="32004" marB="32004" anchor="ctr">
                    <a:solidFill>
                      <a:srgbClr val="FFFFFF"/>
                    </a:solidFill>
                  </a:tcPr>
                </a:tc>
              </a:tr>
              <a:tr h="288036">
                <a:tc>
                  <a:txBody>
                    <a:bodyPr wrap="square"/>
                    <a:lstStyle/>
                    <a:p>
                      <a:r>
                        <a:rPr sz="1100" b="0" i="0">
                          <a:solidFill>
                            <a:srgbClr val="5A6072"/>
                          </a:solidFill>
                          <a:latin typeface="Segoe UI"/>
                        </a:rPr>
                        <a:t>U.S. higher education institutions</a:t>
                      </a:r>
                    </a:p>
                  </a:txBody>
                  <a:tcPr marL="82296" marR="64008" marT="32004" marB="32004" anchor="ctr">
                    <a:solidFill>
                      <a:srgbClr val="FFFFFF"/>
                    </a:solidFill>
                  </a:tcPr>
                </a:tc>
                <a:tc>
                  <a:txBody>
                    <a:bodyPr wrap="square"/>
                    <a:lstStyle/>
                    <a:p>
                      <a:r>
                        <a:rPr sz="1100" b="1" i="0">
                          <a:solidFill>
                            <a:srgbClr val="15192B"/>
                          </a:solidFill>
                          <a:latin typeface="Segoe UI"/>
                        </a:rPr>
                        <a:t>~$712B</a:t>
                      </a:r>
                      <a:r>
                        <a:rPr sz="1100" b="0" i="0">
                          <a:solidFill>
                            <a:srgbClr val="5A6072"/>
                          </a:solidFill>
                          <a:latin typeface="Segoe UI"/>
                        </a:rPr>
                        <a:t> total institutional expenditure</a:t>
                      </a:r>
                    </a:p>
                  </a:txBody>
                  <a:tcPr marL="82296" marR="64008" marT="32004" marB="32004" anchor="ctr">
                    <a:solidFill>
                      <a:srgbClr val="FFFFFF"/>
                    </a:solidFill>
                  </a:tcPr>
                </a:tc>
              </a:tr>
              <a:tr h="288036">
                <a:tc>
                  <a:txBody>
                    <a:bodyPr wrap="square"/>
                    <a:lstStyle/>
                    <a:p>
                      <a:r>
                        <a:rPr sz="1100" b="0" i="0">
                          <a:solidFill>
                            <a:srgbClr val="5A6072"/>
                          </a:solidFill>
                          <a:latin typeface="Segoe UI"/>
                        </a:rPr>
                        <a:t>U.S. corporate &amp; workplace training</a:t>
                      </a:r>
                    </a:p>
                  </a:txBody>
                  <a:tcPr marL="82296" marR="64008" marT="32004" marB="32004" anchor="ctr">
                    <a:solidFill>
                      <a:srgbClr val="FFFFFF"/>
                    </a:solidFill>
                  </a:tcPr>
                </a:tc>
                <a:tc>
                  <a:txBody>
                    <a:bodyPr wrap="square"/>
                    <a:lstStyle/>
                    <a:p>
                      <a:r>
                        <a:rPr sz="1100" b="0" i="0">
                          <a:solidFill>
                            <a:srgbClr val="5A6072"/>
                          </a:solidFill>
                          <a:latin typeface="Segoe UI"/>
                        </a:rPr>
                        <a:t>~$100B</a:t>
                      </a:r>
                    </a:p>
                  </a:txBody>
                  <a:tcPr marL="82296" marR="64008" marT="32004" marB="32004" anchor="ctr">
                    <a:solidFill>
                      <a:srgbClr val="FFFFFF"/>
                    </a:solidFill>
                  </a:tcPr>
                </a:tc>
              </a:tr>
              <a:tr h="288036">
                <a:tc>
                  <a:txBody>
                    <a:bodyPr wrap="square"/>
                    <a:lstStyle/>
                    <a:p>
                      <a:r>
                        <a:rPr sz="1100" b="0" i="0">
                          <a:solidFill>
                            <a:srgbClr val="5A6072"/>
                          </a:solidFill>
                          <a:latin typeface="Segoe UI"/>
                        </a:rPr>
                        <a:t>U.S. private tutoring</a:t>
                      </a:r>
                    </a:p>
                  </a:txBody>
                  <a:tcPr marL="82296" marR="64008" marT="32004" marB="32004" anchor="ctr">
                    <a:solidFill>
                      <a:srgbClr val="FFFFFF"/>
                    </a:solidFill>
                  </a:tcPr>
                </a:tc>
                <a:tc>
                  <a:txBody>
                    <a:bodyPr wrap="square"/>
                    <a:lstStyle/>
                    <a:p>
                      <a:r>
                        <a:rPr sz="1100" b="0" i="0">
                          <a:solidFill>
                            <a:srgbClr val="5A6072"/>
                          </a:solidFill>
                          <a:latin typeface="Segoe UI"/>
                        </a:rPr>
                        <a:t>~$30B and growing double digits</a:t>
                      </a:r>
                    </a:p>
                  </a:txBody>
                  <a:tcPr marL="82296" marR="64008" marT="32004" marB="32004"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A9 — Full candidate segment inventory</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5336895" cy="511835"/>
          </a:xfrm>
          <a:prstGeom prst="rect">
            <a:avLst/>
          </a:prstGeom>
          <a:noFill/>
        </p:spPr>
        <p:txBody>
          <a:bodyPr wrap="square" lIns="0" rIns="0" tIns="0" bIns="0">
            <a:spAutoFit/>
          </a:bodyPr>
          <a:lstStyle/>
          <a:p>
            <a:r>
              <a:rPr sz="1106" b="0" i="0">
                <a:solidFill>
                  <a:srgbClr val="5A6072"/>
                </a:solidFill>
                <a:latin typeface="Segoe UI"/>
              </a:rPr>
              <a:t>Working material behind the Business Model slide. </a:t>
            </a:r>
            <a:r>
              <a:rPr sz="1106" b="1" i="0">
                <a:solidFill>
                  <a:srgbClr val="15192B"/>
                </a:solidFill>
                <a:latin typeface="Segoe UI"/>
              </a:rPr>
              <a:t>Direct-pay parents and learners — no procurement cycle:</a:t>
            </a:r>
          </a:p>
        </p:txBody>
      </p:sp>
      <p:sp>
        <p:nvSpPr>
          <p:cNvPr id="5" name="Oval 4"/>
          <p:cNvSpPr/>
          <p:nvPr/>
        </p:nvSpPr>
        <p:spPr>
          <a:xfrm>
            <a:off x="585216" y="1710362"/>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645691"/>
            <a:ext cx="5099151" cy="466115"/>
          </a:xfrm>
          <a:prstGeom prst="rect">
            <a:avLst/>
          </a:prstGeom>
          <a:noFill/>
        </p:spPr>
        <p:txBody>
          <a:bodyPr wrap="square" lIns="0" rIns="0" tIns="0" bIns="0">
            <a:spAutoFit/>
          </a:bodyPr>
          <a:lstStyle/>
          <a:p>
            <a:r>
              <a:rPr sz="1106" b="1" i="0">
                <a:solidFill>
                  <a:srgbClr val="15192B"/>
                </a:solidFill>
                <a:latin typeface="Segoe UI"/>
              </a:rPr>
              <a:t>Homeschool families</a:t>
            </a:r>
            <a:r>
              <a:rPr sz="1106" b="0" i="0">
                <a:solidFill>
                  <a:srgbClr val="5A6072"/>
                </a:solidFill>
                <a:latin typeface="Segoe UI"/>
              </a:rPr>
              <a:t> — buy curriculum directly, need many subjects across many grade levels</a:t>
            </a:r>
          </a:p>
        </p:txBody>
      </p:sp>
      <p:sp>
        <p:nvSpPr>
          <p:cNvPr id="7" name="Oval 6"/>
          <p:cNvSpPr/>
          <p:nvPr/>
        </p:nvSpPr>
        <p:spPr>
          <a:xfrm>
            <a:off x="585216" y="2176477"/>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111806"/>
            <a:ext cx="5099151" cy="466115"/>
          </a:xfrm>
          <a:prstGeom prst="rect">
            <a:avLst/>
          </a:prstGeom>
          <a:noFill/>
        </p:spPr>
        <p:txBody>
          <a:bodyPr wrap="square" lIns="0" rIns="0" tIns="0" bIns="0">
            <a:spAutoFit/>
          </a:bodyPr>
          <a:lstStyle/>
          <a:p>
            <a:r>
              <a:rPr sz="1106" b="1" i="0">
                <a:solidFill>
                  <a:srgbClr val="15192B"/>
                </a:solidFill>
                <a:latin typeface="Segoe UI"/>
              </a:rPr>
              <a:t>Homeschool co-ops &amp; microschools</a:t>
            </a:r>
            <a:r>
              <a:rPr sz="1106" b="0" i="0">
                <a:solidFill>
                  <a:srgbClr val="5A6072"/>
                </a:solidFill>
                <a:latin typeface="Segoe UI"/>
              </a:rPr>
              <a:t> — same buyer, multi-seat, higher ACV</a:t>
            </a:r>
          </a:p>
        </p:txBody>
      </p:sp>
      <p:sp>
        <p:nvSpPr>
          <p:cNvPr id="9" name="Oval 8"/>
          <p:cNvSpPr/>
          <p:nvPr/>
        </p:nvSpPr>
        <p:spPr>
          <a:xfrm>
            <a:off x="585216" y="264259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577922"/>
            <a:ext cx="5099151" cy="466115"/>
          </a:xfrm>
          <a:prstGeom prst="rect">
            <a:avLst/>
          </a:prstGeom>
          <a:noFill/>
        </p:spPr>
        <p:txBody>
          <a:bodyPr wrap="square" lIns="0" rIns="0" tIns="0" bIns="0">
            <a:spAutoFit/>
          </a:bodyPr>
          <a:lstStyle/>
          <a:p>
            <a:r>
              <a:rPr sz="1106" b="1" i="0">
                <a:solidFill>
                  <a:srgbClr val="15192B"/>
                </a:solidFill>
                <a:latin typeface="Segoe UI"/>
              </a:rPr>
              <a:t>Supplementary learning for traditional-school parents</a:t>
            </a:r>
            <a:r>
              <a:rPr sz="1106" b="0" i="0">
                <a:solidFill>
                  <a:srgbClr val="5A6072"/>
                </a:solidFill>
                <a:latin typeface="Segoe UI"/>
              </a:rPr>
              <a:t> — math and science alongside school</a:t>
            </a:r>
          </a:p>
        </p:txBody>
      </p:sp>
      <p:sp>
        <p:nvSpPr>
          <p:cNvPr id="11" name="Oval 10"/>
          <p:cNvSpPr/>
          <p:nvPr/>
        </p:nvSpPr>
        <p:spPr>
          <a:xfrm>
            <a:off x="585216" y="3108708"/>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3044037"/>
            <a:ext cx="5099151" cy="466115"/>
          </a:xfrm>
          <a:prstGeom prst="rect">
            <a:avLst/>
          </a:prstGeom>
          <a:noFill/>
        </p:spPr>
        <p:txBody>
          <a:bodyPr wrap="square" lIns="0" rIns="0" tIns="0" bIns="0">
            <a:spAutoFit/>
          </a:bodyPr>
          <a:lstStyle/>
          <a:p>
            <a:r>
              <a:rPr sz="1106" b="1" i="0">
                <a:solidFill>
                  <a:srgbClr val="15192B"/>
                </a:solidFill>
                <a:latin typeface="Segoe UI"/>
              </a:rPr>
              <a:t>GED preparation</a:t>
            </a:r>
            <a:r>
              <a:rPr sz="1106" b="0" i="0">
                <a:solidFill>
                  <a:srgbClr val="5A6072"/>
                </a:solidFill>
                <a:latin typeface="Segoe UI"/>
              </a:rPr>
              <a:t> — adult learners with genuine, diagnosable prerequisite gaps</a:t>
            </a:r>
          </a:p>
        </p:txBody>
      </p:sp>
      <p:sp>
        <p:nvSpPr>
          <p:cNvPr id="13" name="Oval 12"/>
          <p:cNvSpPr/>
          <p:nvPr/>
        </p:nvSpPr>
        <p:spPr>
          <a:xfrm>
            <a:off x="585216" y="357482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510152"/>
            <a:ext cx="5099151" cy="466115"/>
          </a:xfrm>
          <a:prstGeom prst="rect">
            <a:avLst/>
          </a:prstGeom>
          <a:noFill/>
        </p:spPr>
        <p:txBody>
          <a:bodyPr wrap="square" lIns="0" rIns="0" tIns="0" bIns="0">
            <a:spAutoFit/>
          </a:bodyPr>
          <a:lstStyle/>
          <a:p>
            <a:r>
              <a:rPr sz="1106" b="1" i="0">
                <a:solidFill>
                  <a:srgbClr val="15192B"/>
                </a:solidFill>
                <a:latin typeface="Segoe UI"/>
              </a:rPr>
              <a:t>Gifted / accelerated learners</a:t>
            </a:r>
            <a:r>
              <a:rPr sz="1106" b="0" i="0">
                <a:solidFill>
                  <a:srgbClr val="5A6072"/>
                </a:solidFill>
                <a:latin typeface="Segoe UI"/>
              </a:rPr>
              <a:t> — need to move fast through prerequisites, not slowly</a:t>
            </a:r>
          </a:p>
        </p:txBody>
      </p:sp>
      <p:sp>
        <p:nvSpPr>
          <p:cNvPr id="15" name="Oval 14"/>
          <p:cNvSpPr/>
          <p:nvPr/>
        </p:nvSpPr>
        <p:spPr>
          <a:xfrm>
            <a:off x="585216" y="4040939"/>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3976268"/>
            <a:ext cx="5099151" cy="283349"/>
          </a:xfrm>
          <a:prstGeom prst="rect">
            <a:avLst/>
          </a:prstGeom>
          <a:noFill/>
        </p:spPr>
        <p:txBody>
          <a:bodyPr wrap="square" lIns="0" rIns="0" tIns="0" bIns="0">
            <a:spAutoFit/>
          </a:bodyPr>
          <a:lstStyle/>
          <a:p>
            <a:r>
              <a:rPr sz="1106" b="1" i="0">
                <a:solidFill>
                  <a:srgbClr val="15192B"/>
                </a:solidFill>
                <a:latin typeface="Segoe UI"/>
              </a:rPr>
              <a:t>Test prep</a:t>
            </a:r>
            <a:r>
              <a:rPr sz="1106" b="0" i="0">
                <a:solidFill>
                  <a:srgbClr val="5A6072"/>
                </a:solidFill>
                <a:latin typeface="Segoe UI"/>
              </a:rPr>
              <a:t> — SAT/ACT, GRE, MCAT, LSAT</a:t>
            </a:r>
          </a:p>
        </p:txBody>
      </p:sp>
      <p:sp>
        <p:nvSpPr>
          <p:cNvPr id="17" name="Oval 16"/>
          <p:cNvSpPr/>
          <p:nvPr/>
        </p:nvSpPr>
        <p:spPr>
          <a:xfrm>
            <a:off x="585216" y="4324289"/>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4259618"/>
            <a:ext cx="5099151" cy="283349"/>
          </a:xfrm>
          <a:prstGeom prst="rect">
            <a:avLst/>
          </a:prstGeom>
          <a:noFill/>
        </p:spPr>
        <p:txBody>
          <a:bodyPr wrap="square" lIns="0" rIns="0" tIns="0" bIns="0">
            <a:spAutoFit/>
          </a:bodyPr>
          <a:lstStyle/>
          <a:p>
            <a:r>
              <a:rPr sz="1106" b="1" i="0">
                <a:solidFill>
                  <a:srgbClr val="15192B"/>
                </a:solidFill>
                <a:latin typeface="Segoe UI"/>
              </a:rPr>
              <a:t>Adult career changers</a:t>
            </a:r>
            <a:r>
              <a:rPr sz="1106" b="0" i="0">
                <a:solidFill>
                  <a:srgbClr val="5A6072"/>
                </a:solidFill>
                <a:latin typeface="Segoe UI"/>
              </a:rPr>
              <a:t> — self-funded, outcome-motivated</a:t>
            </a:r>
          </a:p>
        </p:txBody>
      </p:sp>
      <p:sp>
        <p:nvSpPr>
          <p:cNvPr id="19" name="TextBox 18"/>
          <p:cNvSpPr txBox="1"/>
          <p:nvPr/>
        </p:nvSpPr>
        <p:spPr>
          <a:xfrm>
            <a:off x="566928" y="4542967"/>
            <a:ext cx="5336895" cy="511835"/>
          </a:xfrm>
          <a:prstGeom prst="rect">
            <a:avLst/>
          </a:prstGeom>
          <a:noFill/>
        </p:spPr>
        <p:txBody>
          <a:bodyPr wrap="square" lIns="0" rIns="0" tIns="0" bIns="0">
            <a:spAutoFit/>
          </a:bodyPr>
          <a:lstStyle/>
          <a:p>
            <a:r>
              <a:rPr sz="1106" b="1" i="0">
                <a:solidFill>
                  <a:srgbClr val="15192B"/>
                </a:solidFill>
                <a:latin typeface="Segoe UI"/>
              </a:rPr>
              <a:t>Credential-driven buyers — clear outcome, high willingness to pay:</a:t>
            </a:r>
          </a:p>
        </p:txBody>
      </p:sp>
      <p:sp>
        <p:nvSpPr>
          <p:cNvPr id="20" name="Oval 19"/>
          <p:cNvSpPr/>
          <p:nvPr/>
        </p:nvSpPr>
        <p:spPr>
          <a:xfrm>
            <a:off x="585216" y="5119474"/>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054803"/>
            <a:ext cx="5099151" cy="466115"/>
          </a:xfrm>
          <a:prstGeom prst="rect">
            <a:avLst/>
          </a:prstGeom>
          <a:noFill/>
        </p:spPr>
        <p:txBody>
          <a:bodyPr wrap="square" lIns="0" rIns="0" tIns="0" bIns="0">
            <a:spAutoFit/>
          </a:bodyPr>
          <a:lstStyle/>
          <a:p>
            <a:r>
              <a:rPr sz="1106" b="1" i="0">
                <a:solidFill>
                  <a:srgbClr val="15192B"/>
                </a:solidFill>
                <a:latin typeface="Segoe UI"/>
              </a:rPr>
              <a:t>Professional licensure</a:t>
            </a:r>
            <a:r>
              <a:rPr sz="1106" b="0" i="0">
                <a:solidFill>
                  <a:srgbClr val="5A6072"/>
                </a:solidFill>
                <a:latin typeface="Segoe UI"/>
              </a:rPr>
              <a:t> — CPA, bar, NCLEX/nursing, PE, actuarial, real estate, insurance</a:t>
            </a:r>
          </a:p>
        </p:txBody>
      </p:sp>
      <p:sp>
        <p:nvSpPr>
          <p:cNvPr id="22" name="Oval 21"/>
          <p:cNvSpPr/>
          <p:nvPr/>
        </p:nvSpPr>
        <p:spPr>
          <a:xfrm>
            <a:off x="585216" y="5585589"/>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520918"/>
            <a:ext cx="5099151" cy="466115"/>
          </a:xfrm>
          <a:prstGeom prst="rect">
            <a:avLst/>
          </a:prstGeom>
          <a:noFill/>
        </p:spPr>
        <p:txBody>
          <a:bodyPr wrap="square" lIns="0" rIns="0" tIns="0" bIns="0">
            <a:spAutoFit/>
          </a:bodyPr>
          <a:lstStyle/>
          <a:p>
            <a:r>
              <a:rPr sz="1106" b="1" i="0">
                <a:solidFill>
                  <a:srgbClr val="15192B"/>
                </a:solidFill>
                <a:latin typeface="Segoe UI"/>
              </a:rPr>
              <a:t>IT &amp; cloud certification</a:t>
            </a:r>
            <a:r>
              <a:rPr sz="1106" b="0" i="0">
                <a:solidFill>
                  <a:srgbClr val="5A6072"/>
                </a:solidFill>
                <a:latin typeface="Segoe UI"/>
              </a:rPr>
              <a:t> — AWS, Azure, CompTIA, Cisco, security</a:t>
            </a:r>
          </a:p>
        </p:txBody>
      </p:sp>
      <p:sp>
        <p:nvSpPr>
          <p:cNvPr id="24" name="Oval 23"/>
          <p:cNvSpPr/>
          <p:nvPr/>
        </p:nvSpPr>
        <p:spPr>
          <a:xfrm>
            <a:off x="585216" y="6051704"/>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5987033"/>
            <a:ext cx="5099151" cy="283349"/>
          </a:xfrm>
          <a:prstGeom prst="rect">
            <a:avLst/>
          </a:prstGeom>
          <a:noFill/>
        </p:spPr>
        <p:txBody>
          <a:bodyPr wrap="square" lIns="0" rIns="0" tIns="0" bIns="0">
            <a:spAutoFit/>
          </a:bodyPr>
          <a:lstStyle/>
          <a:p>
            <a:r>
              <a:rPr sz="1106" b="1" i="0">
                <a:solidFill>
                  <a:srgbClr val="15192B"/>
                </a:solidFill>
                <a:latin typeface="Segoe UI"/>
              </a:rPr>
              <a:t>Trades &amp; vocational</a:t>
            </a:r>
            <a:r>
              <a:rPr sz="1106" b="0" i="0">
                <a:solidFill>
                  <a:srgbClr val="5A6072"/>
                </a:solidFill>
                <a:latin typeface="Segoe UI"/>
              </a:rPr>
              <a:t> — HVAC, electrical, welding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A9 — Full candidate segment inventory  (cont.)</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85216" y="1203258"/>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133856"/>
            <a:ext cx="10820095" cy="296722"/>
          </a:xfrm>
          <a:prstGeom prst="rect">
            <a:avLst/>
          </a:prstGeom>
          <a:noFill/>
        </p:spPr>
        <p:txBody>
          <a:bodyPr wrap="square" lIns="0" rIns="0" tIns="0" bIns="0">
            <a:spAutoFit/>
          </a:bodyPr>
          <a:lstStyle/>
          <a:p>
            <a:r>
              <a:rPr sz="1188" b="1" i="0">
                <a:solidFill>
                  <a:srgbClr val="15192B"/>
                </a:solidFill>
                <a:latin typeface="Segoe UI"/>
              </a:rPr>
              <a:t>Continuing education</a:t>
            </a:r>
            <a:r>
              <a:rPr sz="1188" b="0" i="0">
                <a:solidFill>
                  <a:srgbClr val="5A6072"/>
                </a:solidFill>
                <a:latin typeface="Segoe UI"/>
              </a:rPr>
              <a:t> — CME, CLE, CPE</a:t>
            </a:r>
          </a:p>
        </p:txBody>
      </p:sp>
      <p:sp>
        <p:nvSpPr>
          <p:cNvPr id="6" name="TextBox 5"/>
          <p:cNvSpPr txBox="1"/>
          <p:nvPr/>
        </p:nvSpPr>
        <p:spPr>
          <a:xfrm>
            <a:off x="566928" y="1430578"/>
            <a:ext cx="11057839" cy="342442"/>
          </a:xfrm>
          <a:prstGeom prst="rect">
            <a:avLst/>
          </a:prstGeom>
          <a:noFill/>
        </p:spPr>
        <p:txBody>
          <a:bodyPr wrap="square" lIns="0" rIns="0" tIns="0" bIns="0">
            <a:spAutoFit/>
          </a:bodyPr>
          <a:lstStyle/>
          <a:p>
            <a:r>
              <a:rPr sz="1188" b="1" i="0">
                <a:solidFill>
                  <a:srgbClr val="15192B"/>
                </a:solidFill>
                <a:latin typeface="Segoe UI"/>
              </a:rPr>
              <a:t>Supply-side / platform:</a:t>
            </a:r>
          </a:p>
        </p:txBody>
      </p:sp>
      <p:sp>
        <p:nvSpPr>
          <p:cNvPr id="7" name="Oval 6"/>
          <p:cNvSpPr/>
          <p:nvPr/>
        </p:nvSpPr>
        <p:spPr>
          <a:xfrm>
            <a:off x="585216" y="1842424"/>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73021"/>
            <a:ext cx="10820095" cy="492861"/>
          </a:xfrm>
          <a:prstGeom prst="rect">
            <a:avLst/>
          </a:prstGeom>
          <a:noFill/>
        </p:spPr>
        <p:txBody>
          <a:bodyPr wrap="square" lIns="0" rIns="0" tIns="0" bIns="0">
            <a:spAutoFit/>
          </a:bodyPr>
          <a:lstStyle/>
          <a:p>
            <a:r>
              <a:rPr sz="1188" b="1" i="0">
                <a:solidFill>
                  <a:srgbClr val="15192B"/>
                </a:solidFill>
                <a:latin typeface="Segoe UI"/>
              </a:rPr>
              <a:t>Domain experts publishing their own schools</a:t>
            </a:r>
            <a:r>
              <a:rPr sz="1188" b="0" i="0">
                <a:solidFill>
                  <a:srgbClr val="5A6072"/>
                </a:solidFill>
                <a:latin typeface="Segoe UI"/>
              </a:rPr>
              <a:t> — the expert brings expertise, Qlaudia does the production. </a:t>
            </a:r>
            <a:r>
              <a:rPr sz="1188" b="0" i="0">
                <a:solidFill>
                  <a:srgbClr val="5A6072"/>
                </a:solidFill>
                <a:latin typeface="Consolas"/>
              </a:rPr>
              <a:t>School</a:t>
            </a:r>
            <a:r>
              <a:rPr sz="1188" b="0" i="0">
                <a:solidFill>
                  <a:srgbClr val="5A6072"/>
                </a:solidFill>
                <a:latin typeface="Segoe UI"/>
              </a:rPr>
              <a:t> nodes and per-school course listings already exist in the data model</a:t>
            </a:r>
          </a:p>
        </p:txBody>
      </p:sp>
      <p:sp>
        <p:nvSpPr>
          <p:cNvPr id="9" name="Oval 8"/>
          <p:cNvSpPr/>
          <p:nvPr/>
        </p:nvSpPr>
        <p:spPr>
          <a:xfrm>
            <a:off x="585216" y="233528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65883"/>
            <a:ext cx="10820095" cy="296722"/>
          </a:xfrm>
          <a:prstGeom prst="rect">
            <a:avLst/>
          </a:prstGeom>
          <a:noFill/>
        </p:spPr>
        <p:txBody>
          <a:bodyPr wrap="square" lIns="0" rIns="0" tIns="0" bIns="0">
            <a:spAutoFit/>
          </a:bodyPr>
          <a:lstStyle/>
          <a:p>
            <a:r>
              <a:rPr sz="1188" b="1" i="0">
                <a:solidFill>
                  <a:srgbClr val="15192B"/>
                </a:solidFill>
                <a:latin typeface="Segoe UI"/>
              </a:rPr>
              <a:t>Tutoring companies</a:t>
            </a:r>
            <a:r>
              <a:rPr sz="1188" b="0" i="0">
                <a:solidFill>
                  <a:srgbClr val="5A6072"/>
                </a:solidFill>
                <a:latin typeface="Segoe UI"/>
              </a:rPr>
              <a:t> — sell them the curriculum engine rather than compete with them</a:t>
            </a:r>
          </a:p>
        </p:txBody>
      </p:sp>
      <p:sp>
        <p:nvSpPr>
          <p:cNvPr id="11" name="Oval 10"/>
          <p:cNvSpPr/>
          <p:nvPr/>
        </p:nvSpPr>
        <p:spPr>
          <a:xfrm>
            <a:off x="585216" y="2632008"/>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562606"/>
            <a:ext cx="10820095" cy="296722"/>
          </a:xfrm>
          <a:prstGeom prst="rect">
            <a:avLst/>
          </a:prstGeom>
          <a:noFill/>
        </p:spPr>
        <p:txBody>
          <a:bodyPr wrap="square" lIns="0" rIns="0" tIns="0" bIns="0">
            <a:spAutoFit/>
          </a:bodyPr>
          <a:lstStyle/>
          <a:p>
            <a:r>
              <a:rPr sz="1188" b="1" i="0">
                <a:solidFill>
                  <a:srgbClr val="15192B"/>
                </a:solidFill>
                <a:latin typeface="Segoe UI"/>
              </a:rPr>
              <a:t>Publishers &amp; platforms</a:t>
            </a:r>
            <a:r>
              <a:rPr sz="1188" b="0" i="0">
                <a:solidFill>
                  <a:srgbClr val="5A6072"/>
                </a:solidFill>
                <a:latin typeface="Segoe UI"/>
              </a:rPr>
              <a:t> — generation-engine API licensing</a:t>
            </a:r>
          </a:p>
        </p:txBody>
      </p:sp>
      <p:sp>
        <p:nvSpPr>
          <p:cNvPr id="13" name="TextBox 12"/>
          <p:cNvSpPr txBox="1"/>
          <p:nvPr/>
        </p:nvSpPr>
        <p:spPr>
          <a:xfrm>
            <a:off x="566928" y="2859328"/>
            <a:ext cx="11057839" cy="342442"/>
          </a:xfrm>
          <a:prstGeom prst="rect">
            <a:avLst/>
          </a:prstGeom>
          <a:noFill/>
        </p:spPr>
        <p:txBody>
          <a:bodyPr wrap="square" lIns="0" rIns="0" tIns="0" bIns="0">
            <a:spAutoFit/>
          </a:bodyPr>
          <a:lstStyle/>
          <a:p>
            <a:r>
              <a:rPr sz="1188" b="1" i="0">
                <a:solidFill>
                  <a:srgbClr val="15192B"/>
                </a:solidFill>
                <a:latin typeface="Segoe UI"/>
              </a:rPr>
              <a:t>Institutional — long cycles, deliberately deferred:</a:t>
            </a:r>
          </a:p>
        </p:txBody>
      </p:sp>
      <p:sp>
        <p:nvSpPr>
          <p:cNvPr id="14" name="Oval 13"/>
          <p:cNvSpPr/>
          <p:nvPr/>
        </p:nvSpPr>
        <p:spPr>
          <a:xfrm>
            <a:off x="585216" y="3271174"/>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201771"/>
            <a:ext cx="10820095" cy="492861"/>
          </a:xfrm>
          <a:prstGeom prst="rect">
            <a:avLst/>
          </a:prstGeom>
          <a:noFill/>
        </p:spPr>
        <p:txBody>
          <a:bodyPr wrap="square" lIns="0" rIns="0" tIns="0" bIns="0">
            <a:spAutoFit/>
          </a:bodyPr>
          <a:lstStyle/>
          <a:p>
            <a:r>
              <a:rPr sz="1188" b="0" i="0">
                <a:solidFill>
                  <a:srgbClr val="5A6072"/>
                </a:solidFill>
                <a:latin typeface="Segoe UI"/>
              </a:rPr>
              <a:t>K–12 districts · community college developmental ed · university gateway-course remediation · corporate L&amp;D on proprietary internal domains · special education, where prerequisite structure </a:t>
            </a:r>
            <a:r>
              <a:rPr sz="1188" b="0" i="1">
                <a:solidFill>
                  <a:srgbClr val="5A6072"/>
                </a:solidFill>
                <a:latin typeface="Segoe UI"/>
              </a:rPr>
              <a:t>is</a:t>
            </a:r>
            <a:r>
              <a:rPr sz="1188" b="0" i="0">
                <a:solidFill>
                  <a:srgbClr val="5A6072"/>
                </a:solidFill>
                <a:latin typeface="Segoe UI"/>
              </a:rPr>
              <a:t> the pedagogical requirement</a:t>
            </a:r>
          </a:p>
        </p:txBody>
      </p:sp>
      <p:sp>
        <p:nvSpPr>
          <p:cNvPr id="16" name="TextBox 15"/>
          <p:cNvSpPr txBox="1"/>
          <p:nvPr/>
        </p:nvSpPr>
        <p:spPr>
          <a:xfrm>
            <a:off x="566928" y="3694633"/>
            <a:ext cx="11057839" cy="538581"/>
          </a:xfrm>
          <a:prstGeom prst="rect">
            <a:avLst/>
          </a:prstGeom>
          <a:noFill/>
        </p:spPr>
        <p:txBody>
          <a:bodyPr wrap="square" lIns="0" rIns="0" tIns="0" bIns="0">
            <a:spAutoFit/>
          </a:bodyPr>
          <a:lstStyle/>
          <a:p>
            <a:r>
              <a:rPr sz="1188" b="1" i="0">
                <a:solidFill>
                  <a:srgbClr val="15192B"/>
                </a:solidFill>
                <a:latin typeface="Segoe UI"/>
              </a:rPr>
              <a:t>Alternative pricing motions:</a:t>
            </a:r>
            <a:r>
              <a:rPr sz="1188" b="0" i="0">
                <a:solidFill>
                  <a:srgbClr val="5A6072"/>
                </a:solidFill>
                <a:latin typeface="Segoe UI"/>
              </a:rPr>
              <a:t> B2B2C institutional licensing · enterprise training seats · generation-engine API licensing · marketplace revenue share on expert-published schools · patent licensing of either invention independently.</a:t>
            </a:r>
          </a:p>
        </p:txBody>
      </p:sp>
      <p:sp>
        <p:nvSpPr>
          <p:cNvPr id="17" name="TextBox 16"/>
          <p:cNvSpPr txBox="1"/>
          <p:nvPr/>
        </p:nvSpPr>
        <p:spPr>
          <a:xfrm>
            <a:off x="566928" y="4233214"/>
            <a:ext cx="11057839" cy="342442"/>
          </a:xfrm>
          <a:prstGeom prst="rect">
            <a:avLst/>
          </a:prstGeom>
          <a:noFill/>
        </p:spPr>
        <p:txBody>
          <a:bodyPr wrap="square" lIns="0" rIns="0" tIns="0" bIns="0">
            <a:spAutoFit/>
          </a:bodyPr>
          <a:lstStyle/>
          <a:p>
            <a:r>
              <a:rPr sz="1188" b="1" i="0">
                <a:solidFill>
                  <a:srgbClr val="15192B"/>
                </a:solidFill>
                <a:latin typeface="Segoe UI"/>
              </a:rPr>
              <a:t>Why not the three alternatives most often raised:</a:t>
            </a:r>
          </a:p>
        </p:txBody>
      </p:sp>
      <p:sp>
        <p:nvSpPr>
          <p:cNvPr id="18" name="Oval 17"/>
          <p:cNvSpPr/>
          <p:nvPr/>
        </p:nvSpPr>
        <p:spPr>
          <a:xfrm>
            <a:off x="585216" y="4645060"/>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575657"/>
            <a:ext cx="10820095" cy="492861"/>
          </a:xfrm>
          <a:prstGeom prst="rect">
            <a:avLst/>
          </a:prstGeom>
          <a:noFill/>
        </p:spPr>
        <p:txBody>
          <a:bodyPr wrap="square" lIns="0" rIns="0" tIns="0" bIns="0">
            <a:spAutoFit/>
          </a:bodyPr>
          <a:lstStyle/>
          <a:p>
            <a:r>
              <a:rPr sz="1188" b="1" i="0">
                <a:solidFill>
                  <a:srgbClr val="15192B"/>
                </a:solidFill>
                <a:latin typeface="Segoe UI"/>
              </a:rPr>
              <a:t>Supplementary for traditional-school parents</a:t>
            </a:r>
            <a:r>
              <a:rPr sz="1188" b="0" i="0">
                <a:solidFill>
                  <a:srgbClr val="5A6072"/>
                </a:solidFill>
                <a:latin typeface="Segoe UI"/>
              </a:rPr>
              <a:t> — larger, but the subject is fixed by the school so breadth stops mattering, and it competes head-on with free Khan Academy and entrenched IXL. High CAC, crowded.</a:t>
            </a:r>
          </a:p>
        </p:txBody>
      </p:sp>
      <p:sp>
        <p:nvSpPr>
          <p:cNvPr id="20" name="Oval 19"/>
          <p:cNvSpPr/>
          <p:nvPr/>
        </p:nvSpPr>
        <p:spPr>
          <a:xfrm>
            <a:off x="585216" y="5137922"/>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068519"/>
            <a:ext cx="10820095" cy="492861"/>
          </a:xfrm>
          <a:prstGeom prst="rect">
            <a:avLst/>
          </a:prstGeom>
          <a:noFill/>
        </p:spPr>
        <p:txBody>
          <a:bodyPr wrap="square" lIns="0" rIns="0" tIns="0" bIns="0">
            <a:spAutoFit/>
          </a:bodyPr>
          <a:lstStyle/>
          <a:p>
            <a:r>
              <a:rPr sz="1188" b="1" i="0">
                <a:solidFill>
                  <a:srgbClr val="15192B"/>
                </a:solidFill>
                <a:latin typeface="Segoe UI"/>
              </a:rPr>
              <a:t>GED prep</a:t>
            </a:r>
            <a:r>
              <a:rPr sz="1188" b="0" i="0">
                <a:solidFill>
                  <a:srgbClr val="5A6072"/>
                </a:solidFill>
                <a:latin typeface="Segoe UI"/>
              </a:rPr>
              <a:t> — motivated buyers and real prerequisite gaps, but one fixed curriculum under-uses the generation engine, and the population is price-sensitive and often workforce-funded, which returns you to institutional selling.</a:t>
            </a:r>
          </a:p>
        </p:txBody>
      </p:sp>
      <p:sp>
        <p:nvSpPr>
          <p:cNvPr id="22" name="Oval 21"/>
          <p:cNvSpPr/>
          <p:nvPr/>
        </p:nvSpPr>
        <p:spPr>
          <a:xfrm>
            <a:off x="585216" y="563078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561380"/>
            <a:ext cx="10820095" cy="689000"/>
          </a:xfrm>
          <a:prstGeom prst="rect">
            <a:avLst/>
          </a:prstGeom>
          <a:noFill/>
        </p:spPr>
        <p:txBody>
          <a:bodyPr wrap="square" lIns="0" rIns="0" tIns="0" bIns="0">
            <a:spAutoFit/>
          </a:bodyPr>
          <a:lstStyle/>
          <a:p>
            <a:r>
              <a:rPr sz="1188" b="1" i="0">
                <a:solidFill>
                  <a:srgbClr val="15192B"/>
                </a:solidFill>
                <a:latin typeface="Segoe UI"/>
              </a:rPr>
              <a:t>Domain experts publishing schools</a:t>
            </a:r>
            <a:r>
              <a:rPr sz="1188" b="0" i="0">
                <a:solidFill>
                  <a:srgbClr val="5A6072"/>
                </a:solidFill>
                <a:latin typeface="Segoe UI"/>
              </a:rPr>
              <a:t> — the right second act. A two-sided marketplace needs supply and demand solved simultaneously, which is not a solo-founder first move. It becomes powerful once there is demand to sell into, and it is how content scales past the founder.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A10 — Where the ~$5 per-course figure comes from</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5336895" cy="1060132"/>
          </a:xfrm>
          <a:prstGeom prst="rect">
            <a:avLst/>
          </a:prstGeom>
          <a:noFill/>
        </p:spPr>
        <p:txBody>
          <a:bodyPr wrap="square" lIns="0" rIns="0" tIns="0" bIns="0">
            <a:spAutoFit/>
          </a:bodyPr>
          <a:lstStyle/>
          <a:p>
            <a:r>
              <a:rPr sz="1106" b="1" i="0">
                <a:solidFill>
                  <a:srgbClr val="15192B"/>
                </a:solidFill>
                <a:latin typeface="Segoe UI"/>
              </a:rPr>
              <a:t>Status: bottom-up estimate, not yet a measurement.</a:t>
            </a:r>
            <a:r>
              <a:rPr sz="1106" b="0" i="0">
                <a:solidFill>
                  <a:srgbClr val="5A6072"/>
                </a:solidFill>
                <a:latin typeface="Segoe UI"/>
              </a:rPr>
              <a:t> Cost instrumentation (</a:t>
            </a:r>
            <a:r>
              <a:rPr sz="1106" b="0" i="0">
                <a:solidFill>
                  <a:srgbClr val="5A6072"/>
                </a:solidFill>
                <a:latin typeface="Consolas"/>
              </a:rPr>
              <a:t>cost.py</a:t>
            </a:r>
            <a:r>
              <a:rPr sz="1106" b="0" i="0">
                <a:solidFill>
                  <a:srgbClr val="5A6072"/>
                </a:solidFill>
                <a:latin typeface="Segoe UI"/>
              </a:rPr>
              <a:t>, wired into both pipeline phases) now records real token usage and dollar cost on every generation, including runs that fail partway. Replace this section with measured figures after the next domain is created.</a:t>
            </a:r>
          </a:p>
        </p:txBody>
      </p:sp>
      <p:sp>
        <p:nvSpPr>
          <p:cNvPr id="5" name="TextBox 4"/>
          <p:cNvSpPr txBox="1"/>
          <p:nvPr/>
        </p:nvSpPr>
        <p:spPr>
          <a:xfrm>
            <a:off x="566928" y="2193988"/>
            <a:ext cx="5336895" cy="329069"/>
          </a:xfrm>
          <a:prstGeom prst="rect">
            <a:avLst/>
          </a:prstGeom>
          <a:noFill/>
        </p:spPr>
        <p:txBody>
          <a:bodyPr wrap="square" lIns="0" rIns="0" tIns="0" bIns="0">
            <a:spAutoFit/>
          </a:bodyPr>
          <a:lstStyle/>
          <a:p>
            <a:r>
              <a:rPr sz="1106" b="1" i="0">
                <a:solidFill>
                  <a:srgbClr val="15192B"/>
                </a:solidFill>
                <a:latin typeface="Segoe UI"/>
              </a:rPr>
              <a:t>Measured inputs — actual production graph, 64 domains:</a:t>
            </a:r>
          </a:p>
        </p:txBody>
      </p:sp>
      <p:graphicFrame>
        <p:nvGraphicFramePr>
          <p:cNvPr id="6" name="Table 5"/>
          <p:cNvGraphicFramePr>
            <a:graphicFrameLocks noGrp="1"/>
          </p:cNvGraphicFramePr>
          <p:nvPr/>
        </p:nvGraphicFramePr>
        <p:xfrm>
          <a:off x="566928" y="2523058"/>
          <a:ext cx="5336894" cy="1435879"/>
        </p:xfrm>
        <a:graphic>
          <a:graphicData uri="http://schemas.openxmlformats.org/drawingml/2006/table">
            <a:tbl>
              <a:tblPr firstRow="1">
                <a:tableStyleId>{5C22544A-7EE6-4342-B048-85BDC9FD1C3A}</a:tableStyleId>
              </a:tblPr>
              <a:tblGrid>
                <a:gridCol w="2134758"/>
                <a:gridCol w="1601068"/>
                <a:gridCol w="1601068"/>
              </a:tblGrid>
              <a:tr h="254934">
                <a:tc>
                  <a:txBody>
                    <a:bodyPr wrap="square"/>
                    <a:lstStyle/>
                    <a:p>
                      <a:r>
                        <a:rPr sz="902" b="1">
                          <a:solidFill>
                            <a:srgbClr val="15192B"/>
                          </a:solidFill>
                          <a:latin typeface="Segoe UI"/>
                        </a:rPr>
                        <a:t/>
                      </a:r>
                    </a:p>
                  </a:txBody>
                  <a:tcPr marL="82296" marR="64008" marT="32004" marB="32004" anchor="ctr">
                    <a:solidFill>
                      <a:srgbClr val="F4F5F9"/>
                    </a:solidFill>
                  </a:tcPr>
                </a:tc>
                <a:tc>
                  <a:txBody>
                    <a:bodyPr wrap="square"/>
                    <a:lstStyle/>
                    <a:p>
                      <a:r>
                        <a:rPr sz="902" b="1">
                          <a:solidFill>
                            <a:srgbClr val="15192B"/>
                          </a:solidFill>
                          <a:latin typeface="Segoe UI"/>
                        </a:rPr>
                        <a:t>Total</a:t>
                      </a:r>
                    </a:p>
                  </a:txBody>
                  <a:tcPr marL="82296" marR="64008" marT="32004" marB="32004" anchor="ctr">
                    <a:solidFill>
                      <a:srgbClr val="F4F5F9"/>
                    </a:solidFill>
                  </a:tcPr>
                </a:tc>
                <a:tc>
                  <a:txBody>
                    <a:bodyPr wrap="square"/>
                    <a:lstStyle/>
                    <a:p>
                      <a:r>
                        <a:rPr sz="902" b="1">
                          <a:solidFill>
                            <a:srgbClr val="15192B"/>
                          </a:solidFill>
                          <a:latin typeface="Segoe UI"/>
                        </a:rPr>
                        <a:t>Per course</a:t>
                      </a:r>
                    </a:p>
                  </a:txBody>
                  <a:tcPr marL="82296" marR="64008" marT="32004" marB="32004" anchor="ctr">
                    <a:solidFill>
                      <a:srgbClr val="F4F5F9"/>
                    </a:solidFill>
                  </a:tcPr>
                </a:tc>
              </a:tr>
              <a:tr h="236189">
                <a:tc>
                  <a:txBody>
                    <a:bodyPr wrap="square"/>
                    <a:lstStyle/>
                    <a:p>
                      <a:r>
                        <a:rPr sz="902" b="0" i="0">
                          <a:solidFill>
                            <a:srgbClr val="5A6072"/>
                          </a:solidFill>
                          <a:latin typeface="Segoe UI"/>
                        </a:rPr>
                        <a:t>Concepts</a:t>
                      </a:r>
                    </a:p>
                  </a:txBody>
                  <a:tcPr marL="82296" marR="64008" marT="32004" marB="32004" anchor="ctr">
                    <a:solidFill>
                      <a:srgbClr val="FFFFFF"/>
                    </a:solidFill>
                  </a:tcPr>
                </a:tc>
                <a:tc>
                  <a:txBody>
                    <a:bodyPr wrap="square"/>
                    <a:lstStyle/>
                    <a:p>
                      <a:r>
                        <a:rPr sz="902" b="0" i="0">
                          <a:solidFill>
                            <a:srgbClr val="5A6072"/>
                          </a:solidFill>
                          <a:latin typeface="Segoe UI"/>
                        </a:rPr>
                        <a:t>2,202</a:t>
                      </a:r>
                    </a:p>
                  </a:txBody>
                  <a:tcPr marL="82296" marR="64008" marT="32004" marB="32004" anchor="ctr">
                    <a:solidFill>
                      <a:srgbClr val="FFFFFF"/>
                    </a:solidFill>
                  </a:tcPr>
                </a:tc>
                <a:tc>
                  <a:txBody>
                    <a:bodyPr wrap="square"/>
                    <a:lstStyle/>
                    <a:p>
                      <a:r>
                        <a:rPr sz="902" b="0" i="0">
                          <a:solidFill>
                            <a:srgbClr val="5A6072"/>
                          </a:solidFill>
                          <a:latin typeface="Segoe UI"/>
                        </a:rPr>
                        <a:t>~34</a:t>
                      </a:r>
                    </a:p>
                  </a:txBody>
                  <a:tcPr marL="82296" marR="64008" marT="32004" marB="32004" anchor="ctr">
                    <a:solidFill>
                      <a:srgbClr val="FFFFFF"/>
                    </a:solidFill>
                  </a:tcPr>
                </a:tc>
              </a:tr>
              <a:tr h="236189">
                <a:tc>
                  <a:txBody>
                    <a:bodyPr wrap="square"/>
                    <a:lstStyle/>
                    <a:p>
                      <a:r>
                        <a:rPr sz="902" b="0" i="0">
                          <a:solidFill>
                            <a:srgbClr val="5A6072"/>
                          </a:solidFill>
                          <a:latin typeface="Segoe UI"/>
                        </a:rPr>
                        <a:t>Assessment questions</a:t>
                      </a:r>
                    </a:p>
                  </a:txBody>
                  <a:tcPr marL="82296" marR="64008" marT="32004" marB="32004" anchor="ctr">
                    <a:solidFill>
                      <a:srgbClr val="FFFFFF"/>
                    </a:solidFill>
                  </a:tcPr>
                </a:tc>
                <a:tc>
                  <a:txBody>
                    <a:bodyPr wrap="square"/>
                    <a:lstStyle/>
                    <a:p>
                      <a:r>
                        <a:rPr sz="902" b="0" i="0">
                          <a:solidFill>
                            <a:srgbClr val="5A6072"/>
                          </a:solidFill>
                          <a:latin typeface="Segoe UI"/>
                        </a:rPr>
                        <a:t>6,844</a:t>
                      </a:r>
                    </a:p>
                  </a:txBody>
                  <a:tcPr marL="82296" marR="64008" marT="32004" marB="32004" anchor="ctr">
                    <a:solidFill>
                      <a:srgbClr val="FFFFFF"/>
                    </a:solidFill>
                  </a:tcPr>
                </a:tc>
                <a:tc>
                  <a:txBody>
                    <a:bodyPr wrap="square"/>
                    <a:lstStyle/>
                    <a:p>
                      <a:r>
                        <a:rPr sz="902" b="0" i="0">
                          <a:solidFill>
                            <a:srgbClr val="5A6072"/>
                          </a:solidFill>
                          <a:latin typeface="Segoe UI"/>
                        </a:rPr>
                        <a:t>~107</a:t>
                      </a:r>
                    </a:p>
                  </a:txBody>
                  <a:tcPr marL="82296" marR="64008" marT="32004" marB="32004" anchor="ctr">
                    <a:solidFill>
                      <a:srgbClr val="FFFFFF"/>
                    </a:solidFill>
                  </a:tcPr>
                </a:tc>
              </a:tr>
              <a:tr h="236189">
                <a:tc>
                  <a:txBody>
                    <a:bodyPr wrap="square"/>
                    <a:lstStyle/>
                    <a:p>
                      <a:r>
                        <a:rPr sz="902" b="0" i="0">
                          <a:solidFill>
                            <a:srgbClr val="5A6072"/>
                          </a:solidFill>
                          <a:latin typeface="Segoe UI"/>
                        </a:rPr>
                        <a:t>Typed relationship edges</a:t>
                      </a:r>
                    </a:p>
                  </a:txBody>
                  <a:tcPr marL="82296" marR="64008" marT="32004" marB="32004" anchor="ctr">
                    <a:solidFill>
                      <a:srgbClr val="FFFFFF"/>
                    </a:solidFill>
                  </a:tcPr>
                </a:tc>
                <a:tc>
                  <a:txBody>
                    <a:bodyPr wrap="square"/>
                    <a:lstStyle/>
                    <a:p>
                      <a:r>
                        <a:rPr sz="902" b="0" i="0">
                          <a:solidFill>
                            <a:srgbClr val="5A6072"/>
                          </a:solidFill>
                          <a:latin typeface="Segoe UI"/>
                        </a:rPr>
                        <a:t>14,580</a:t>
                      </a:r>
                    </a:p>
                  </a:txBody>
                  <a:tcPr marL="82296" marR="64008" marT="32004" marB="32004" anchor="ctr">
                    <a:solidFill>
                      <a:srgbClr val="FFFFFF"/>
                    </a:solidFill>
                  </a:tcPr>
                </a:tc>
                <a:tc>
                  <a:txBody>
                    <a:bodyPr wrap="square"/>
                    <a:lstStyle/>
                    <a:p>
                      <a:r>
                        <a:rPr sz="902" b="0" i="0">
                          <a:solidFill>
                            <a:srgbClr val="5A6072"/>
                          </a:solidFill>
                          <a:latin typeface="Segoe UI"/>
                        </a:rPr>
                        <a:t>~228</a:t>
                      </a:r>
                    </a:p>
                  </a:txBody>
                  <a:tcPr marL="82296" marR="64008" marT="32004" marB="32004" anchor="ctr">
                    <a:solidFill>
                      <a:srgbClr val="FFFFFF"/>
                    </a:solidFill>
                  </a:tcPr>
                </a:tc>
              </a:tr>
              <a:tr h="236189">
                <a:tc>
                  <a:txBody>
                    <a:bodyPr wrap="square"/>
                    <a:lstStyle/>
                    <a:p>
                      <a:r>
                        <a:rPr sz="902" b="0" i="0">
                          <a:solidFill>
                            <a:srgbClr val="5A6072"/>
                          </a:solidFill>
                          <a:latin typeface="Segoe UI"/>
                        </a:rPr>
                        <a:t>Prerequisite edges</a:t>
                      </a:r>
                    </a:p>
                  </a:txBody>
                  <a:tcPr marL="82296" marR="64008" marT="32004" marB="32004" anchor="ctr">
                    <a:solidFill>
                      <a:srgbClr val="FFFFFF"/>
                    </a:solidFill>
                  </a:tcPr>
                </a:tc>
                <a:tc>
                  <a:txBody>
                    <a:bodyPr wrap="square"/>
                    <a:lstStyle/>
                    <a:p>
                      <a:r>
                        <a:rPr sz="902" b="0" i="0">
                          <a:solidFill>
                            <a:srgbClr val="5A6072"/>
                          </a:solidFill>
                          <a:latin typeface="Segoe UI"/>
                        </a:rPr>
                        <a:t>9,420</a:t>
                      </a:r>
                    </a:p>
                  </a:txBody>
                  <a:tcPr marL="82296" marR="64008" marT="32004" marB="32004" anchor="ctr">
                    <a:solidFill>
                      <a:srgbClr val="FFFFFF"/>
                    </a:solidFill>
                  </a:tcPr>
                </a:tc>
                <a:tc>
                  <a:txBody>
                    <a:bodyPr wrap="square"/>
                    <a:lstStyle/>
                    <a:p>
                      <a:r>
                        <a:rPr sz="902" b="0" i="0">
                          <a:solidFill>
                            <a:srgbClr val="5A6072"/>
                          </a:solidFill>
                          <a:latin typeface="Segoe UI"/>
                        </a:rPr>
                        <a:t>~147</a:t>
                      </a:r>
                    </a:p>
                  </a:txBody>
                  <a:tcPr marL="82296" marR="64008" marT="32004" marB="32004" anchor="ctr">
                    <a:solidFill>
                      <a:srgbClr val="FFFFFF"/>
                    </a:solidFill>
                  </a:tcPr>
                </a:tc>
              </a:tr>
              <a:tr h="236189">
                <a:tc>
                  <a:txBody>
                    <a:bodyPr wrap="square"/>
                    <a:lstStyle/>
                    <a:p>
                      <a:r>
                        <a:rPr sz="902" b="0" i="0">
                          <a:solidFill>
                            <a:srgbClr val="5A6072"/>
                          </a:solidFill>
                          <a:latin typeface="Segoe UI"/>
                        </a:rPr>
                        <a:t>Stored instruction</a:t>
                      </a:r>
                    </a:p>
                  </a:txBody>
                  <a:tcPr marL="82296" marR="64008" marT="32004" marB="32004" anchor="ctr">
                    <a:solidFill>
                      <a:srgbClr val="FFFFFF"/>
                    </a:solidFill>
                  </a:tcPr>
                </a:tc>
                <a:tc>
                  <a:txBody>
                    <a:bodyPr wrap="square"/>
                    <a:lstStyle/>
                    <a:p>
                      <a:r>
                        <a:rPr sz="902" b="0" i="0">
                          <a:solidFill>
                            <a:srgbClr val="5A6072"/>
                          </a:solidFill>
                          <a:latin typeface="Segoe UI"/>
                        </a:rPr>
                        <a:t>16.4M chars (~4.1M tokens)</a:t>
                      </a:r>
                    </a:p>
                  </a:txBody>
                  <a:tcPr marL="82296" marR="64008" marT="32004" marB="32004" anchor="ctr">
                    <a:solidFill>
                      <a:srgbClr val="FFFFFF"/>
                    </a:solidFill>
                  </a:tcPr>
                </a:tc>
                <a:tc>
                  <a:txBody>
                    <a:bodyPr wrap="square"/>
                    <a:lstStyle/>
                    <a:p>
                      <a:r>
                        <a:rPr sz="902" b="0" i="0">
                          <a:solidFill>
                            <a:srgbClr val="5A6072"/>
                          </a:solidFill>
                          <a:latin typeface="Segoe UI"/>
                        </a:rPr>
                        <a:t>~256K chars (~64K tokens)</a:t>
                      </a:r>
                    </a:p>
                  </a:txBody>
                  <a:tcPr marL="82296" marR="64008" marT="32004" marB="32004" anchor="ctr">
                    <a:solidFill>
                      <a:srgbClr val="FFFFFF"/>
                    </a:solidFill>
                  </a:tcPr>
                </a:tc>
              </a:tr>
            </a:tbl>
          </a:graphicData>
        </a:graphic>
      </p:graphicFrame>
      <p:sp>
        <p:nvSpPr>
          <p:cNvPr id="7" name="TextBox 6"/>
          <p:cNvSpPr txBox="1"/>
          <p:nvPr/>
        </p:nvSpPr>
        <p:spPr>
          <a:xfrm>
            <a:off x="566928" y="4141820"/>
            <a:ext cx="5336895" cy="694601"/>
          </a:xfrm>
          <a:prstGeom prst="rect">
            <a:avLst/>
          </a:prstGeom>
          <a:noFill/>
        </p:spPr>
        <p:txBody>
          <a:bodyPr wrap="square" lIns="0" rIns="0" tIns="0" bIns="0">
            <a:spAutoFit/>
          </a:bodyPr>
          <a:lstStyle/>
          <a:p>
            <a:r>
              <a:rPr sz="1106" b="1" i="0">
                <a:solidFill>
                  <a:srgbClr val="15192B"/>
                </a:solidFill>
                <a:latin typeface="Segoe UI"/>
              </a:rPr>
              <a:t>Estimated model spend per course</a:t>
            </a:r>
            <a:r>
              <a:rPr sz="1106" b="0" i="0">
                <a:solidFill>
                  <a:srgbClr val="5A6072"/>
                </a:solidFill>
                <a:latin typeface="Segoe UI"/>
              </a:rPr>
              <a:t>, priced at Anthropic's </a:t>
            </a:r>
            <a:r>
              <a:rPr sz="1106" b="1" i="0">
                <a:solidFill>
                  <a:srgbClr val="15192B"/>
                </a:solidFill>
                <a:latin typeface="Segoe UI"/>
              </a:rPr>
              <a:t>post-promotional</a:t>
            </a:r>
            <a:r>
              <a:rPr sz="1106" b="0" i="0">
                <a:solidFill>
                  <a:srgbClr val="5A6072"/>
                </a:solidFill>
                <a:latin typeface="Segoe UI"/>
              </a:rPr>
              <a:t> rates (Sonnet 5 at $3/$15 per MTok, Haiku 4.5 at $1/$5; cache reads 0.1×, cache writes 1.25×):</a:t>
            </a:r>
          </a:p>
        </p:txBody>
      </p:sp>
      <p:graphicFrame>
        <p:nvGraphicFramePr>
          <p:cNvPr id="8" name="Table 7"/>
          <p:cNvGraphicFramePr>
            <a:graphicFrameLocks noGrp="1"/>
          </p:cNvGraphicFramePr>
          <p:nvPr/>
        </p:nvGraphicFramePr>
        <p:xfrm>
          <a:off x="566928" y="4836421"/>
          <a:ext cx="5336895" cy="1435879"/>
        </p:xfrm>
        <a:graphic>
          <a:graphicData uri="http://schemas.openxmlformats.org/drawingml/2006/table">
            <a:tbl>
              <a:tblPr firstRow="1">
                <a:tableStyleId>{5C22544A-7EE6-4342-B048-85BDC9FD1C3A}</a:tableStyleId>
              </a:tblPr>
              <a:tblGrid>
                <a:gridCol w="2454971"/>
                <a:gridCol w="2881924"/>
              </a:tblGrid>
              <a:tr h="254934">
                <a:tc>
                  <a:txBody>
                    <a:bodyPr wrap="square"/>
                    <a:lstStyle/>
                    <a:p>
                      <a:r>
                        <a:rPr sz="902" b="1">
                          <a:solidFill>
                            <a:srgbClr val="15192B"/>
                          </a:solidFill>
                          <a:latin typeface="Segoe UI"/>
                        </a:rPr>
                        <a:t>Component</a:t>
                      </a:r>
                    </a:p>
                  </a:txBody>
                  <a:tcPr marL="82296" marR="64008" marT="32004" marB="32004" anchor="ctr">
                    <a:solidFill>
                      <a:srgbClr val="F4F5F9"/>
                    </a:solidFill>
                  </a:tcPr>
                </a:tc>
                <a:tc>
                  <a:txBody>
                    <a:bodyPr wrap="square"/>
                    <a:lstStyle/>
                    <a:p>
                      <a:r>
                        <a:rPr sz="902" b="1">
                          <a:solidFill>
                            <a:srgbClr val="15192B"/>
                          </a:solidFill>
                          <a:latin typeface="Segoe UI"/>
                        </a:rPr>
                        <a:t>Estimate</a:t>
                      </a:r>
                    </a:p>
                  </a:txBody>
                  <a:tcPr marL="82296" marR="64008" marT="32004" marB="32004" anchor="ctr">
                    <a:solidFill>
                      <a:srgbClr val="F4F5F9"/>
                    </a:solidFill>
                  </a:tcPr>
                </a:tc>
              </a:tr>
              <a:tr h="236189">
                <a:tc>
                  <a:txBody>
                    <a:bodyPr wrap="square"/>
                    <a:lstStyle/>
                    <a:p>
                      <a:r>
                        <a:rPr sz="902" b="0" i="0">
                          <a:solidFill>
                            <a:srgbClr val="5A6072"/>
                          </a:solidFill>
                          <a:latin typeface="Segoe UI"/>
                        </a:rPr>
                        <a:t>Primary model output — instruction, figure construction code, edges, prerequisites, thinking</a:t>
                      </a:r>
                    </a:p>
                  </a:txBody>
                  <a:tcPr marL="82296" marR="64008" marT="32004" marB="32004" anchor="ctr">
                    <a:solidFill>
                      <a:srgbClr val="FFFFFF"/>
                    </a:solidFill>
                  </a:tcPr>
                </a:tc>
                <a:tc>
                  <a:txBody>
                    <a:bodyPr wrap="square"/>
                    <a:lstStyle/>
                    <a:p>
                      <a:r>
                        <a:rPr sz="902" b="0" i="0">
                          <a:solidFill>
                            <a:srgbClr val="5A6072"/>
                          </a:solidFill>
                          <a:latin typeface="Segoe UI"/>
                        </a:rPr>
                        <a:t>~175K tokens → ~$2.60</a:t>
                      </a:r>
                    </a:p>
                  </a:txBody>
                  <a:tcPr marL="82296" marR="64008" marT="32004" marB="32004" anchor="ctr">
                    <a:solidFill>
                      <a:srgbClr val="FFFFFF"/>
                    </a:solidFill>
                  </a:tcPr>
                </a:tc>
              </a:tr>
              <a:tr h="236189">
                <a:tc>
                  <a:txBody>
                    <a:bodyPr wrap="square"/>
                    <a:lstStyle/>
                    <a:p>
                      <a:r>
                        <a:rPr sz="902" b="0" i="0">
                          <a:solidFill>
                            <a:srgbClr val="5A6072"/>
                          </a:solidFill>
                          <a:latin typeface="Segoe UI"/>
                        </a:rPr>
                        <a:t>Primary model input — uncached</a:t>
                      </a:r>
                    </a:p>
                  </a:txBody>
                  <a:tcPr marL="82296" marR="64008" marT="32004" marB="32004" anchor="ctr">
                    <a:solidFill>
                      <a:srgbClr val="FFFFFF"/>
                    </a:solidFill>
                  </a:tcPr>
                </a:tc>
                <a:tc>
                  <a:txBody>
                    <a:bodyPr wrap="square"/>
                    <a:lstStyle/>
                    <a:p>
                      <a:r>
                        <a:rPr sz="902" b="0" i="0">
                          <a:solidFill>
                            <a:srgbClr val="5A6072"/>
                          </a:solidFill>
                          <a:latin typeface="Segoe UI"/>
                        </a:rPr>
                        <a:t>~400K tokens → ~$1.20</a:t>
                      </a:r>
                    </a:p>
                  </a:txBody>
                  <a:tcPr marL="82296" marR="64008" marT="32004" marB="32004" anchor="ctr">
                    <a:solidFill>
                      <a:srgbClr val="FFFFFF"/>
                    </a:solidFill>
                  </a:tcPr>
                </a:tc>
              </a:tr>
              <a:tr h="236189">
                <a:tc>
                  <a:txBody>
                    <a:bodyPr wrap="square"/>
                    <a:lstStyle/>
                    <a:p>
                      <a:r>
                        <a:rPr sz="902" b="0" i="0">
                          <a:solidFill>
                            <a:srgbClr val="5A6072"/>
                          </a:solidFill>
                          <a:latin typeface="Segoe UI"/>
                        </a:rPr>
                        <a:t>Primary model input — cache reads and writes</a:t>
                      </a:r>
                    </a:p>
                  </a:txBody>
                  <a:tcPr marL="82296" marR="64008" marT="32004" marB="32004" anchor="ctr">
                    <a:solidFill>
                      <a:srgbClr val="FFFFFF"/>
                    </a:solidFill>
                  </a:tcPr>
                </a:tc>
                <a:tc>
                  <a:txBody>
                    <a:bodyPr wrap="square"/>
                    <a:lstStyle/>
                    <a:p>
                      <a:r>
                        <a:rPr sz="902" b="0" i="0">
                          <a:solidFill>
                            <a:srgbClr val="5A6072"/>
                          </a:solidFill>
                          <a:latin typeface="Segoe UI"/>
                        </a:rPr>
                        <a:t>→ ~$0.50</a:t>
                      </a:r>
                    </a:p>
                  </a:txBody>
                  <a:tcPr marL="82296" marR="64008" marT="32004" marB="32004" anchor="ctr">
                    <a:solidFill>
                      <a:srgbClr val="FFFFFF"/>
                    </a:solidFill>
                  </a:tcPr>
                </a:tc>
              </a:tr>
              <a:tr h="236189">
                <a:tc>
                  <a:txBody>
                    <a:bodyPr wrap="square"/>
                    <a:lstStyle/>
                    <a:p>
                      <a:r>
                        <a:rPr sz="902" b="0" i="0">
                          <a:solidFill>
                            <a:srgbClr val="5A6072"/>
                          </a:solidFill>
                          <a:latin typeface="Segoe UI"/>
                        </a:rPr>
                        <a:t>QA model (assessments, figure assertions)</a:t>
                      </a:r>
                    </a:p>
                  </a:txBody>
                  <a:tcPr marL="82296" marR="64008" marT="32004" marB="32004" anchor="ctr">
                    <a:solidFill>
                      <a:srgbClr val="FFFFFF"/>
                    </a:solidFill>
                  </a:tcPr>
                </a:tc>
                <a:tc>
                  <a:txBody>
                    <a:bodyPr wrap="square"/>
                    <a:lstStyle/>
                    <a:p>
                      <a:r>
                        <a:rPr sz="902" b="0" i="0">
                          <a:solidFill>
                            <a:srgbClr val="5A6072"/>
                          </a:solidFill>
                          <a:latin typeface="Segoe UI"/>
                        </a:rPr>
                        <a:t>→ ~$0.30</a:t>
                      </a:r>
                    </a:p>
                  </a:txBody>
                  <a:tcPr marL="82296" marR="64008" marT="32004" marB="32004" anchor="ctr">
                    <a:solidFill>
                      <a:srgbClr val="FFFFFF"/>
                    </a:solidFill>
                  </a:tcPr>
                </a:tc>
              </a:tr>
              <a:tr h="236189">
                <a:tc>
                  <a:txBody>
                    <a:bodyPr wrap="square"/>
                    <a:lstStyle/>
                    <a:p>
                      <a:r>
                        <a:rPr sz="902" b="1" i="0">
                          <a:solidFill>
                            <a:srgbClr val="15192B"/>
                          </a:solidFill>
                          <a:latin typeface="Segoe UI"/>
                        </a:rPr>
                        <a:t>Total</a:t>
                      </a:r>
                    </a:p>
                  </a:txBody>
                  <a:tcPr marL="82296" marR="64008" marT="32004" marB="32004" anchor="ctr">
                    <a:solidFill>
                      <a:srgbClr val="FFFFFF"/>
                    </a:solidFill>
                  </a:tcPr>
                </a:tc>
                <a:tc>
                  <a:txBody>
                    <a:bodyPr wrap="square"/>
                    <a:lstStyle/>
                    <a:p>
                      <a:r>
                        <a:rPr sz="902" b="1" i="0">
                          <a:solidFill>
                            <a:srgbClr val="15192B"/>
                          </a:solidFill>
                          <a:latin typeface="Segoe UI"/>
                        </a:rPr>
                        <a:t>~$4.60</a:t>
                      </a:r>
                    </a:p>
                  </a:txBody>
                  <a:tcPr marL="82296" marR="64008" marT="32004" marB="32004"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A10 — Where the ~$5 per-course figure comes from  (cont.)</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369189"/>
          </a:xfrm>
          <a:prstGeom prst="rect">
            <a:avLst/>
          </a:prstGeom>
          <a:noFill/>
        </p:spPr>
        <p:txBody>
          <a:bodyPr wrap="square" lIns="0" rIns="0" tIns="0" bIns="0">
            <a:spAutoFit/>
          </a:bodyPr>
          <a:lstStyle/>
          <a:p>
            <a:r>
              <a:rPr sz="1350" b="0" i="0">
                <a:solidFill>
                  <a:srgbClr val="5A6072"/>
                </a:solidFill>
                <a:latin typeface="Segoe UI"/>
              </a:rPr>
              <a:t>Rounded to </a:t>
            </a:r>
            <a:r>
              <a:rPr sz="1350" b="1" i="0">
                <a:solidFill>
                  <a:srgbClr val="15192B"/>
                </a:solidFill>
                <a:latin typeface="Segoe UI"/>
              </a:rPr>
              <a:t>~$5</a:t>
            </a:r>
            <a:r>
              <a:rPr sz="1350" b="0" i="0">
                <a:solidFill>
                  <a:srgbClr val="5A6072"/>
                </a:solidFill>
                <a:latin typeface="Segoe UI"/>
              </a:rPr>
              <a:t> for the slide. Roughly </a:t>
            </a:r>
            <a:r>
              <a:rPr sz="1350" b="1" i="0">
                <a:solidFill>
                  <a:srgbClr val="15192B"/>
                </a:solidFill>
                <a:latin typeface="Segoe UI"/>
              </a:rPr>
              <a:t>$0.15 per concept</a:t>
            </a:r>
            <a:r>
              <a:rPr sz="1350" b="0" i="0">
                <a:solidFill>
                  <a:srgbClr val="5A6072"/>
                </a:solidFill>
                <a:latin typeface="Segoe UI"/>
              </a:rPr>
              <a:t>.</a:t>
            </a:r>
          </a:p>
        </p:txBody>
      </p:sp>
      <p:sp>
        <p:nvSpPr>
          <p:cNvPr id="5" name="TextBox 4"/>
          <p:cNvSpPr txBox="1"/>
          <p:nvPr/>
        </p:nvSpPr>
        <p:spPr>
          <a:xfrm>
            <a:off x="566928" y="1503045"/>
            <a:ext cx="11057839" cy="369189"/>
          </a:xfrm>
          <a:prstGeom prst="rect">
            <a:avLst/>
          </a:prstGeom>
          <a:noFill/>
        </p:spPr>
        <p:txBody>
          <a:bodyPr wrap="square" lIns="0" rIns="0" tIns="0" bIns="0">
            <a:spAutoFit/>
          </a:bodyPr>
          <a:lstStyle/>
          <a:p>
            <a:r>
              <a:rPr sz="1350" b="1" i="0">
                <a:solidFill>
                  <a:srgbClr val="15192B"/>
                </a:solidFill>
                <a:latin typeface="Segoe UI"/>
              </a:rPr>
              <a:t>Caveats to state if challenged:</a:t>
            </a:r>
          </a:p>
        </p:txBody>
      </p:sp>
      <p:sp>
        <p:nvSpPr>
          <p:cNvPr id="6" name="Oval 5"/>
          <p:cNvSpPr/>
          <p:nvPr/>
        </p:nvSpPr>
        <p:spPr>
          <a:xfrm>
            <a:off x="585216" y="1951101"/>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72234"/>
            <a:ext cx="10820095" cy="769239"/>
          </a:xfrm>
          <a:prstGeom prst="rect">
            <a:avLst/>
          </a:prstGeom>
          <a:noFill/>
        </p:spPr>
        <p:txBody>
          <a:bodyPr wrap="square" lIns="0" rIns="0" tIns="0" bIns="0">
            <a:spAutoFit/>
          </a:bodyPr>
          <a:lstStyle/>
          <a:p>
            <a:r>
              <a:rPr sz="1350" b="0" i="0">
                <a:solidFill>
                  <a:srgbClr val="5A6072"/>
                </a:solidFill>
                <a:latin typeface="Segoe UI"/>
              </a:rPr>
              <a:t>Generated output exceeds stored output by roughly 2.7× — figure-repair loops, discarded candidates, and adaptive-thinking tokens are all billed but not all stored. The estimate accounts for this; a naïve estimate from stored content alone would be far too low.</a:t>
            </a:r>
          </a:p>
        </p:txBody>
      </p:sp>
      <p:sp>
        <p:nvSpPr>
          <p:cNvPr id="8" name="Oval 7"/>
          <p:cNvSpPr/>
          <p:nvPr/>
        </p:nvSpPr>
        <p:spPr>
          <a:xfrm>
            <a:off x="585216" y="2720340"/>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41473"/>
            <a:ext cx="10820095" cy="546354"/>
          </a:xfrm>
          <a:prstGeom prst="rect">
            <a:avLst/>
          </a:prstGeom>
          <a:noFill/>
        </p:spPr>
        <p:txBody>
          <a:bodyPr wrap="square" lIns="0" rIns="0" tIns="0" bIns="0">
            <a:spAutoFit/>
          </a:bodyPr>
          <a:lstStyle/>
          <a:p>
            <a:r>
              <a:rPr sz="1350" b="0" i="0">
                <a:solidFill>
                  <a:srgbClr val="5A6072"/>
                </a:solidFill>
                <a:latin typeface="Segoe UI"/>
              </a:rPr>
              <a:t>Voyage AI embeddings and reranking are </a:t>
            </a:r>
            <a:r>
              <a:rPr sz="1350" b="1" i="0">
                <a:solidFill>
                  <a:srgbClr val="15192B"/>
                </a:solidFill>
                <a:latin typeface="Segoe UI"/>
              </a:rPr>
              <a:t>excluded</a:t>
            </a:r>
            <a:r>
              <a:rPr sz="1350" b="0" i="0">
                <a:solidFill>
                  <a:srgbClr val="5A6072"/>
                </a:solidFill>
                <a:latin typeface="Segoe UI"/>
              </a:rPr>
              <a:t> (they bypass LangChain's callback instrumentation). They are small relative to generation but non-zero.</a:t>
            </a:r>
          </a:p>
        </p:txBody>
      </p:sp>
      <p:sp>
        <p:nvSpPr>
          <p:cNvPr id="10" name="Oval 9"/>
          <p:cNvSpPr/>
          <p:nvPr/>
        </p:nvSpPr>
        <p:spPr>
          <a:xfrm>
            <a:off x="585216" y="3266694"/>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187827"/>
            <a:ext cx="10820095" cy="323469"/>
          </a:xfrm>
          <a:prstGeom prst="rect">
            <a:avLst/>
          </a:prstGeom>
          <a:noFill/>
        </p:spPr>
        <p:txBody>
          <a:bodyPr wrap="square" lIns="0" rIns="0" tIns="0" bIns="0">
            <a:spAutoFit/>
          </a:bodyPr>
          <a:lstStyle/>
          <a:p>
            <a:r>
              <a:rPr sz="1350" b="0" i="0">
                <a:solidFill>
                  <a:srgbClr val="5A6072"/>
                </a:solidFill>
                <a:latin typeface="Segoe UI"/>
              </a:rPr>
              <a:t>Infrastructure, Neo4j hosting, and human review time are excluded.</a:t>
            </a:r>
          </a:p>
        </p:txBody>
      </p:sp>
      <p:sp>
        <p:nvSpPr>
          <p:cNvPr id="12" name="Oval 11"/>
          <p:cNvSpPr/>
          <p:nvPr/>
        </p:nvSpPr>
        <p:spPr>
          <a:xfrm>
            <a:off x="585216" y="359016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511296"/>
            <a:ext cx="10820095" cy="546354"/>
          </a:xfrm>
          <a:prstGeom prst="rect">
            <a:avLst/>
          </a:prstGeom>
          <a:noFill/>
        </p:spPr>
        <p:txBody>
          <a:bodyPr wrap="square" lIns="0" rIns="0" tIns="0" bIns="0">
            <a:spAutoFit/>
          </a:bodyPr>
          <a:lstStyle/>
          <a:p>
            <a:r>
              <a:rPr sz="1350" b="0" i="0">
                <a:solidFill>
                  <a:srgbClr val="5A6072"/>
                </a:solidFill>
                <a:latin typeface="Segoe UI"/>
              </a:rPr>
              <a:t>Cost varies with domain size. A 45-concept course costs meaningfully more than a 20-concept one; quote the range ($3–8) rather than the point estimate if pressed on variance.</a:t>
            </a:r>
          </a:p>
        </p:txBody>
      </p:sp>
      <p:sp>
        <p:nvSpPr>
          <p:cNvPr id="14" name="Oval 13"/>
          <p:cNvSpPr/>
          <p:nvPr/>
        </p:nvSpPr>
        <p:spPr>
          <a:xfrm>
            <a:off x="585216" y="4136517"/>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4057650"/>
            <a:ext cx="10820095" cy="546354"/>
          </a:xfrm>
          <a:prstGeom prst="rect">
            <a:avLst/>
          </a:prstGeom>
          <a:noFill/>
        </p:spPr>
        <p:txBody>
          <a:bodyPr wrap="square" lIns="0" rIns="0" tIns="0" bIns="0">
            <a:spAutoFit/>
          </a:bodyPr>
          <a:lstStyle/>
          <a:p>
            <a:r>
              <a:rPr sz="1350" b="1" i="0">
                <a:solidFill>
                  <a:srgbClr val="15192B"/>
                </a:solidFill>
                <a:latin typeface="Segoe UI"/>
              </a:rPr>
              <a:t>Sonnet 5's introductory rate ($2/$10) expires 2026-08-31.</a:t>
            </a:r>
            <a:r>
              <a:rPr sz="1350" b="0" i="0">
                <a:solidFill>
                  <a:srgbClr val="5A6072"/>
                </a:solidFill>
                <a:latin typeface="Segoe UI"/>
              </a:rPr>
              <a:t> This estimate deliberately uses the higher standard rate so it does not expire with the promo.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A11 — Pre-revenue plan: sponsored schools</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5336895" cy="877366"/>
          </a:xfrm>
          <a:prstGeom prst="rect">
            <a:avLst/>
          </a:prstGeom>
          <a:noFill/>
        </p:spPr>
        <p:txBody>
          <a:bodyPr wrap="square" lIns="0" rIns="0" tIns="0" bIns="0">
            <a:spAutoFit/>
          </a:bodyPr>
          <a:lstStyle/>
          <a:p>
            <a:r>
              <a:rPr sz="1106" b="1" i="0">
                <a:solidFill>
                  <a:srgbClr val="15192B"/>
                </a:solidFill>
                <a:latin typeface="Segoe UI"/>
              </a:rPr>
              <a:t>The model.</a:t>
            </a:r>
            <a:r>
              <a:rPr sz="1106" b="0" i="0">
                <a:solidFill>
                  <a:srgbClr val="5A6072"/>
                </a:solidFill>
                <a:latin typeface="Segoe UI"/>
              </a:rPr>
              <a:t> Qlaudia generates a course. A subject-matter expert reviews it, publishes it under their own name as a school, and promotes it to their own audience. They are paid an honorarium for the review work now, and a share of sales once purchasing exists.</a:t>
            </a:r>
          </a:p>
        </p:txBody>
      </p:sp>
      <p:sp>
        <p:nvSpPr>
          <p:cNvPr id="5" name="TextBox 4"/>
          <p:cNvSpPr txBox="1"/>
          <p:nvPr/>
        </p:nvSpPr>
        <p:spPr>
          <a:xfrm>
            <a:off x="566928" y="2011222"/>
            <a:ext cx="5336895" cy="1791195"/>
          </a:xfrm>
          <a:prstGeom prst="rect">
            <a:avLst/>
          </a:prstGeom>
          <a:noFill/>
        </p:spPr>
        <p:txBody>
          <a:bodyPr wrap="square" lIns="0" rIns="0" tIns="0" bIns="0">
            <a:spAutoFit/>
          </a:bodyPr>
          <a:lstStyle/>
          <a:p>
            <a:r>
              <a:rPr sz="1106" b="1" i="0">
                <a:solidFill>
                  <a:srgbClr val="C2410C"/>
                </a:solidFill>
                <a:latin typeface="Segoe UI"/>
              </a:rPr>
              <a:t>The split: founding sponsors keep 80%, permanently.</a:t>
            </a:r>
            <a:r>
              <a:rPr sz="1106" b="0" i="0">
                <a:solidFill>
                  <a:srgbClr val="C2410C"/>
                </a:solidFill>
                <a:latin typeface="Segoe UI"/>
              </a:rPr>
              <a:t> Later cohorts join at a standard rate. The share is never reduced for anyone who already has it — cutting a creator's take is the reliable way to lose a creator community, and grandfathering costs almost nothing because the founding cohort is small. Twenty percent will not cover overhead at first; that is deliberate, and the honest framing is that the first cohort is there to prove the mechanism, not to produce margin. ⚠️ TODO: 80% of gross, or of net after payment processing?</a:t>
            </a:r>
          </a:p>
        </p:txBody>
      </p:sp>
      <p:sp>
        <p:nvSpPr>
          <p:cNvPr id="6" name="TextBox 5"/>
          <p:cNvSpPr txBox="1"/>
          <p:nvPr/>
        </p:nvSpPr>
        <p:spPr>
          <a:xfrm>
            <a:off x="566928" y="3802418"/>
            <a:ext cx="5336895" cy="1060132"/>
          </a:xfrm>
          <a:prstGeom prst="rect">
            <a:avLst/>
          </a:prstGeom>
          <a:noFill/>
        </p:spPr>
        <p:txBody>
          <a:bodyPr wrap="square" lIns="0" rIns="0" tIns="0" bIns="0">
            <a:spAutoFit/>
          </a:bodyPr>
          <a:lstStyle/>
          <a:p>
            <a:r>
              <a:rPr sz="1106" b="1" i="0">
                <a:solidFill>
                  <a:srgbClr val="15192B"/>
                </a:solidFill>
                <a:latin typeface="Segoe UI"/>
              </a:rPr>
              <a:t>Why the supply side works.</a:t>
            </a:r>
            <a:r>
              <a:rPr sz="1106" b="0" i="0">
                <a:solidFill>
                  <a:srgbClr val="5A6072"/>
                </a:solidFill>
                <a:latin typeface="Segoe UI"/>
              </a:rPr>
              <a:t> Content marketplaces fail because experts will not write courses — it costs them months. The generation engine removes that cost: the ask is a few hours of review, and the return is a published course carrying their name. That is the whole reason this is recruitable.</a:t>
            </a:r>
          </a:p>
        </p:txBody>
      </p:sp>
      <p:sp>
        <p:nvSpPr>
          <p:cNvPr id="7" name="TextBox 6"/>
          <p:cNvSpPr txBox="1"/>
          <p:nvPr/>
        </p:nvSpPr>
        <p:spPr>
          <a:xfrm>
            <a:off x="566928" y="4862550"/>
            <a:ext cx="5336895" cy="1608429"/>
          </a:xfrm>
          <a:prstGeom prst="rect">
            <a:avLst/>
          </a:prstGeom>
          <a:noFill/>
        </p:spPr>
        <p:txBody>
          <a:bodyPr wrap="square" lIns="0" rIns="0" tIns="0" bIns="0">
            <a:spAutoFit/>
          </a:bodyPr>
          <a:lstStyle/>
          <a:p>
            <a:r>
              <a:rPr sz="1106" b="1" i="0">
                <a:solidFill>
                  <a:srgbClr val="15192B"/>
                </a:solidFill>
                <a:latin typeface="Segoe UI"/>
              </a:rPr>
              <a:t>Why it solves distribution rather than buying it.</a:t>
            </a:r>
            <a:r>
              <a:rPr sz="1106" b="0" i="0">
                <a:solidFill>
                  <a:srgbClr val="5A6072"/>
                </a:solidFill>
                <a:latin typeface="Segoe UI"/>
              </a:rPr>
              <a:t> One post to an arrhythmia forum — from a patient, about his own case, linking his own school — produced the site's best traffic and its only power user. Every other forum post was removed by moderators as advertisement. Moderators judge </a:t>
            </a:r>
            <a:r>
              <a:rPr sz="1106" b="0" i="1">
                <a:solidFill>
                  <a:srgbClr val="5A6072"/>
                </a:solidFill>
                <a:latin typeface="Segoe UI"/>
              </a:rPr>
              <a:t>standing</a:t>
            </a:r>
            <a:r>
              <a:rPr sz="1106" b="0" i="0">
                <a:solidFill>
                  <a:srgbClr val="5A6072"/>
                </a:solidFill>
                <a:latin typeface="Segoe UI"/>
              </a:rPr>
              <a:t>, not content. An SME promoting their own school is a member with standing; Qlaudia promoting anything is a vendor. </a:t>
            </a:r>
            <a:r>
              <a:rPr sz="1106" b="1" i="0">
                <a:solidFill>
                  <a:srgbClr val="15192B"/>
                </a:solidFill>
                <a:latin typeface="Segoe UI"/>
              </a:rPr>
              <a:t>Never post as Qlaudia. Give someone a reason to speak instead.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A11 — Pre-revenue plan: sponsored schools  (cont.)</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5336895" cy="1242898"/>
          </a:xfrm>
          <a:prstGeom prst="rect">
            <a:avLst/>
          </a:prstGeom>
          <a:noFill/>
        </p:spPr>
        <p:txBody>
          <a:bodyPr wrap="square" lIns="0" rIns="0" tIns="0" bIns="0">
            <a:spAutoFit/>
          </a:bodyPr>
          <a:lstStyle/>
          <a:p>
            <a:r>
              <a:rPr sz="1106" b="1" i="0">
                <a:solidFill>
                  <a:srgbClr val="C2410C"/>
                </a:solidFill>
                <a:latin typeface="Segoe UI"/>
              </a:rPr>
              <a:t>Who to recruit.</a:t>
            </a:r>
            <a:r>
              <a:rPr sz="1106" b="0" i="0">
                <a:solidFill>
                  <a:srgbClr val="C2410C"/>
                </a:solidFill>
                <a:latin typeface="Segoe UI"/>
              </a:rPr>
              <a:t> Teachers and practitioners with a reputation to </a:t>
            </a:r>
            <a:r>
              <a:rPr sz="1106" b="0" i="1">
                <a:solidFill>
                  <a:srgbClr val="C2410C"/>
                </a:solidFill>
                <a:latin typeface="Segoe UI"/>
              </a:rPr>
              <a:t>build</a:t>
            </a:r>
            <a:r>
              <a:rPr sz="1106" b="0" i="0">
                <a:solidFill>
                  <a:srgbClr val="C2410C"/>
                </a:solidFill>
                <a:latin typeface="Segoe UI"/>
              </a:rPr>
              <a:t>, not established authorities with one to protect — the risk calculus runs their way, and they are far easier to reach. The profile worth hunting is a </a:t>
            </a:r>
            <a:r>
              <a:rPr sz="1106" b="1" i="0">
                <a:solidFill>
                  <a:srgbClr val="C2410C"/>
                </a:solidFill>
                <a:latin typeface="Segoe UI"/>
              </a:rPr>
              <a:t>teacher who already has an audience</a:t>
            </a:r>
            <a:r>
              <a:rPr sz="1106" b="0" i="0">
                <a:solidFill>
                  <a:srgbClr val="C2410C"/>
                </a:solidFill>
                <a:latin typeface="Segoe UI"/>
              </a:rPr>
              <a:t>: teacher-creators on YouTube, TikTok and Instagram. Smaller pool, much higher payoff per recruit. ⚠️ TODO: a named shortlist.</a:t>
            </a:r>
          </a:p>
        </p:txBody>
      </p:sp>
      <p:sp>
        <p:nvSpPr>
          <p:cNvPr id="5" name="TextBox 4"/>
          <p:cNvSpPr txBox="1"/>
          <p:nvPr/>
        </p:nvSpPr>
        <p:spPr>
          <a:xfrm>
            <a:off x="566928" y="2376754"/>
            <a:ext cx="5336895" cy="329069"/>
          </a:xfrm>
          <a:prstGeom prst="rect">
            <a:avLst/>
          </a:prstGeom>
          <a:noFill/>
        </p:spPr>
        <p:txBody>
          <a:bodyPr wrap="square" lIns="0" rIns="0" tIns="0" bIns="0">
            <a:spAutoFit/>
          </a:bodyPr>
          <a:lstStyle/>
          <a:p>
            <a:r>
              <a:rPr sz="1106" b="1" i="0">
                <a:solidFill>
                  <a:srgbClr val="15192B"/>
                </a:solidFill>
                <a:latin typeface="Segoe UI"/>
              </a:rPr>
              <a:t>Sequencing.</a:t>
            </a:r>
          </a:p>
        </p:txBody>
      </p:sp>
      <p:sp>
        <p:nvSpPr>
          <p:cNvPr id="6" name="TextBox 5"/>
          <p:cNvSpPr txBox="1"/>
          <p:nvPr/>
        </p:nvSpPr>
        <p:spPr>
          <a:xfrm>
            <a:off x="566928" y="2705823"/>
            <a:ext cx="5336895" cy="283349"/>
          </a:xfrm>
          <a:prstGeom prst="rect">
            <a:avLst/>
          </a:prstGeom>
          <a:noFill/>
        </p:spPr>
        <p:txBody>
          <a:bodyPr wrap="square" lIns="0" rIns="0" tIns="0" bIns="0">
            <a:spAutoFit/>
          </a:bodyPr>
          <a:lstStyle/>
          <a:p>
            <a:r>
              <a:rPr sz="1106" b="0" i="0">
                <a:solidFill>
                  <a:srgbClr val="5A6072"/>
                </a:solidFill>
                <a:latin typeface="Segoe UI"/>
              </a:rPr>
              <a:t>1. Recruit two or three SMEs; generate and review their schools</a:t>
            </a:r>
          </a:p>
        </p:txBody>
      </p:sp>
      <p:sp>
        <p:nvSpPr>
          <p:cNvPr id="7" name="TextBox 6"/>
          <p:cNvSpPr txBox="1"/>
          <p:nvPr/>
        </p:nvSpPr>
        <p:spPr>
          <a:xfrm>
            <a:off x="566928" y="2989173"/>
            <a:ext cx="5336895" cy="466115"/>
          </a:xfrm>
          <a:prstGeom prst="rect">
            <a:avLst/>
          </a:prstGeom>
          <a:noFill/>
        </p:spPr>
        <p:txBody>
          <a:bodyPr wrap="square" lIns="0" rIns="0" tIns="0" bIns="0">
            <a:spAutoFit/>
          </a:bodyPr>
          <a:lstStyle/>
          <a:p>
            <a:r>
              <a:rPr sz="1106" b="0" i="0">
                <a:solidFill>
                  <a:srgbClr val="5A6072"/>
                </a:solidFill>
                <a:latin typeface="Segoe UI"/>
              </a:rPr>
              <a:t>2. Launch </a:t>
            </a:r>
            <a:r>
              <a:rPr sz="1106" b="1" i="0">
                <a:solidFill>
                  <a:srgbClr val="15192B"/>
                </a:solidFill>
                <a:latin typeface="Segoe UI"/>
              </a:rPr>
              <a:t>free</a:t>
            </a:r>
            <a:r>
              <a:rPr sz="1106" b="0" i="0">
                <a:solidFill>
                  <a:srgbClr val="5A6072"/>
                </a:solidFill>
                <a:latin typeface="Segoe UI"/>
              </a:rPr>
              <a:t>; measure whether their audience actually arrives — the genuinely unproven step</a:t>
            </a:r>
          </a:p>
        </p:txBody>
      </p:sp>
      <p:sp>
        <p:nvSpPr>
          <p:cNvPr id="8" name="TextBox 7"/>
          <p:cNvSpPr txBox="1"/>
          <p:nvPr/>
        </p:nvSpPr>
        <p:spPr>
          <a:xfrm>
            <a:off x="566928" y="3455288"/>
            <a:ext cx="5336895" cy="283349"/>
          </a:xfrm>
          <a:prstGeom prst="rect">
            <a:avLst/>
          </a:prstGeom>
          <a:noFill/>
        </p:spPr>
        <p:txBody>
          <a:bodyPr wrap="square" lIns="0" rIns="0" tIns="0" bIns="0">
            <a:spAutoFit/>
          </a:bodyPr>
          <a:lstStyle/>
          <a:p>
            <a:r>
              <a:rPr sz="1106" b="0" i="0">
                <a:solidFill>
                  <a:srgbClr val="5A6072"/>
                </a:solidFill>
                <a:latin typeface="Segoe UI"/>
              </a:rPr>
              <a:t>3. If it does, build purchasing (~2 weeks) and convert</a:t>
            </a:r>
          </a:p>
        </p:txBody>
      </p:sp>
      <p:sp>
        <p:nvSpPr>
          <p:cNvPr id="9" name="TextBox 8"/>
          <p:cNvSpPr txBox="1"/>
          <p:nvPr/>
        </p:nvSpPr>
        <p:spPr>
          <a:xfrm>
            <a:off x="566928" y="3738638"/>
            <a:ext cx="5336895" cy="466115"/>
          </a:xfrm>
          <a:prstGeom prst="rect">
            <a:avLst/>
          </a:prstGeom>
          <a:noFill/>
        </p:spPr>
        <p:txBody>
          <a:bodyPr wrap="square" lIns="0" rIns="0" tIns="0" bIns="0">
            <a:spAutoFit/>
          </a:bodyPr>
          <a:lstStyle/>
          <a:p>
            <a:r>
              <a:rPr sz="1106" b="0" i="0">
                <a:solidFill>
                  <a:srgbClr val="5A6072"/>
                </a:solidFill>
                <a:latin typeface="Segoe UI"/>
              </a:rPr>
              <a:t>4. If it does not, the eighty hours were never spent and the lesson came cheap</a:t>
            </a:r>
          </a:p>
        </p:txBody>
      </p:sp>
      <p:sp>
        <p:nvSpPr>
          <p:cNvPr id="10" name="TextBox 9"/>
          <p:cNvSpPr txBox="1"/>
          <p:nvPr/>
        </p:nvSpPr>
        <p:spPr>
          <a:xfrm>
            <a:off x="566928" y="4204754"/>
            <a:ext cx="5336895" cy="877366"/>
          </a:xfrm>
          <a:prstGeom prst="rect">
            <a:avLst/>
          </a:prstGeom>
          <a:noFill/>
        </p:spPr>
        <p:txBody>
          <a:bodyPr wrap="square" lIns="0" rIns="0" tIns="0" bIns="0">
            <a:spAutoFit/>
          </a:bodyPr>
          <a:lstStyle/>
          <a:p>
            <a:r>
              <a:rPr sz="1106" b="1" i="0">
                <a:solidFill>
                  <a:srgbClr val="15192B"/>
                </a:solidFill>
                <a:latin typeface="Segoe UI"/>
              </a:rPr>
              <a:t>What a few schools tests.</a:t>
            </a:r>
            <a:r>
              <a:rPr sz="1106" b="0" i="0">
                <a:solidFill>
                  <a:srgbClr val="5A6072"/>
                </a:solidFill>
                <a:latin typeface="Segoe UI"/>
              </a:rPr>
              <a:t> The </a:t>
            </a:r>
            <a:r>
              <a:rPr sz="1106" b="0" i="1">
                <a:solidFill>
                  <a:srgbClr val="5A6072"/>
                </a:solidFill>
                <a:latin typeface="Segoe UI"/>
              </a:rPr>
              <a:t>mechanism</a:t>
            </a:r>
            <a:r>
              <a:rPr sz="1106" b="0" i="0">
                <a:solidFill>
                  <a:srgbClr val="5A6072"/>
                </a:solidFill>
                <a:latin typeface="Segoe UI"/>
              </a:rPr>
              <a:t> — can we recruit, will they promote, does an audience arrive, will it pay. It does not test the hit; hits are rare and three shots will not produce one. The hit is what the next round is for.</a:t>
            </a:r>
          </a:p>
        </p:txBody>
      </p:sp>
      <p:sp>
        <p:nvSpPr>
          <p:cNvPr id="11" name="TextBox 10"/>
          <p:cNvSpPr txBox="1"/>
          <p:nvPr/>
        </p:nvSpPr>
        <p:spPr>
          <a:xfrm>
            <a:off x="566928" y="5082120"/>
            <a:ext cx="5336895" cy="877366"/>
          </a:xfrm>
          <a:prstGeom prst="rect">
            <a:avLst/>
          </a:prstGeom>
          <a:noFill/>
        </p:spPr>
        <p:txBody>
          <a:bodyPr wrap="square" lIns="0" rIns="0" tIns="0" bIns="0">
            <a:spAutoFit/>
          </a:bodyPr>
          <a:lstStyle/>
          <a:p>
            <a:r>
              <a:rPr sz="1106" b="1" i="0">
                <a:solidFill>
                  <a:srgbClr val="15192B"/>
                </a:solidFill>
                <a:latin typeface="Segoe UI"/>
              </a:rPr>
              <a:t>The portfolio logic.</a:t>
            </a:r>
            <a:r>
              <a:rPr sz="1106" b="0" i="0">
                <a:solidFill>
                  <a:srgbClr val="5A6072"/>
                </a:solidFill>
                <a:latin typeface="Segoe UI"/>
              </a:rPr>
              <a:t> We are not betting on a subject, we are betting on a mechanism, and letting subjects compete on evidence. Arrhythmia is a school. 7–12 maths is a school. The market tells us where to point everything else.</a:t>
            </a:r>
          </a:p>
        </p:txBody>
      </p:sp>
      <p:sp>
        <p:nvSpPr>
          <p:cNvPr id="12" name="TextBox 11"/>
          <p:cNvSpPr txBox="1"/>
          <p:nvPr/>
        </p:nvSpPr>
        <p:spPr>
          <a:xfrm>
            <a:off x="566928" y="5959487"/>
            <a:ext cx="5336895" cy="329069"/>
          </a:xfrm>
          <a:prstGeom prst="rect">
            <a:avLst/>
          </a:prstGeom>
          <a:noFill/>
        </p:spPr>
        <p:txBody>
          <a:bodyPr wrap="square" lIns="0" rIns="0" tIns="0" bIns="0">
            <a:spAutoFit/>
          </a:bodyPr>
          <a:lstStyle/>
          <a:p>
            <a:r>
              <a:rPr sz="1106" b="1" i="0">
                <a:solidFill>
                  <a:srgbClr val="15192B"/>
                </a:solidFill>
                <a:latin typeface="Segoe UI"/>
              </a:rPr>
              <a:t>Open risks.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475488"/>
          </a:xfrm>
          <a:prstGeom prst="rect">
            <a:avLst/>
          </a:prstGeom>
          <a:noFill/>
        </p:spPr>
        <p:txBody>
          <a:bodyPr wrap="square" lIns="0" rIns="0" tIns="0" bIns="0">
            <a:spAutoFit/>
          </a:bodyPr>
          <a:lstStyle/>
          <a:p>
            <a:r>
              <a:rPr sz="2500" b="1">
                <a:solidFill>
                  <a:srgbClr val="15192B"/>
                </a:solidFill>
                <a:latin typeface="Segoe UI"/>
              </a:rPr>
              <a:t>A11 — Pre-revenue plan: sponsored schools  (cont.)</a:t>
            </a:r>
          </a:p>
        </p:txBody>
      </p:sp>
      <p:sp>
        <p:nvSpPr>
          <p:cNvPr id="3" name="Rectangle 2"/>
          <p:cNvSpPr/>
          <p:nvPr/>
        </p:nvSpPr>
        <p:spPr>
          <a:xfrm>
            <a:off x="566928" y="950976"/>
            <a:ext cx="11057839" cy="12801"/>
          </a:xfrm>
          <a:prstGeom prst="rect">
            <a:avLst/>
          </a:prstGeom>
          <a:solidFill>
            <a:srgbClr val="D8D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85216" y="1212723"/>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133856"/>
            <a:ext cx="10820095" cy="769239"/>
          </a:xfrm>
          <a:prstGeom prst="rect">
            <a:avLst/>
          </a:prstGeom>
          <a:noFill/>
        </p:spPr>
        <p:txBody>
          <a:bodyPr wrap="square" lIns="0" rIns="0" tIns="0" bIns="0">
            <a:spAutoFit/>
          </a:bodyPr>
          <a:lstStyle/>
          <a:p>
            <a:r>
              <a:rPr sz="1350" b="1" i="0">
                <a:solidFill>
                  <a:srgbClr val="C2410C"/>
                </a:solidFill>
                <a:latin typeface="Segoe UI"/>
              </a:rPr>
              <a:t>The blessing must mean something.</a:t>
            </a:r>
            <a:r>
              <a:rPr sz="1350" b="0" i="0">
                <a:solidFill>
                  <a:srgbClr val="C2410C"/>
                </a:solidFill>
                <a:latin typeface="Segoe UI"/>
              </a:rPr>
              <a:t> An SME who skims and signs is exposed if the course is wrong, and their credibility burns before ours. One public instance makes recruiting much harder. A described review workflow is both a safeguard and a recruiting asset. ⚠️ TODO: define it.</a:t>
            </a:r>
          </a:p>
        </p:txBody>
      </p:sp>
      <p:sp>
        <p:nvSpPr>
          <p:cNvPr id="6" name="Oval 5"/>
          <p:cNvSpPr/>
          <p:nvPr/>
        </p:nvSpPr>
        <p:spPr>
          <a:xfrm>
            <a:off x="585216" y="1981962"/>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903094"/>
            <a:ext cx="10820095" cy="546354"/>
          </a:xfrm>
          <a:prstGeom prst="rect">
            <a:avLst/>
          </a:prstGeom>
          <a:noFill/>
        </p:spPr>
        <p:txBody>
          <a:bodyPr wrap="square" lIns="0" rIns="0" tIns="0" bIns="0">
            <a:spAutoFit/>
          </a:bodyPr>
          <a:lstStyle/>
          <a:p>
            <a:r>
              <a:rPr sz="1350" b="1" i="0">
                <a:solidFill>
                  <a:srgbClr val="15192B"/>
                </a:solidFill>
                <a:latin typeface="Segoe UI"/>
              </a:rPr>
              <a:t>Small reputation, small audience.</a:t>
            </a:r>
            <a:r>
              <a:rPr sz="1350" b="0" i="0">
                <a:solidFill>
                  <a:srgbClr val="5A6072"/>
                </a:solidFill>
                <a:latin typeface="Segoe UI"/>
              </a:rPr>
              <a:t> The calculus that makes a young teacher say yes is the same one that limits their reach. Hence the teacher-with-an-audience profile.</a:t>
            </a:r>
          </a:p>
        </p:txBody>
      </p:sp>
      <p:sp>
        <p:nvSpPr>
          <p:cNvPr id="8" name="Oval 7"/>
          <p:cNvSpPr/>
          <p:nvPr/>
        </p:nvSpPr>
        <p:spPr>
          <a:xfrm>
            <a:off x="585216" y="2528316"/>
            <a:ext cx="65836" cy="65836"/>
          </a:xfrm>
          <a:prstGeom prst="ellipse">
            <a:avLst/>
          </a:prstGeom>
          <a:solidFill>
            <a:srgbClr val="4A3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449449"/>
            <a:ext cx="10820095" cy="546354"/>
          </a:xfrm>
          <a:prstGeom prst="rect">
            <a:avLst/>
          </a:prstGeom>
          <a:noFill/>
        </p:spPr>
        <p:txBody>
          <a:bodyPr wrap="square" lIns="0" rIns="0" tIns="0" bIns="0">
            <a:spAutoFit/>
          </a:bodyPr>
          <a:lstStyle/>
          <a:p>
            <a:r>
              <a:rPr sz="1350" b="1" i="0">
                <a:solidFill>
                  <a:srgbClr val="15192B"/>
                </a:solidFill>
                <a:latin typeface="Segoe UI"/>
              </a:rPr>
              <a:t>Honorarium versus promotion.</a:t>
            </a:r>
            <a:r>
              <a:rPr sz="1350" b="0" i="0">
                <a:solidFill>
                  <a:srgbClr val="5A6072"/>
                </a:solidFill>
                <a:latin typeface="Segoe UI"/>
              </a:rPr>
              <a:t> Paying for review is compensation for hours; paying for promotion is an advertisement, and audiences can tell the difference.</a:t>
            </a:r>
          </a:p>
        </p:txBody>
      </p:sp>
      <p:sp>
        <p:nvSpPr>
          <p:cNvPr id="10" name="TextBox 9"/>
          <p:cNvSpPr txBox="1"/>
          <p:nvPr/>
        </p:nvSpPr>
        <p:spPr>
          <a:xfrm>
            <a:off x="566928" y="2995803"/>
            <a:ext cx="11057839" cy="592074"/>
          </a:xfrm>
          <a:prstGeom prst="rect">
            <a:avLst/>
          </a:prstGeom>
          <a:noFill/>
        </p:spPr>
        <p:txBody>
          <a:bodyPr wrap="square" lIns="0" rIns="0" tIns="0" bIns="0">
            <a:spAutoFit/>
          </a:bodyPr>
          <a:lstStyle/>
          <a:p>
            <a:r>
              <a:rPr sz="1350" b="1" i="0">
                <a:solidFill>
                  <a:srgbClr val="15192B"/>
                </a:solidFill>
                <a:latin typeface="Segoe UI"/>
              </a:rPr>
              <a:t>Metrics that count.</a:t>
            </a:r>
            <a:r>
              <a:rPr sz="1350" b="0" i="0">
                <a:solidFill>
                  <a:srgbClr val="5A6072"/>
                </a:solidFill>
                <a:latin typeface="Segoe UI"/>
              </a:rPr>
              <a:t> Schools live, audience arriving per school, accounts created, courses started and finished, and — once purchasing exists — conversion and revenue per school. Raw visits will be discounted, and rightly.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