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"Slide 9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Optional setup for Slide 4. If you want the founder slide to detonate, plant the fuse here: "the hand-authoring bottleneck isn't new — it's the reason this whole approach was abandoned forty years ago." Then let Slide 4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The photograph on the slide is the fallback; the bound copy is the moment.</a:t>
            </a:r>
          </a:p>
          <a:p>
            <a:r>
              <a:rPr sz="1100"/>
              <a:t>The move that makes it land is quoting your own limitation. Don't present 1985 as a triumph — present it as a diagnosis. "I built this. It worked, structurally. It failed on acquisition, and I wrote that failure into my own abstract. That specific failure is what got solved in the last three years, and I recognized it the week it happened." Self-critical framing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why it failed.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technical advisor reads materially safer to an angel than a solo founder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For angels this is the highest-conviction slide in the deck, because it converts "interesting idea" into "this exists." Generating a domain live on stage is worth more than any slide you could put here.</a:t>
            </a:r>
          </a:p>
          <a:p>
            <a:r>
              <a:rPr sz="1100"/>
              <a:t>⚠️ TODO: time a full generation run. If it's longer than ~90 seconds, pre-record it and play the recording — a live run that stalls in front of angels does more damage than a video.</a:t>
            </a:r>
          </a:p>
          <a:p>
            <a:r>
              <a:rPr sz="1100"/>
              <a:t>⚠️ TODO: screenshots needed regardless, as fallback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Keep this slide short and non-technical out loud. The one line that lands with a non-technical angel: "When Qlaudia draws a diagram, it doesn't sketch what a diagram usually looks like — it computes the actual figure and then checks it." That's the difference between "AI wrote a textbook" and "AI wrote a textbook you'd let a student rely on."</a:t>
            </a:r>
          </a:p>
          <a:p>
            <a:r>
              <a:rPr sz="1100"/>
              <a:t>Full technical detail is in Appendix A2 for anyone who asks — don't preempt it on the slide.</a:t>
            </a:r>
          </a:p>
          <a:p>
            <a:r>
              <a:rPr sz="1100"/>
              <a:t>⚠️ TODO: pull one genuinely impressive generated figure from a live domain as the visual. One good figure does this slide's whole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Slide 4. This slide is far more persuasive as "I documented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 TODO — add the actual per-domain generation cost. That single number is the why-now argument compressed, and it's likely startling enough to be the most memorable figure in the deck. "It costs $X to generate what CKS needed a human expert to type in one concept at a time" is the line angels repeat to each other afterward.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most important unfinished slide after the founder slide, and it's the one that pays off Slide 1. A deck that opens on $7.3T and never names a reachable number reads as unserious. A deck that opens on $7.3T and then says "and here is the $40M segment I can win first, at this price, with these first ten customers" reads as ambitious and grounded.</a:t>
            </a:r>
          </a:p>
          <a:p>
            <a:r>
              <a:rPr sz="1100"/>
              <a:t>Listing five revenue models reads as having none. Pick one.</a:t>
            </a:r>
          </a:p>
          <a:p>
            <a:r>
              <a:rPr sz="1100"/>
              <a:t>Why homeschool math/science is the recommended beachhead — the reasoning, for when an angel challenges it:</a:t>
            </a:r>
          </a:p>
          <a:p>
            <a:r>
              <a:rPr sz="1100"/>
              <a:t>1. No procurement. A solo founder cannot survive a nine-month district sales cycle. Homeschool parents decide in an evening and pay by card. This alone eliminates K–12 institutional, community college, and university as first markets, however large they are.</a:t>
            </a:r>
          </a:p>
          <a:p>
            <a:r>
              <a:rPr sz="1100"/>
              <a:t>2. The pain is sharpest exactly where the parent's own competence ends. Most homeschool parents can teach reading and arithmetic. They cannot teach algebra II, precalculus, chemistry, or physics — and they know it. That's where they already spend real money on tutors, Saxon, Apologia, Thinkwell, Derek Owens.</a:t>
            </a:r>
          </a:p>
          <a:p>
            <a:r>
              <a:rPr sz="1100"/>
              <a:t>3. Their stated anxiety is literally prerequisite gaps. "Is my kid actually ready for algebra II? What did we miss?" Qlaudia's transitive prerequisite graph and readiness computation answer the exact question this buyer lies awake about. No other segment's core anxiety maps this cleanly onto the core technology.</a:t>
            </a:r>
          </a:p>
          <a:p>
            <a:r>
              <a:rPr sz="1100"/>
              <a:t>4. Breadth of generation is a real advantage here. One family needs many subjects across many grade levels. Generating any domain on demand is worth more to them than to a buyer who needs one fixed curriculum.</a:t>
            </a:r>
          </a:p>
          <a:p>
            <a:r>
              <a:rPr sz="1100"/>
              <a:t>5. The verified-figure pipeline matters most in math and science. That is where a wrong diagram is fatal and where competitors' AI content is weakest. Differentiator and need coincide.</a:t>
            </a:r>
          </a:p>
          <a:p>
            <a:r>
              <a:rPr sz="1100"/>
              <a:t>6. Reachable, concentrated communities. State homeschool associations, conventions, co-ops, curriculum-review sites, large Facebook and Reddit groups. Cheap acquisition without a sales team.</a:t>
            </a:r>
          </a:p>
          <a:p>
            <a:r>
              <a:rPr sz="1100"/>
              <a:t>Honest risks to have answers for: (a) AI-generated content skepticism runs high among homeschool parents, especially religious ones — the figure-verification and separate-QA-model story is the answer, and it's why Slide 6 exists; (b) buying is seasonal, concentrated in spring and summer; (c) price sensitivity is real — this is a value-conscious buyer.</a:t>
            </a:r>
          </a:p>
          <a:p>
            <a:r>
              <a:rPr sz="1100"/>
              <a:t>Why not the other three you raised:</a:t>
            </a:r>
          </a:p>
          <a:p>
            <a:r>
              <a:rPr sz="1100"/>
              <a:t>- Supplementary for traditional-school parents is a larger market but a worse fit: the subject is fixed by the school, so breadth stops mattering, and you compete head-on with free Khan Academy and entrenched IXL. High CAC, crowded.</a:t>
            </a:r>
          </a:p>
          <a:p>
            <a:r>
              <a:rPr sz="1100"/>
              <a:t>- GED prep has motivated buyers and genuine prerequisite gaps, but it's one fixed curriculum — it under-uses the generation engine entirely — and the population is price-sensitive and often funded through workforce programs, which puts you back into institutional selling.</a:t>
            </a:r>
          </a:p>
          <a:p>
            <a:r>
              <a:rPr sz="1100"/>
              <a:t>- Domain experts publishing schools is the right second act, not the first. It's a two-sided marketplace with a chicken-and-egg problem, and solving supply and demand simultaneously is not a solo-founder move. It becomes powerful once there's demand to sell into — and it's how content scales past you.</a:t>
            </a:r>
          </a:p>
          <a:p>
            <a:r>
              <a:rPr sz="1100"/>
              <a:t>⚠️ TODO: Charles to confirm the beachhead, set a price point, and name the realistic first ten customers.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early-stage traction is thin, reframe honestly around what has been de-risked: working end-to-end pipeline, filed patent, generated domains in production. Angels fund pre-traction all the time; they do not fund founders who seem to be hiding the absence of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Angels care less about a spend breakdown than about one thing: what is measurably true after this money that isn't true today? Name that milestone explicitly and tie every allocation line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 TODO: Charles — a standard post-money SAFE is the lowest-friction instrument for a round of this shape, but the cap is a real decision. Worth a conversation before the first meeting, since it's hard to revise downward once quoted.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Slide 1 competition and the most motivated acquirers. That's a strength; say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(digital slice of the above)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Only ~5.5% of total education spend is digital</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TextBox 10"/>
          <p:cNvSpPr txBox="1"/>
          <p:nvPr/>
        </p:nvSpPr>
        <p:spPr>
          <a:xfrm>
            <a:off x="6287871" y="2312822"/>
            <a:ext cx="5336895" cy="1425663"/>
          </a:xfrm>
          <a:prstGeom prst="rect">
            <a:avLst/>
          </a:prstGeom>
          <a:noFill/>
        </p:spPr>
        <p:txBody>
          <a:bodyPr wrap="square" lIns="0" rIns="0" tIns="0" bIns="0">
            <a:spAutoFit/>
          </a:bodyPr>
          <a:lstStyle/>
          <a:p>
            <a:r>
              <a:rPr sz="1106" b="0" i="0">
                <a:solidFill>
                  <a:srgbClr val="5A6072"/>
                </a:solidFill>
                <a:latin typeface="Segoe UI"/>
              </a:rPr>
              <a:t>Private tutoring (~$134B global) · Corporate training (~$427B global) · Language learning (~$85B global) · Test prep &amp; admissions · Professional licensure &amp; continuing education (CME, CLE, CPE, bar, nursing, trades) · IT &amp; technical certification · Homeschooling, microschools &amp; pods · Compliance &amp; regulatory training · Military, government &amp; NGO training · Self-directed learning &amp; bootcamps · Textbook &amp; courseware publishing</a:t>
            </a:r>
          </a:p>
        </p:txBody>
      </p:sp>
      <p:sp>
        <p:nvSpPr>
          <p:cNvPr id="12" name="TextBox 11"/>
          <p:cNvSpPr txBox="1"/>
          <p:nvPr/>
        </p:nvSpPr>
        <p:spPr>
          <a:xfrm>
            <a:off x="6287871" y="3738486"/>
            <a:ext cx="5336895" cy="316382"/>
          </a:xfrm>
          <a:prstGeom prst="rect">
            <a:avLst/>
          </a:prstGeom>
          <a:noFill/>
        </p:spPr>
        <p:txBody>
          <a:bodyPr wrap="square" lIns="0" rIns="0" tIns="0" bIns="0">
            <a:spAutoFit/>
          </a:bodyPr>
          <a:lstStyle/>
          <a:p>
            <a:r>
              <a:rPr sz="852" b="1">
                <a:solidFill>
                  <a:srgbClr val="4A3AFF"/>
                </a:solidFill>
                <a:latin typeface="Segoe UI"/>
              </a:rPr>
              <a:t>THE THREE NUMBERS THAT MATTER</a:t>
            </a:r>
          </a:p>
        </p:txBody>
      </p:sp>
      <p:sp>
        <p:nvSpPr>
          <p:cNvPr id="13" name="TextBox 12"/>
          <p:cNvSpPr txBox="1"/>
          <p:nvPr/>
        </p:nvSpPr>
        <p:spPr>
          <a:xfrm>
            <a:off x="6287871" y="4054868"/>
            <a:ext cx="5336895" cy="466115"/>
          </a:xfrm>
          <a:prstGeom prst="rect">
            <a:avLst/>
          </a:prstGeom>
          <a:noFill/>
        </p:spPr>
        <p:txBody>
          <a:bodyPr wrap="square" lIns="0" rIns="0" tIns="0" bIns="0">
            <a:spAutoFit/>
          </a:bodyPr>
          <a:lstStyle/>
          <a:p>
            <a:r>
              <a:rPr sz="1106" b="0" i="0">
                <a:solidFill>
                  <a:srgbClr val="5A6072"/>
                </a:solidFill>
                <a:latin typeface="Segoe UI"/>
              </a:rPr>
              <a:t>1. </a:t>
            </a:r>
            <a:r>
              <a:rPr sz="1106" b="1" i="0">
                <a:solidFill>
                  <a:srgbClr val="15192B"/>
                </a:solidFill>
                <a:latin typeface="Segoe UI"/>
              </a:rPr>
              <a:t>~$7.3T</a:t>
            </a:r>
            <a:r>
              <a:rPr sz="1106" b="0" i="0">
                <a:solidFill>
                  <a:srgbClr val="5A6072"/>
                </a:solidFill>
                <a:latin typeface="Segoe UI"/>
              </a:rPr>
              <a:t> — total annual spend on teaching human beings. Growing to </a:t>
            </a:r>
            <a:r>
              <a:rPr sz="1106" b="1" i="0">
                <a:solidFill>
                  <a:srgbClr val="15192B"/>
                </a:solidFill>
                <a:latin typeface="Segoe UI"/>
              </a:rPr>
              <a:t>$10T by 2030</a:t>
            </a:r>
            <a:r>
              <a:rPr sz="1106" b="0" i="0">
                <a:solidFill>
                  <a:srgbClr val="5A6072"/>
                </a:solidFill>
                <a:latin typeface="Segoe UI"/>
              </a:rPr>
              <a:t>.</a:t>
            </a:r>
          </a:p>
        </p:txBody>
      </p:sp>
      <p:sp>
        <p:nvSpPr>
          <p:cNvPr id="14" name="TextBox 13"/>
          <p:cNvSpPr txBox="1"/>
          <p:nvPr/>
        </p:nvSpPr>
        <p:spPr>
          <a:xfrm>
            <a:off x="6287871" y="4520984"/>
            <a:ext cx="5336895" cy="466115"/>
          </a:xfrm>
          <a:prstGeom prst="rect">
            <a:avLst/>
          </a:prstGeom>
          <a:noFill/>
        </p:spPr>
        <p:txBody>
          <a:bodyPr wrap="square" lIns="0" rIns="0" tIns="0" bIns="0">
            <a:spAutoFit/>
          </a:bodyPr>
          <a:lstStyle/>
          <a:p>
            <a:r>
              <a:rPr sz="1106" b="0" i="0">
                <a:solidFill>
                  <a:srgbClr val="5A6072"/>
                </a:solidFill>
                <a:latin typeface="Segoe UI"/>
              </a:rPr>
              <a:t>2. </a:t>
            </a:r>
            <a:r>
              <a:rPr sz="1106" b="1" i="0">
                <a:solidFill>
                  <a:srgbClr val="15192B"/>
                </a:solidFill>
                <a:latin typeface="Segoe UI"/>
              </a:rPr>
              <a:t>~5%</a:t>
            </a:r>
            <a:r>
              <a:rPr sz="1106" b="0" i="0">
                <a:solidFill>
                  <a:srgbClr val="5A6072"/>
                </a:solidFill>
                <a:latin typeface="Segoe UI"/>
              </a:rPr>
              <a:t> — the share of that spend that is digital today. The other 95% is people, buildings, and paper.</a:t>
            </a:r>
          </a:p>
        </p:txBody>
      </p:sp>
      <p:sp>
        <p:nvSpPr>
          <p:cNvPr id="15" name="TextBox 14"/>
          <p:cNvSpPr txBox="1"/>
          <p:nvPr/>
        </p:nvSpPr>
        <p:spPr>
          <a:xfrm>
            <a:off x="6287871" y="4987099"/>
            <a:ext cx="5336895" cy="648881"/>
          </a:xfrm>
          <a:prstGeom prst="rect">
            <a:avLst/>
          </a:prstGeom>
          <a:noFill/>
        </p:spPr>
        <p:txBody>
          <a:bodyPr wrap="square" lIns="0" rIns="0" tIns="0" bIns="0">
            <a:spAutoFit/>
          </a:bodyPr>
          <a:lstStyle/>
          <a:p>
            <a:r>
              <a:rPr sz="1106" b="0" i="0">
                <a:solidFill>
                  <a:srgbClr val="5A6072"/>
                </a:solidFill>
                <a:latin typeface="Segoe UI"/>
              </a:rPr>
              <a:t>3. </a:t>
            </a:r>
            <a:r>
              <a:rPr sz="1106" b="1" i="0">
                <a:solidFill>
                  <a:srgbClr val="15192B"/>
                </a:solidFill>
                <a:latin typeface="Segoe UI"/>
              </a:rPr>
              <a:t>$0</a:t>
            </a:r>
            <a:r>
              <a:rPr sz="1106" b="0" i="0">
                <a:solidFill>
                  <a:srgbClr val="5A6072"/>
                </a:solidFill>
                <a:latin typeface="Segoe UI"/>
              </a:rPr>
              <a:t> — the amount currently going to a system that can generate a </a:t>
            </a:r>
            <a:r>
              <a:rPr sz="1106" b="0" i="1">
                <a:solidFill>
                  <a:srgbClr val="5A6072"/>
                </a:solidFill>
                <a:latin typeface="Segoe UI"/>
              </a:rPr>
              <a:t>rigorous, prerequisite-structured, verifiable knowledge graph</a:t>
            </a:r>
            <a:r>
              <a:rPr sz="1106" b="0" i="0">
                <a:solidFill>
                  <a:srgbClr val="5A6072"/>
                </a:solidFill>
                <a:latin typeface="Segoe UI"/>
              </a:rPr>
              <a:t> for any subject on demand.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Building a course is still artisanal.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AI chatbots don't fix this.</a:t>
            </a:r>
            <a:r>
              <a:rPr sz="1350" b="0" i="0">
                <a:solidFill>
                  <a:srgbClr val="5A6072"/>
                </a:solidFill>
                <a:latin typeface="Segoe UI"/>
              </a:rPr>
              <a:t> An LLM answers any question fluently,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hours,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Adaptive, goal-directed delivery.</a:t>
            </a:r>
            <a:r>
              <a:rPr sz="1350" b="0" i="0">
                <a:solidFill>
                  <a:srgbClr val="5A6072"/>
                </a:solidFill>
                <a:latin typeface="Segoe UI"/>
              </a:rPr>
              <a:t> Learners get multiple live learning paths computed from </a:t>
            </a:r>
            <a:r>
              <a:rPr sz="1350" b="0" i="1">
                <a:solidFill>
                  <a:srgbClr val="5A6072"/>
                </a:solidFill>
                <a:latin typeface="Segoe UI"/>
              </a:rPr>
              <a:t>transitive</a:t>
            </a:r>
            <a:r>
              <a:rPr sz="1350" b="0" i="0">
                <a:solidFill>
                  <a:srgbClr val="5A6072"/>
                </a:solidFill>
                <a:latin typeface="Segoe UI"/>
              </a:rPr>
              <a:t> prerequisite relationships against measured mastery. Set a goal concept; the system works backward through everything required to reach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It failed for exactly one reason — and that reason no longer exists.</a:t>
            </a:r>
          </a:p>
        </p:txBody>
      </p:sp>
      <p:sp>
        <p:nvSpPr>
          <p:cNvPr id="5" name="Rounded Rectangle 4"/>
          <p:cNvSpPr/>
          <p:nvPr/>
        </p:nvSpPr>
        <p:spPr>
          <a:xfrm>
            <a:off x="566928" y="1996440"/>
            <a:ext cx="11057839" cy="1234440"/>
          </a:xfrm>
          <a:prstGeom prst="roundRect">
            <a:avLst/>
          </a:prstGeom>
          <a:solidFill>
            <a:srgbClr val="F4F5F9"/>
          </a:solidFill>
          <a:ln w="15875">
            <a:solidFill>
              <a:srgbClr val="4A3A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950" b="1">
                <a:solidFill>
                  <a:srgbClr val="4A3AFF"/>
                </a:solidFill>
                <a:latin typeface="Segoe UI"/>
              </a:rPr>
              <a:t>IMAGE PLACEHOLDER</a:t>
            </a:r>
          </a:p>
          <a:p>
            <a:pPr algn="ctr">
              <a:spcBef>
                <a:spcPts val="400"/>
              </a:spcBef>
            </a:pPr>
            <a:r>
              <a:rPr sz="1200" b="0" i="0">
                <a:solidFill>
                  <a:srgbClr val="5A6072"/>
                </a:solidFill>
                <a:latin typeface="Segoe UI"/>
              </a:rPr>
              <a:t>photograph of the 1985 thesis abstract page, beside the Qlaudia concept-graph screen</a:t>
            </a:r>
          </a:p>
        </p:txBody>
      </p:sp>
      <p:sp>
        <p:nvSpPr>
          <p:cNvPr id="6" name="TextBox 5"/>
          <p:cNvSpPr txBox="1"/>
          <p:nvPr/>
        </p:nvSpPr>
        <p:spPr>
          <a:xfrm>
            <a:off x="566928" y="3413760"/>
            <a:ext cx="11057839" cy="538581"/>
          </a:xfrm>
          <a:prstGeom prst="rect">
            <a:avLst/>
          </a:prstGeom>
          <a:noFill/>
        </p:spPr>
        <p:txBody>
          <a:bodyPr wrap="square" lIns="0" rIns="0" tIns="0" bIns="0">
            <a:spAutoFit/>
          </a:bodyPr>
          <a:lstStyle/>
          <a:p>
            <a:r>
              <a:rPr sz="1188" b="1" i="0">
                <a:solidFill>
                  <a:srgbClr val="15192B"/>
                </a:solidFill>
                <a:latin typeface="Segoe UI"/>
              </a:rPr>
              <a:t>1985 — the Conceptual Knowledge System (CKS)</a:t>
            </a:r>
            <a:r>
              <a:rPr sz="1188" b="0" i="0">
                <a:solidFill>
                  <a:srgbClr val="5A6072"/>
                </a:solidFill>
                <a:latin typeface="Segoe UI"/>
              </a:rPr>
              <a:t>, master's thesis, University of Kansas. A knowledge graph, built once and then used for two things:</a:t>
            </a:r>
          </a:p>
        </p:txBody>
      </p:sp>
      <p:sp>
        <p:nvSpPr>
          <p:cNvPr id="7" name="Rectangle 6"/>
          <p:cNvSpPr/>
          <p:nvPr/>
        </p:nvSpPr>
        <p:spPr>
          <a:xfrm>
            <a:off x="566928" y="3979773"/>
            <a:ext cx="50292" cy="432612"/>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3952341"/>
            <a:ext cx="10746943" cy="524052"/>
          </a:xfrm>
          <a:prstGeom prst="rect">
            <a:avLst/>
          </a:prstGeom>
          <a:noFill/>
        </p:spPr>
        <p:txBody>
          <a:bodyPr wrap="square" lIns="0" rIns="0" tIns="0" bIns="0">
            <a:spAutoFit/>
          </a:bodyPr>
          <a:lstStyle/>
          <a:p>
            <a:r>
              <a:rPr sz="1144" b="0" i="1">
                <a:solidFill>
                  <a:srgbClr val="5A6072"/>
                </a:solidFill>
                <a:latin typeface="Segoe UI"/>
              </a:rPr>
              <a:t>"…the program has two intended functions: as an interactive knowledge acquisition facility and, secondly, as an information retrieval facility."</a:t>
            </a:r>
          </a:p>
        </p:txBody>
      </p:sp>
      <p:sp>
        <p:nvSpPr>
          <p:cNvPr id="9" name="TextBox 8"/>
          <p:cNvSpPr txBox="1"/>
          <p:nvPr/>
        </p:nvSpPr>
        <p:spPr>
          <a:xfrm>
            <a:off x="566928" y="4476394"/>
            <a:ext cx="11057839" cy="342442"/>
          </a:xfrm>
          <a:prstGeom prst="rect">
            <a:avLst/>
          </a:prstGeom>
          <a:noFill/>
        </p:spPr>
        <p:txBody>
          <a:bodyPr wrap="square" lIns="0" rIns="0" tIns="0" bIns="0">
            <a:spAutoFit/>
          </a:bodyPr>
          <a:lstStyle/>
          <a:p>
            <a:r>
              <a:rPr sz="1188" b="1" i="0">
                <a:solidFill>
                  <a:srgbClr val="15192B"/>
                </a:solidFill>
                <a:latin typeface="Segoe UI"/>
              </a:rPr>
              <a:t>Acquisition and delivery, over a constructed graph.</a:t>
            </a:r>
            <a:r>
              <a:rPr sz="1188" b="0" i="0">
                <a:solidFill>
                  <a:srgbClr val="5A6072"/>
                </a:solidFill>
                <a:latin typeface="Segoe UI"/>
              </a:rPr>
              <a:t> Those are Qlaudia's two inventions, and the patent's two claim sets.</a:t>
            </a:r>
          </a:p>
        </p:txBody>
      </p:sp>
      <p:sp>
        <p:nvSpPr>
          <p:cNvPr id="10" name="TextBox 9"/>
          <p:cNvSpPr txBox="1"/>
          <p:nvPr/>
        </p:nvSpPr>
        <p:spPr>
          <a:xfrm>
            <a:off x="566928" y="4818837"/>
            <a:ext cx="11057839" cy="342442"/>
          </a:xfrm>
          <a:prstGeom prst="rect">
            <a:avLst/>
          </a:prstGeom>
          <a:noFill/>
        </p:spPr>
        <p:txBody>
          <a:bodyPr wrap="square" lIns="0" rIns="0" tIns="0" bIns="0">
            <a:spAutoFit/>
          </a:bodyPr>
          <a:lstStyle/>
          <a:p>
            <a:r>
              <a:rPr sz="1188" b="1" i="0">
                <a:solidFill>
                  <a:srgbClr val="15192B"/>
                </a:solidFill>
                <a:latin typeface="Segoe UI"/>
              </a:rPr>
              <a:t>How acquisition worked:</a:t>
            </a:r>
          </a:p>
        </p:txBody>
      </p:sp>
      <p:sp>
        <p:nvSpPr>
          <p:cNvPr id="11" name="Rectangle 10"/>
          <p:cNvSpPr/>
          <p:nvPr/>
        </p:nvSpPr>
        <p:spPr>
          <a:xfrm>
            <a:off x="566928" y="5188712"/>
            <a:ext cx="50292" cy="432612"/>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161280"/>
            <a:ext cx="10746943" cy="524052"/>
          </a:xfrm>
          <a:prstGeom prst="rect">
            <a:avLst/>
          </a:prstGeom>
          <a:noFill/>
        </p:spPr>
        <p:txBody>
          <a:bodyPr wrap="square" lIns="0" rIns="0" tIns="0" bIns="0">
            <a:spAutoFit/>
          </a:bodyPr>
          <a:lstStyle/>
          <a:p>
            <a:r>
              <a:rPr sz="1144" b="0" i="1">
                <a:solidFill>
                  <a:srgbClr val="5A6072"/>
                </a:solidFill>
                <a:latin typeface="Segoe UI"/>
              </a:rPr>
              <a:t>"While engaged in interactive dialog with a user, CKS's acquisition facility attempts to acquire the concepts which constitute the user's knowledge."</a:t>
            </a:r>
          </a:p>
        </p:txBody>
      </p:sp>
      <p:sp>
        <p:nvSpPr>
          <p:cNvPr id="13" name="TextBox 12"/>
          <p:cNvSpPr txBox="1"/>
          <p:nvPr/>
        </p:nvSpPr>
        <p:spPr>
          <a:xfrm>
            <a:off x="566928" y="5685332"/>
            <a:ext cx="11057839" cy="342442"/>
          </a:xfrm>
          <a:prstGeom prst="rect">
            <a:avLst/>
          </a:prstGeom>
          <a:noFill/>
        </p:spPr>
        <p:txBody>
          <a:bodyPr wrap="square" lIns="0" rIns="0" tIns="0" bIns="0">
            <a:spAutoFit/>
          </a:bodyPr>
          <a:lstStyle/>
          <a:p>
            <a:r>
              <a:rPr sz="1188" b="0" i="0">
                <a:solidFill>
                  <a:srgbClr val="5A6072"/>
                </a:solidFill>
                <a:latin typeface="Segoe UI"/>
              </a:rPr>
              <a:t>Every concept had to be extracted from a human being, one at a time. </a:t>
            </a:r>
            <a:r>
              <a:rPr sz="1188" b="1" i="0">
                <a:solidFill>
                  <a:srgbClr val="15192B"/>
                </a:solidFill>
                <a:latin typeface="Segoe UI"/>
              </a:rPr>
              <a:t>The graph was never the hard part. Filling it was.</a:t>
            </a:r>
          </a:p>
        </p:txBody>
      </p:sp>
      <p:sp>
        <p:nvSpPr>
          <p:cNvPr id="14" name="TextBox 13"/>
          <p:cNvSpPr txBox="1"/>
          <p:nvPr/>
        </p:nvSpPr>
        <p:spPr>
          <a:xfrm>
            <a:off x="566928" y="6027775"/>
            <a:ext cx="11057839" cy="342442"/>
          </a:xfrm>
          <a:prstGeom prst="rect">
            <a:avLst/>
          </a:prstGeom>
          <a:noFill/>
        </p:spPr>
        <p:txBody>
          <a:bodyPr wrap="square" lIns="0" rIns="0" tIns="0" bIns="0">
            <a:spAutoFit/>
          </a:bodyPr>
          <a:lstStyle/>
          <a:p>
            <a:r>
              <a:rPr sz="1188" b="1" i="0">
                <a:solidFill>
                  <a:srgbClr val="15192B"/>
                </a:solidFill>
                <a:latin typeface="Segoe UI"/>
              </a:rPr>
              <a:t>2026 — LLMs are the acquisition facility.</a:t>
            </a:r>
            <a:r>
              <a:rPr sz="1188" b="0" i="0">
                <a:solidFill>
                  <a:srgbClr val="5A6072"/>
                </a:solidFill>
                <a:latin typeface="Segoe UI"/>
              </a:rPr>
              <a:t> Same architecture. The missing half arrived.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Product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it already works. Show it.</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0" i="0">
                <a:solidFill>
                  <a:srgbClr val="5A6072"/>
                </a:solidFill>
                <a:latin typeface="Segoe UI"/>
              </a:rPr>
              <a:t>Create a domain live — the pipeline streams its progress on screen</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0" i="0">
                <a:solidFill>
                  <a:srgbClr val="5A6072"/>
                </a:solidFill>
                <a:latin typeface="Segoe UI"/>
              </a:rPr>
              <a:t>Browse the result: concept list, generated instruction, computed figures, assessments</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0" i="0">
                <a:solidFill>
                  <a:srgbClr val="5A6072"/>
                </a:solidFill>
                <a:latin typeface="Segoe UI"/>
              </a:rPr>
              <a:t>Knowledge graph visualization</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0" i="0">
                <a:solidFill>
                  <a:srgbClr val="5A6072"/>
                </a:solidFill>
                <a:latin typeface="Segoe UI"/>
              </a:rPr>
              <a:t>Progress and mastery tracking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Why the Content Can Be Trusted</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The hard part isn't generating content. It's generating content that's </a:t>
            </a:r>
            <a:r>
              <a:rPr sz="1700" b="1" i="1">
                <a:solidFill>
                  <a:srgbClr val="15192B"/>
                </a:solidFill>
                <a:latin typeface="Segoe UI"/>
              </a:rPr>
              <a:t>right</a:t>
            </a:r>
            <a:r>
              <a:rPr sz="1700" b="1" i="0">
                <a:solidFill>
                  <a:srgbClr val="15192B"/>
                </a:solidFill>
                <a:latin typeface="Segoe UI"/>
              </a:rPr>
              <a:t>.</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A concept graph, not a pile of documents</a:t>
            </a:r>
            <a:r>
              <a:rPr sz="1350" b="0" i="0">
                <a:solidFill>
                  <a:srgbClr val="5A6072"/>
                </a:solidFill>
                <a:latin typeface="Segoe UI"/>
              </a:rPr>
              <a:t> — every concept is a node, with prerequisite edges the system can reason over</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Figures are computed and verified, not decorative</a:t>
            </a:r>
            <a:r>
              <a:rPr sz="1350" b="0" i="0">
                <a:solidFill>
                  <a:srgbClr val="5A6072"/>
                </a:solidFill>
                <a:latin typeface="Segoe UI"/>
              </a:rPr>
              <a:t> — diagrams are produced by executing generated construction code in a sandbox, checked against independently derived assertions, and automatically repaired on failure</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The grader isn't the author</a:t>
            </a:r>
            <a:r>
              <a:rPr sz="1350" b="0" i="0">
                <a:solidFill>
                  <a:srgbClr val="5A6072"/>
                </a:solidFill>
                <a:latin typeface="Segoe UI"/>
              </a:rPr>
              <a:t> — assessment generation and figure verification run on a separate model from content generation</a:t>
            </a:r>
          </a:p>
        </p:txBody>
      </p:sp>
      <p:sp>
        <p:nvSpPr>
          <p:cNvPr id="11" name="Oval 10"/>
          <p:cNvSpPr/>
          <p:nvPr/>
        </p:nvSpPr>
        <p:spPr>
          <a:xfrm>
            <a:off x="585216" y="342938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350514"/>
            <a:ext cx="10820095" cy="323469"/>
          </a:xfrm>
          <a:prstGeom prst="rect">
            <a:avLst/>
          </a:prstGeom>
          <a:noFill/>
        </p:spPr>
        <p:txBody>
          <a:bodyPr wrap="square" lIns="0" rIns="0" tIns="0" bIns="0">
            <a:spAutoFit/>
          </a:bodyPr>
          <a:lstStyle/>
          <a:p>
            <a:r>
              <a:rPr sz="1350" b="1" i="0">
                <a:solidFill>
                  <a:srgbClr val="15192B"/>
                </a:solidFill>
                <a:latin typeface="Segoe UI"/>
              </a:rPr>
              <a:t>Structural importance ranking</a:t>
            </a:r>
            <a:r>
              <a:rPr sz="1350" b="0" i="0">
                <a:solidFill>
                  <a:srgbClr val="5A6072"/>
                </a:solidFill>
                <a:latin typeface="Segoe UI"/>
              </a:rPr>
              <a:t> — the system knows which concepts matter most by their position in the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Three curves crossed in the last 24 months.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323469"/>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full domain has fallen from prohibitive to routine, and keeps falling</a:t>
            </a:r>
          </a:p>
        </p:txBody>
      </p:sp>
      <p:sp>
        <p:nvSpPr>
          <p:cNvPr id="9" name="Oval 8"/>
          <p:cNvSpPr/>
          <p:nvPr/>
        </p:nvSpPr>
        <p:spPr>
          <a:xfrm>
            <a:off x="585216" y="26601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81275"/>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both the infrastructure and the permission to adopt digital-first learning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An accumulating graph</a:t>
            </a:r>
            <a:r>
              <a:rPr sz="1350" b="0" i="0">
                <a:solidFill>
                  <a:srgbClr val="5A6072"/>
                </a:solidFill>
                <a:latin typeface="Segoe UI"/>
              </a:rPr>
              <a:t> — every generated domain adds to a reusable, cross-linked corpus; shared concepts and prerequisites compound across subjects</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the verified-figure and QA architecture is substantial work that isn't visible from the outside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Business Model &amp; First Customers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one primary motion, named, priced.</a:t>
            </a:r>
          </a:p>
        </p:txBody>
      </p:sp>
      <p:sp>
        <p:nvSpPr>
          <p:cNvPr id="5" name="TextBox 4"/>
          <p:cNvSpPr txBox="1"/>
          <p:nvPr/>
        </p:nvSpPr>
        <p:spPr>
          <a:xfrm>
            <a:off x="566928" y="1711452"/>
            <a:ext cx="11057839" cy="342442"/>
          </a:xfrm>
          <a:prstGeom prst="rect">
            <a:avLst/>
          </a:prstGeom>
          <a:noFill/>
        </p:spPr>
        <p:txBody>
          <a:bodyPr wrap="square" lIns="0" rIns="0" tIns="0" bIns="0">
            <a:spAutoFit/>
          </a:bodyPr>
          <a:lstStyle/>
          <a:p>
            <a:r>
              <a:rPr sz="1188" b="1" i="0">
                <a:solidFill>
                  <a:srgbClr val="15192B"/>
                </a:solidFill>
                <a:latin typeface="Segoe UI"/>
              </a:rPr>
              <a:t>The bottom-up number this slide must produce:</a:t>
            </a:r>
          </a:p>
        </p:txBody>
      </p:sp>
      <p:sp>
        <p:nvSpPr>
          <p:cNvPr id="6" name="Rectangle 5"/>
          <p:cNvSpPr/>
          <p:nvPr/>
        </p:nvSpPr>
        <p:spPr>
          <a:xfrm>
            <a:off x="566928" y="2081326"/>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53894"/>
            <a:ext cx="10746943" cy="335178"/>
          </a:xfrm>
          <a:prstGeom prst="rect">
            <a:avLst/>
          </a:prstGeom>
          <a:noFill/>
        </p:spPr>
        <p:txBody>
          <a:bodyPr wrap="square" lIns="0" rIns="0" tIns="0" bIns="0">
            <a:spAutoFit/>
          </a:bodyPr>
          <a:lstStyle/>
          <a:p>
            <a:r>
              <a:rPr sz="1144" b="0" i="1">
                <a:solidFill>
                  <a:srgbClr val="C2410C"/>
                </a:solidFill>
                <a:latin typeface="Segoe UI"/>
              </a:rPr>
              <a:t>beachhead segment × realistic price × achievable penetration = </a:t>
            </a:r>
            <a:r>
              <a:rPr sz="1144" b="1" i="1">
                <a:solidFill>
                  <a:srgbClr val="C2410C"/>
                </a:solidFill>
                <a:latin typeface="Segoe UI"/>
              </a:rPr>
              <a:t>$⚠️ TODO</a:t>
            </a:r>
          </a:p>
        </p:txBody>
      </p:sp>
      <p:sp>
        <p:nvSpPr>
          <p:cNvPr id="8" name="TextBox 7"/>
          <p:cNvSpPr txBox="1"/>
          <p:nvPr/>
        </p:nvSpPr>
        <p:spPr>
          <a:xfrm>
            <a:off x="566928" y="2389073"/>
            <a:ext cx="11057839" cy="332841"/>
          </a:xfrm>
          <a:prstGeom prst="rect">
            <a:avLst/>
          </a:prstGeom>
          <a:noFill/>
        </p:spPr>
        <p:txBody>
          <a:bodyPr wrap="square" lIns="0" rIns="0" tIns="0" bIns="0">
            <a:spAutoFit/>
          </a:bodyPr>
          <a:lstStyle/>
          <a:p>
            <a:r>
              <a:rPr sz="915" b="1">
                <a:solidFill>
                  <a:srgbClr val="4A3AFF"/>
                </a:solidFill>
                <a:latin typeface="Segoe UI"/>
              </a:rPr>
              <a:t>BEACHHEAD</a:t>
            </a:r>
          </a:p>
        </p:txBody>
      </p:sp>
      <p:sp>
        <p:nvSpPr>
          <p:cNvPr id="9" name="Rectangle 8"/>
          <p:cNvSpPr/>
          <p:nvPr/>
        </p:nvSpPr>
        <p:spPr>
          <a:xfrm>
            <a:off x="566928" y="2749346"/>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21914"/>
            <a:ext cx="10746943" cy="335178"/>
          </a:xfrm>
          <a:prstGeom prst="rect">
            <a:avLst/>
          </a:prstGeom>
          <a:noFill/>
        </p:spPr>
        <p:txBody>
          <a:bodyPr wrap="square" lIns="0" rIns="0" tIns="0" bIns="0">
            <a:spAutoFit/>
          </a:bodyPr>
          <a:lstStyle/>
          <a:p>
            <a:r>
              <a:rPr sz="1144" b="1" i="1">
                <a:solidFill>
                  <a:srgbClr val="5A6072"/>
                </a:solidFill>
                <a:latin typeface="Segoe UI"/>
              </a:rPr>
              <a:t>Upper-level math and science for homeschool families.</a:t>
            </a:r>
          </a:p>
        </p:txBody>
      </p:sp>
      <p:sp>
        <p:nvSpPr>
          <p:cNvPr id="11" name="TextBox 10"/>
          <p:cNvSpPr txBox="1"/>
          <p:nvPr/>
        </p:nvSpPr>
        <p:spPr>
          <a:xfrm>
            <a:off x="566928" y="3057093"/>
            <a:ext cx="11057839" cy="332841"/>
          </a:xfrm>
          <a:prstGeom prst="rect">
            <a:avLst/>
          </a:prstGeom>
          <a:noFill/>
        </p:spPr>
        <p:txBody>
          <a:bodyPr wrap="square" lIns="0" rIns="0" tIns="0" bIns="0">
            <a:spAutoFit/>
          </a:bodyPr>
          <a:lstStyle/>
          <a:p>
            <a:r>
              <a:rPr sz="915" b="1">
                <a:solidFill>
                  <a:srgbClr val="4A3AFF"/>
                </a:solidFill>
                <a:latin typeface="Segoe UI"/>
              </a:rPr>
              <a:t>WHY THIS SEGMENT FIRST</a:t>
            </a:r>
          </a:p>
        </p:txBody>
      </p:sp>
      <p:sp>
        <p:nvSpPr>
          <p:cNvPr id="12" name="Oval 11"/>
          <p:cNvSpPr/>
          <p:nvPr/>
        </p:nvSpPr>
        <p:spPr>
          <a:xfrm>
            <a:off x="585216" y="345933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389934"/>
            <a:ext cx="10820095" cy="296722"/>
          </a:xfrm>
          <a:prstGeom prst="rect">
            <a:avLst/>
          </a:prstGeom>
          <a:noFill/>
        </p:spPr>
        <p:txBody>
          <a:bodyPr wrap="square" lIns="0" rIns="0" tIns="0" bIns="0">
            <a:spAutoFit/>
          </a:bodyPr>
          <a:lstStyle/>
          <a:p>
            <a:r>
              <a:rPr sz="1188" b="1" i="0">
                <a:solidFill>
                  <a:srgbClr val="15192B"/>
                </a:solidFill>
                <a:latin typeface="Segoe UI"/>
              </a:rPr>
              <a:t>No procurement</a:t>
            </a:r>
            <a:r>
              <a:rPr sz="1188" b="0" i="0">
                <a:solidFill>
                  <a:srgbClr val="5A6072"/>
                </a:solidFill>
                <a:latin typeface="Segoe UI"/>
              </a:rPr>
              <a:t> — parents decide in an evening and pay by card. No district sales cycle a solo founder can't survive.</a:t>
            </a:r>
          </a:p>
        </p:txBody>
      </p:sp>
      <p:sp>
        <p:nvSpPr>
          <p:cNvPr id="14" name="Oval 13"/>
          <p:cNvSpPr/>
          <p:nvPr/>
        </p:nvSpPr>
        <p:spPr>
          <a:xfrm>
            <a:off x="585216" y="3756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686657"/>
            <a:ext cx="10820095" cy="492861"/>
          </a:xfrm>
          <a:prstGeom prst="rect">
            <a:avLst/>
          </a:prstGeom>
          <a:noFill/>
        </p:spPr>
        <p:txBody>
          <a:bodyPr wrap="square" lIns="0" rIns="0" tIns="0" bIns="0">
            <a:spAutoFit/>
          </a:bodyPr>
          <a:lstStyle/>
          <a:p>
            <a:r>
              <a:rPr sz="1188" b="1" i="0">
                <a:solidFill>
                  <a:srgbClr val="15192B"/>
                </a:solidFill>
                <a:latin typeface="Segoe UI"/>
              </a:rPr>
              <a:t>The pain starts exactly where the parent's competence ends</a:t>
            </a:r>
            <a:r>
              <a:rPr sz="1188" b="0" i="0">
                <a:solidFill>
                  <a:srgbClr val="5A6072"/>
                </a:solidFill>
                <a:latin typeface="Segoe UI"/>
              </a:rPr>
              <a:t> — they can teach reading and arithmetic, not algebra II or chemistry. They already pay tutors for precisely this.</a:t>
            </a:r>
          </a:p>
        </p:txBody>
      </p:sp>
      <p:sp>
        <p:nvSpPr>
          <p:cNvPr id="16" name="Oval 15"/>
          <p:cNvSpPr/>
          <p:nvPr/>
        </p:nvSpPr>
        <p:spPr>
          <a:xfrm>
            <a:off x="585216" y="4248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179519"/>
            <a:ext cx="10820095" cy="492861"/>
          </a:xfrm>
          <a:prstGeom prst="rect">
            <a:avLst/>
          </a:prstGeom>
          <a:noFill/>
        </p:spPr>
        <p:txBody>
          <a:bodyPr wrap="square" lIns="0" rIns="0" tIns="0" bIns="0">
            <a:spAutoFit/>
          </a:bodyPr>
          <a:lstStyle/>
          <a:p>
            <a:r>
              <a:rPr sz="1188" b="1" i="0">
                <a:solidFill>
                  <a:srgbClr val="15192B"/>
                </a:solidFill>
                <a:latin typeface="Segoe UI"/>
              </a:rPr>
              <a:t>Their stated anxiety is prerequisite gaps</a:t>
            </a:r>
            <a:r>
              <a:rPr sz="1188" b="0" i="0">
                <a:solidFill>
                  <a:srgbClr val="5A6072"/>
                </a:solidFill>
                <a:latin typeface="Segoe UI"/>
              </a:rPr>
              <a:t> — </a:t>
            </a:r>
            <a:r>
              <a:rPr sz="1188" b="0" i="1">
                <a:solidFill>
                  <a:srgbClr val="5A6072"/>
                </a:solidFill>
                <a:latin typeface="Segoe UI"/>
              </a:rPr>
              <a:t>"is my kid actually ready for algebra II?"</a:t>
            </a:r>
            <a:r>
              <a:rPr sz="1188" b="0" i="0">
                <a:solidFill>
                  <a:srgbClr val="5A6072"/>
                </a:solidFill>
                <a:latin typeface="Segoe UI"/>
              </a:rPr>
              <a:t> That is literally what the prerequisite graph computes.</a:t>
            </a:r>
          </a:p>
        </p:txBody>
      </p:sp>
      <p:sp>
        <p:nvSpPr>
          <p:cNvPr id="18" name="Oval 17"/>
          <p:cNvSpPr/>
          <p:nvPr/>
        </p:nvSpPr>
        <p:spPr>
          <a:xfrm>
            <a:off x="585216" y="4741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2380"/>
            <a:ext cx="10820095" cy="492861"/>
          </a:xfrm>
          <a:prstGeom prst="rect">
            <a:avLst/>
          </a:prstGeom>
          <a:noFill/>
        </p:spPr>
        <p:txBody>
          <a:bodyPr wrap="square" lIns="0" rIns="0" tIns="0" bIns="0">
            <a:spAutoFit/>
          </a:bodyPr>
          <a:lstStyle/>
          <a:p>
            <a:r>
              <a:rPr sz="1188" b="1" i="0">
                <a:solidFill>
                  <a:srgbClr val="15192B"/>
                </a:solidFill>
                <a:latin typeface="Segoe UI"/>
              </a:rPr>
              <a:t>Verified figures matter most in math and science</a:t>
            </a:r>
            <a:r>
              <a:rPr sz="1188" b="0" i="0">
                <a:solidFill>
                  <a:srgbClr val="5A6072"/>
                </a:solidFill>
                <a:latin typeface="Segoe UI"/>
              </a:rPr>
              <a:t> — where our differentiator and their need coincide, and where competitors' AI content is weakest.</a:t>
            </a:r>
          </a:p>
        </p:txBody>
      </p:sp>
      <p:sp>
        <p:nvSpPr>
          <p:cNvPr id="20" name="TextBox 19"/>
          <p:cNvSpPr txBox="1"/>
          <p:nvPr/>
        </p:nvSpPr>
        <p:spPr>
          <a:xfrm>
            <a:off x="566928" y="5165242"/>
            <a:ext cx="11057839" cy="332841"/>
          </a:xfrm>
          <a:prstGeom prst="rect">
            <a:avLst/>
          </a:prstGeom>
          <a:noFill/>
        </p:spPr>
        <p:txBody>
          <a:bodyPr wrap="square" lIns="0" rIns="0" tIns="0" bIns="0">
            <a:spAutoFit/>
          </a:bodyPr>
          <a:lstStyle/>
          <a:p>
            <a:r>
              <a:rPr sz="915" b="1">
                <a:solidFill>
                  <a:srgbClr val="4A3AFF"/>
                </a:solidFill>
                <a:latin typeface="Segoe UI"/>
              </a:rPr>
              <a:t>EXPANSION PATH</a:t>
            </a:r>
          </a:p>
        </p:txBody>
      </p:sp>
      <p:sp>
        <p:nvSpPr>
          <p:cNvPr id="21" name="TextBox 20"/>
          <p:cNvSpPr txBox="1"/>
          <p:nvPr/>
        </p:nvSpPr>
        <p:spPr>
          <a:xfrm>
            <a:off x="566928" y="5498083"/>
            <a:ext cx="11057839" cy="538581"/>
          </a:xfrm>
          <a:prstGeom prst="rect">
            <a:avLst/>
          </a:prstGeom>
          <a:noFill/>
        </p:spPr>
        <p:txBody>
          <a:bodyPr wrap="square" lIns="0" rIns="0" tIns="0" bIns="0">
            <a:spAutoFit/>
          </a:bodyPr>
          <a:lstStyle/>
          <a:p>
            <a:r>
              <a:rPr sz="1188" b="0" i="0">
                <a:solidFill>
                  <a:srgbClr val="5A6072"/>
                </a:solidFill>
                <a:latin typeface="Segoe UI"/>
              </a:rPr>
              <a:t>Co-ops and microschools as buying groups → broader subject coverage → domain experts publishing their own schools → institutional.</a:t>
            </a:r>
          </a:p>
        </p:txBody>
      </p:sp>
      <p:sp>
        <p:nvSpPr>
          <p:cNvPr id="22" name="TextBox 21"/>
          <p:cNvSpPr txBox="1"/>
          <p:nvPr/>
        </p:nvSpPr>
        <p:spPr>
          <a:xfrm>
            <a:off x="566928" y="6036665"/>
            <a:ext cx="11057839" cy="342442"/>
          </a:xfrm>
          <a:prstGeom prst="rect">
            <a:avLst/>
          </a:prstGeom>
          <a:noFill/>
        </p:spPr>
        <p:txBody>
          <a:bodyPr wrap="square" lIns="0" rIns="0" tIns="0" bIns="0">
            <a:spAutoFit/>
          </a:bodyPr>
          <a:lstStyle/>
          <a:p>
            <a:r>
              <a:rPr sz="1188" b="1" i="0">
                <a:solidFill>
                  <a:srgbClr val="15192B"/>
                </a:solidFill>
                <a:latin typeface="Segoe UI"/>
              </a:rPr>
              <a:t>Pricing motion:</a:t>
            </a:r>
            <a:r>
              <a:rPr sz="1188" b="0" i="0">
                <a:solidFill>
                  <a:srgbClr val="5A6072"/>
                </a:solidFill>
                <a:latin typeface="Segoe UI"/>
              </a:rPr>
              <a:t> B2C subscription, direct. </a:t>
            </a:r>
            <a:r>
              <a:rPr sz="1188" b="0" i="1">
                <a:solidFill>
                  <a:srgbClr val="5A6072"/>
                </a:solidFill>
                <a:latin typeface="Segoe UI"/>
              </a:rPr>
              <a:t>(Full segment inventory and the alternatives considered: Appendix A9.)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0" i="0">
                <a:solidFill>
                  <a:srgbClr val="5A6072"/>
                </a:solidFill>
                <a:latin typeface="Segoe UI"/>
              </a:rPr>
              <a:t>Domains generated to date</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0" i="0">
                <a:solidFill>
                  <a:srgbClr val="5A6072"/>
                </a:solidFill>
                <a:latin typeface="Segoe UI"/>
              </a:rPr>
              <a:t>Users, signups, engagement</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0" i="0">
                <a:solidFill>
                  <a:srgbClr val="5A6072"/>
                </a:solidFill>
                <a:latin typeface="Segoe UI"/>
              </a:rPr>
              <a:t>Any institutional conversations, pilots, or LOIs</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1" i="0">
                <a:solidFill>
                  <a:srgbClr val="15192B"/>
                </a:solidFill>
                <a:latin typeface="Segoe UI"/>
              </a:rPr>
              <a:t>Cost and time per generated domain</a:t>
            </a:r>
            <a:r>
              <a:rPr sz="1350" b="0" i="0">
                <a:solidFill>
                  <a:srgbClr val="5A6072"/>
                </a:solidFill>
                <a:latin typeface="Segoe UI"/>
              </a:rPr>
              <a:t> — the hard efficiency metric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what this round buys, and the milestone it reaches.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0" i="0">
                <a:solidFill>
                  <a:srgbClr val="C2410C"/>
                </a:solidFill>
                <a:latin typeface="Segoe UI"/>
              </a:rPr>
              <a:t>⚠️ TODO: allocation across engineering / content / GTM / runway</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0" i="0">
                <a:solidFill>
                  <a:srgbClr val="C2410C"/>
                </a:solidFill>
                <a:latin typeface="Segoe UI"/>
              </a:rPr>
              <a:t>⚠️ TODO: months of runway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0" i="0">
                <a:solidFill>
                  <a:srgbClr val="C2410C"/>
                </a:solidFill>
                <a:latin typeface="Segoe UI"/>
              </a:rPr>
              <a:t>⚠️ TODO: the specific milestone that makes the </a:t>
            </a:r>
            <a:r>
              <a:rPr sz="1350" b="0" i="1">
                <a:solidFill>
                  <a:srgbClr val="C2410C"/>
                </a:solidFill>
                <a:latin typeface="Segoe UI"/>
              </a:rPr>
              <a:t>next</a:t>
            </a:r>
            <a:r>
              <a:rPr sz="1350" b="0" i="0">
                <a:solidFill>
                  <a:srgbClr val="C2410C"/>
                </a:solidFill>
                <a:latin typeface="Segoe UI"/>
              </a:rPr>
              <a:t> round (or profitability) achievable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amount</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3" name="Oval 12"/>
          <p:cNvSpPr/>
          <p:nvPr/>
        </p:nvSpPr>
        <p:spPr>
          <a:xfrm>
            <a:off x="585216" y="30841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00532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any founder capital</a:t>
            </a:r>
          </a:p>
        </p:txBody>
      </p:sp>
      <p:sp>
        <p:nvSpPr>
          <p:cNvPr id="15" name="Oval 14"/>
          <p:cNvSpPr/>
          <p:nvPr/>
        </p:nvSpPr>
        <p:spPr>
          <a:xfrm>
            <a:off x="585216" y="34076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32879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the realistic exit paths.</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6" name="Oval 5"/>
          <p:cNvSpPr/>
          <p:nvPr/>
        </p:nvSpPr>
        <p:spPr>
          <a:xfrm>
            <a:off x="585216" y="21595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0641"/>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8" name="Oval 7"/>
          <p:cNvSpPr/>
          <p:nvPr/>
        </p:nvSpPr>
        <p:spPr>
          <a:xfrm>
            <a:off x="585216" y="27058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6995"/>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0" name="Oval 9"/>
          <p:cNvSpPr/>
          <p:nvPr/>
        </p:nvSpPr>
        <p:spPr>
          <a:xfrm>
            <a:off x="585216" y="302933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950464"/>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2" name="Oval 11"/>
          <p:cNvSpPr/>
          <p:nvPr/>
        </p:nvSpPr>
        <p:spPr>
          <a:xfrm>
            <a:off x="585216" y="335280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273932"/>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4" name="Oval 13"/>
          <p:cNvSpPr/>
          <p:nvPr/>
        </p:nvSpPr>
        <p:spPr>
          <a:xfrm>
            <a:off x="585216" y="367626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597401"/>
            <a:ext cx="10820095" cy="323469"/>
          </a:xfrm>
          <a:prstGeom prst="rect">
            <a:avLst/>
          </a:prstGeom>
          <a:noFill/>
        </p:spPr>
        <p:txBody>
          <a:bodyPr wrap="square" lIns="0" rIns="0" tIns="0" bIns="0">
            <a:spAutoFit/>
          </a:bodyPr>
          <a:lstStyle/>
          <a:p>
            <a:r>
              <a:rPr sz="1350" b="1" i="0">
                <a:solidFill>
                  <a:srgbClr val="15192B"/>
                </a:solidFill>
                <a:latin typeface="Segoe UI"/>
              </a:rPr>
              <a:t>Big tech education arms</a:t>
            </a:r>
            <a:r>
              <a:rPr sz="1350" b="0" i="0">
                <a:solidFill>
                  <a:srgbClr val="5A6072"/>
                </a:solidFill>
                <a:latin typeface="Segoe UI"/>
              </a:rPr>
              <a:t> — Google, Microsoft</a:t>
            </a:r>
          </a:p>
        </p:txBody>
      </p:sp>
      <p:sp>
        <p:nvSpPr>
          <p:cNvPr id="16" name="Oval 15"/>
          <p:cNvSpPr/>
          <p:nvPr/>
        </p:nvSpPr>
        <p:spPr>
          <a:xfrm>
            <a:off x="585216" y="399973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0870"/>
            <a:ext cx="10820095" cy="323469"/>
          </a:xfrm>
          <a:prstGeom prst="rect">
            <a:avLst/>
          </a:prstGeom>
          <a:noFill/>
        </p:spPr>
        <p:txBody>
          <a:bodyPr wrap="square" lIns="0" rIns="0" tIns="0" bIns="0">
            <a:spAutoFit/>
          </a:bodyPr>
          <a:lstStyle/>
          <a:p>
            <a:r>
              <a:rPr sz="1350" b="0" i="0">
                <a:solidFill>
                  <a:srgbClr val="C2410C"/>
                </a:solidFill>
                <a:latin typeface="Segoe UI"/>
              </a:rPr>
              <a:t>⚠️ TODO: comparable transactions and multiples in this space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
        <p:nvSpPr>
          <p:cNvPr id="13" name="Rectangle 12"/>
          <p:cNvSpPr/>
          <p:nvPr/>
        </p:nvSpPr>
        <p:spPr>
          <a:xfrm>
            <a:off x="566928" y="3270122"/>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242690"/>
            <a:ext cx="10746943" cy="790194"/>
          </a:xfrm>
          <a:prstGeom prst="rect">
            <a:avLst/>
          </a:prstGeom>
          <a:noFill/>
        </p:spPr>
        <p:txBody>
          <a:bodyPr wrap="square" lIns="0" rIns="0" tIns="0" bIns="0">
            <a:spAutoFit/>
          </a:bodyPr>
          <a:lstStyle/>
          <a:p>
            <a:r>
              <a:rPr sz="1300" b="0" i="1">
                <a:solidFill>
                  <a:srgbClr val="C2410C"/>
                </a:solidFill>
                <a:latin typeface="Segoe UI"/>
              </a:rPr>
              <a:t>⚠️ TODO: Charles to confirm which competitors actually come up in his conversations. Moved out of the main deck for angels — the named-competitor grid is a VC-diligence artifact, and the differentiation argument is already carried by Slides 2, 3, and 6. Bring it back into the main deck if a specific investor asks.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Slide 11 funding milestone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Slide 4.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Slide 4:</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(Slide 1):</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774839"/>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Slide 1; lead with those and treat the rest as directional.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Slide 1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Slide 9.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